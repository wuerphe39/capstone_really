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425d7ddfbf7344e2" Type="http://schemas.openxmlformats.org/package/2006/relationships/metadata/core-properties" Target="docProps/core.xml"/><Relationship Id="Rb0012b33148b4b75" Type="http://schemas.openxmlformats.org/officeDocument/2006/relationships/officeDocument" Target="ppt/presentation.xml"/><Relationship Id="Reb4533db8ed54edc"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8007a5c3137f417b"/>
  </p:sldMasterIdLst>
  <p:notesMasterIdLst>
    <p:notesMasterId xmlns:r="http://schemas.openxmlformats.org/officeDocument/2006/relationships" r:id="R17cdf00af22544ec"/>
  </p:notesMasterIdLst>
  <p:sldIdLst>
    <p:sldId xmlns:r="http://schemas.openxmlformats.org/officeDocument/2006/relationships" id="256" r:id="R2b8d5e587b524466"/>
    <p:sldId xmlns:r="http://schemas.openxmlformats.org/officeDocument/2006/relationships" id="257" r:id="R935af50926234fb4"/>
    <p:sldId xmlns:r="http://schemas.openxmlformats.org/officeDocument/2006/relationships" id="258" r:id="Rf08f5e490617477e"/>
    <p:sldId xmlns:r="http://schemas.openxmlformats.org/officeDocument/2006/relationships" id="259" r:id="Rd23b46dc52f448db"/>
    <p:sldId xmlns:r="http://schemas.openxmlformats.org/officeDocument/2006/relationships" id="260" r:id="Rcd64287805aa47c5"/>
    <p:sldId xmlns:r="http://schemas.openxmlformats.org/officeDocument/2006/relationships" id="261" r:id="Rffd45c390dc84cbd"/>
    <p:sldId xmlns:r="http://schemas.openxmlformats.org/officeDocument/2006/relationships" id="262" r:id="R976a25d7afce4e80"/>
    <p:sldId xmlns:r="http://schemas.openxmlformats.org/officeDocument/2006/relationships" id="263" r:id="Rc4f56ae3560f4deb"/>
    <p:sldId xmlns:r="http://schemas.openxmlformats.org/officeDocument/2006/relationships" id="264" r:id="Rdf4bf0712ad84a91"/>
    <p:sldId xmlns:r="http://schemas.openxmlformats.org/officeDocument/2006/relationships" id="265" r:id="R8b70740d77294a57"/>
    <p:sldId xmlns:r="http://schemas.openxmlformats.org/officeDocument/2006/relationships" id="266" r:id="R109b4373f50148d7"/>
    <p:sldId xmlns:r="http://schemas.openxmlformats.org/officeDocument/2006/relationships" id="267" r:id="R52220d6ee7404a0a"/>
    <p:sldId xmlns:r="http://schemas.openxmlformats.org/officeDocument/2006/relationships" id="268" r:id="R412797d7b4f8499c"/>
    <p:sldId xmlns:r="http://schemas.openxmlformats.org/officeDocument/2006/relationships" id="269" r:id="R5ab37e549f6542fa"/>
    <p:sldId xmlns:r="http://schemas.openxmlformats.org/officeDocument/2006/relationships" id="270" r:id="Rd7e5a3d5eca14d4f"/>
    <p:sldId xmlns:r="http://schemas.openxmlformats.org/officeDocument/2006/relationships" id="271" r:id="Rb12da7776a184a67"/>
    <p:sldId xmlns:r="http://schemas.openxmlformats.org/officeDocument/2006/relationships" id="272" r:id="R8023c55ce60a45c6"/>
    <p:sldId xmlns:r="http://schemas.openxmlformats.org/officeDocument/2006/relationships" id="273" r:id="Rc26cbc40b06b45de"/>
    <p:sldId xmlns:r="http://schemas.openxmlformats.org/officeDocument/2006/relationships" id="274" r:id="R48818434340b45c6"/>
    <p:sldId xmlns:r="http://schemas.openxmlformats.org/officeDocument/2006/relationships" id="275" r:id="R4241a6a4083443a9"/>
    <p:sldId xmlns:r="http://schemas.openxmlformats.org/officeDocument/2006/relationships" id="276" r:id="R42c7afe62dff491e"/>
    <p:sldId xmlns:r="http://schemas.openxmlformats.org/officeDocument/2006/relationships" id="277" r:id="Re91ddf6f1f10405a"/>
    <p:sldId xmlns:r="http://schemas.openxmlformats.org/officeDocument/2006/relationships" id="278" r:id="Rb451cd00bfe046e2"/>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e447e05d85847ba" Type="http://schemas.openxmlformats.org/officeDocument/2006/relationships/presProps" Target="presProps.xml"/><Relationship Id="R109b4373f50148d7" Type="http://schemas.openxmlformats.org/officeDocument/2006/relationships/slide" Target="slides/slide11.xml"/><Relationship Id="R17cdf00af22544ec" Type="http://schemas.openxmlformats.org/officeDocument/2006/relationships/notesMaster" Target="notesMasters/notesMaster1.xml"/><Relationship Id="R2b8d5e587b524466" Type="http://schemas.openxmlformats.org/officeDocument/2006/relationships/slide" Target="slides/slide1.xml"/><Relationship Id="R3dfe9a4c53d14991" Type="http://schemas.openxmlformats.org/officeDocument/2006/relationships/theme" Target="theme/theme1.xml"/><Relationship Id="R412797d7b4f8499c" Type="http://schemas.openxmlformats.org/officeDocument/2006/relationships/slide" Target="slides/slide13.xml"/><Relationship Id="R4241a6a4083443a9" Type="http://schemas.openxmlformats.org/officeDocument/2006/relationships/slide" Target="slides/slide20.xml"/><Relationship Id="R42c7afe62dff491e" Type="http://schemas.openxmlformats.org/officeDocument/2006/relationships/slide" Target="slides/slide21.xml"/><Relationship Id="R48818434340b45c6" Type="http://schemas.openxmlformats.org/officeDocument/2006/relationships/slide" Target="slides/slide19.xml"/><Relationship Id="R52220d6ee7404a0a" Type="http://schemas.openxmlformats.org/officeDocument/2006/relationships/slide" Target="slides/slide12.xml"/><Relationship Id="R5ab37e549f6542fa" Type="http://schemas.openxmlformats.org/officeDocument/2006/relationships/slide" Target="slides/slide14.xml"/><Relationship Id="R73fccd141eb44525" Type="http://schemas.openxmlformats.org/officeDocument/2006/relationships/tableStyles" Target="tableStyles.xml"/><Relationship Id="R8007a5c3137f417b" Type="http://schemas.openxmlformats.org/officeDocument/2006/relationships/slideMaster" Target="slideMasters/slideMaster1.xml"/><Relationship Id="R8023c55ce60a45c6" Type="http://schemas.openxmlformats.org/officeDocument/2006/relationships/slide" Target="slides/slide17.xml"/><Relationship Id="R811c8c5cf72045ab" Type="http://schemas.openxmlformats.org/officeDocument/2006/relationships/viewProps" Target="viewProps.xml"/><Relationship Id="R8b70740d77294a57" Type="http://schemas.openxmlformats.org/officeDocument/2006/relationships/slide" Target="slides/slide10.xml"/><Relationship Id="R935af50926234fb4" Type="http://schemas.openxmlformats.org/officeDocument/2006/relationships/slide" Target="slides/slide2.xml"/><Relationship Id="R976a25d7afce4e80" Type="http://schemas.openxmlformats.org/officeDocument/2006/relationships/slide" Target="slides/slide7.xml"/><Relationship Id="Rb12da7776a184a67" Type="http://schemas.openxmlformats.org/officeDocument/2006/relationships/slide" Target="slides/slide16.xml"/><Relationship Id="Rb451cd00bfe046e2" Type="http://schemas.openxmlformats.org/officeDocument/2006/relationships/slide" Target="slides/slide23.xml"/><Relationship Id="Rc26cbc40b06b45de" Type="http://schemas.openxmlformats.org/officeDocument/2006/relationships/slide" Target="slides/slide18.xml"/><Relationship Id="Rc4f56ae3560f4deb" Type="http://schemas.openxmlformats.org/officeDocument/2006/relationships/slide" Target="slides/slide8.xml"/><Relationship Id="Rcd64287805aa47c5" Type="http://schemas.openxmlformats.org/officeDocument/2006/relationships/slide" Target="slides/slide5.xml"/><Relationship Id="Rd23b46dc52f448db" Type="http://schemas.openxmlformats.org/officeDocument/2006/relationships/slide" Target="slides/slide4.xml"/><Relationship Id="Rd7e5a3d5eca14d4f" Type="http://schemas.openxmlformats.org/officeDocument/2006/relationships/slide" Target="slides/slide15.xml"/><Relationship Id="Rdf4bf0712ad84a91" Type="http://schemas.openxmlformats.org/officeDocument/2006/relationships/slide" Target="slides/slide9.xml"/><Relationship Id="Re91ddf6f1f10405a" Type="http://schemas.openxmlformats.org/officeDocument/2006/relationships/slide" Target="slides/slide22.xml"/><Relationship Id="Rf08f5e490617477e" Type="http://schemas.openxmlformats.org/officeDocument/2006/relationships/slide" Target="slides/slide3.xml"/><Relationship Id="Rffd45c390dc84cbd"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9d5eb542a8e44a09"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54ad73a743cd4e15" Type="http://schemas.openxmlformats.org/officeDocument/2006/relationships/slide" Target="../slides/slide1.xml"/><Relationship Id="Rd69b2ba1e04f4684"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e4aa5f9cc144427" Type="http://schemas.openxmlformats.org/officeDocument/2006/relationships/slide" Target="../slides/slide2.xml"/><Relationship Id="R49070969c13d4cb9"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4c9efc80e024a8e" Type="http://schemas.openxmlformats.org/officeDocument/2006/relationships/slide" Target="../slides/slide3.xml"/><Relationship Id="R734ab82e73bb46fd"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267ed5af68b840b3" Type="http://schemas.openxmlformats.org/officeDocument/2006/relationships/slide" Target="../slides/slide4.xml"/><Relationship Id="Rb483976af3cd4247"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53a473399d174ef5" Type="http://schemas.openxmlformats.org/officeDocument/2006/relationships/notesMaster" Target="../notesMasters/notesMaster1.xml"/><Relationship Id="R55f71df5f74f41ab"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30a5c7f89d9a46e7" Type="http://schemas.openxmlformats.org/officeDocument/2006/relationships/notesMaster" Target="../notesMasters/notesMaster1.xml"/><Relationship Id="R952bdfce13a648c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b2fb6f933d554c71" Type="http://schemas.openxmlformats.org/officeDocument/2006/relationships/slide" Target="../slides/slide7.xml"/><Relationship Id="Rc9bb2e23cc61403e"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36949fdba29a4af3" Type="http://schemas.openxmlformats.org/officeDocument/2006/relationships/notesMaster" Target="../notesMasters/notesMaster1.xml"/><Relationship Id="R4709cb3e5002451f"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0de49a71b5924acb" Type="http://schemas.openxmlformats.org/officeDocument/2006/relationships/slide" Target="../slides/slide9.xml"/><Relationship Id="R1f8ae25d7fca4a80"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44952c1e14a748a3" Type="http://schemas.openxmlformats.org/officeDocument/2006/relationships/slide" Target="../slides/slide10.xml"/><Relationship Id="Rd4e42b66e2994b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188d420842cb4123" Type="http://schemas.openxmlformats.org/officeDocument/2006/relationships/notesMaster" Target="../notesMasters/notesMaster1.xml"/><Relationship Id="R7150d8c5e2f24d5c"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77a7446c941940cd" Type="http://schemas.openxmlformats.org/officeDocument/2006/relationships/slide" Target="../slides/slide12.xml"/><Relationship Id="R965470ac63d645a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41e81d24fa0049dc" Type="http://schemas.openxmlformats.org/officeDocument/2006/relationships/slide" Target="../slides/slide13.xml"/><Relationship Id="R9da4a1463c814325"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612c6a80f80941da" Type="http://schemas.openxmlformats.org/officeDocument/2006/relationships/notesMaster" Target="../notesMasters/notesMaster1.xml"/><Relationship Id="Rfa028b24cc8d43e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89b9a20639984de9" Type="http://schemas.openxmlformats.org/officeDocument/2006/relationships/slide" Target="../slides/slide15.xml"/><Relationship Id="Rb9ab542b3cf142bf"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47cc924e92634c3a" Type="http://schemas.openxmlformats.org/officeDocument/2006/relationships/slide" Target="../slides/slide16.xml"/><Relationship Id="R5ec1a739eaf5487e"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c92f24d6511a47a3" Type="http://schemas.openxmlformats.org/officeDocument/2006/relationships/notesMaster" Target="../notesMasters/notesMaster1.xml"/><Relationship Id="Rd1fcbaaca8cb49ec"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1bd2d4543a9d4d7c" Type="http://schemas.openxmlformats.org/officeDocument/2006/relationships/notesMaster" Target="../notesMasters/notesMaster1.xml"/><Relationship Id="R63feca000a764165"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718a332df32a4c4a" Type="http://schemas.openxmlformats.org/officeDocument/2006/relationships/slide" Target="../slides/slide19.xml"/><Relationship Id="R759b79a203e6456a"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0365976d0e1b4cf2" Type="http://schemas.openxmlformats.org/officeDocument/2006/relationships/slide" Target="../slides/slide20.xml"/><Relationship Id="R317f4de5de954bc4"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39b77abf62a247a7" Type="http://schemas.openxmlformats.org/officeDocument/2006/relationships/notesMaster" Target="../notesMasters/notesMaster1.xml"/><Relationship Id="Rf992fa335deb467c"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47db71698b134843" Type="http://schemas.openxmlformats.org/officeDocument/2006/relationships/slide" Target="../slides/slide22.xml"/><Relationship Id="R69eba6d67ae3480d"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ecd3ec902cf84014" Type="http://schemas.openxmlformats.org/officeDocument/2006/relationships/slide" Target="../slides/slide23.xml"/><Relationship Id="Rf2b21b50fa574e18"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PetMind는 반려견의 소리와 과거 기록을 살펴 보호자의 돌봄 판단을 돕는 시스템입니다. 소리나 영상만으로 감정과 질병을 확정하지 않습니다. 이번에는 교수님 피드백을 받아 어떤 부분을 바꿨고 실제로 어디까지 동작하는지 설명하겠습니다.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C:/Users/kuro/Desktop/capstone/capstone_publish_review/README.md</a:t>
            </a:r>
            <a:endParaRPr/>
          </a:p>
          <a:p xmlns:a="http://schemas.openxmlformats.org/drawingml/2006/main">
            <a:r>
              <a:t>C:/Users/kuro/Desktop/capstone/capstone_publish_review/docs/STATUS.md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피드백과 변경 내용을 설명하고, HTML 구성도를 열어 장비와 프로그램의 연결을 보여드리겠습니다. 이어서 소리 분석과 기록 검색 결과를 설명하고 다음 개발 계획을 말씀드리겠습니다.</a:t>
            </a:r>
            <a:endParaRPr/>
          </a:p>
          <a:p xmlns:a="http://schemas.openxmlformats.org/drawingml/2006/main">
            <a:r>
              <a:t/>
            </a:r>
            <a:endParaRPr/>
          </a:p>
          <a:p xmlns:a="http://schemas.openxmlformats.org/drawingml/2006/main">
            <a:r>
              <a:t>근거</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사진 한 장으로 행동을 판단하기 어렵다는 지적을 받아 영상 자동 행동 분석을 현재 범위에서 제외했습니다. 카메라는 소리가 난 상황을 사람이 확인하는 용도로 사용합니다. 소리 분석은 음역대별 세기와 시간 변화를 읽는 LSTM으로 구체화했습니다. 또 우리 반려견의 과거 기록을 먼저 활용하자는 취지를 반영해 기록 검색과 AI 설명을 연결했습니다.</a:t>
            </a:r>
          </a:p>
          <a:p xmlns:a="http://schemas.openxmlformats.org/drawingml/2006/main">
            <a:r>
              <a:t>피드백 문구는 자동 전사 비교 기록을 바탕으로 취지를 요약한 것입니다. 음성 LSTM과 카메라의 현재 역할은 이후 정한 개발 방향이며 교수님의 직접 인용문이 아닙니다.</a:t>
            </a:r>
          </a:p>
          <a:p xmlns:a="http://schemas.openxmlformats.org/drawingml/2006/main">
            <a:r>
              <a:t/>
            </a:r>
          </a:p>
          <a:p xmlns:a="http://schemas.openxmlformats.org/drawingml/2006/main">
            <a:r>
              <a:t>근거</a:t>
            </a:r>
          </a:p>
          <a:p xmlns:a="http://schemas.openxmlformats.org/drawingml/2006/main">
            <a:r>
              <a:t>C:/Users/kuro/Desktop/capstone/feedback_analysis/피드백_비교결과.txt</a:t>
            </a:r>
          </a:p>
          <a:p xmlns:a="http://schemas.openxmlformats.org/drawingml/2006/main">
            <a:r>
              <a:t>C:/Users/kuro/Desktop/capstone/feedback_analysis/feedback2_transcript.txt</a:t>
            </a:r>
          </a:p>
          <a:p xmlns:a="http://schemas.openxmlformats.org/drawingml/2006/main">
            <a:r>
              <a:t>C:/Users/kuro/Desktop/capstone/capstone_publish_review/AGENTS.md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가장 큰 변화는 마이크 분석과 기록 활용에 집중했다는 점입니다. 카메라는 상황 확인용으로 두고, 과거 기록은 질문에 맞춰 찾아봅니다. 급식기와 추가 센서는 현재 범위에서 제외했습니다. 음악의 실행 요청 기능은 남아 있지만 실제 스피커 재생은 아직 연결하지 않았습니다.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C:/Users/kuro/Desktop/capstone/capstone_publish_review/AGENTS.md</a:t>
            </a:r>
            <a:endParaRPr/>
          </a:p>
          <a:p xmlns:a="http://schemas.openxmlformats.org/drawingml/2006/main">
            <a:r>
              <a:t>C:/Users/kuro/Desktop/capstone/capstone_publish_review/README.md</a:t>
            </a:r>
            <a:endParaRPr/>
          </a:p>
          <a:p xmlns:a="http://schemas.openxmlformats.org/drawingml/2006/main">
            <a:r>
              <a:t>C:/Users/kuro/Desktop/capstone/capstone_publish_review/docs/AUTOMATIC_OUTING.md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최종적으로는 외출 모드를 켜면 자동으로 녹음되고, 귀가 후 요약과 원본을 확인할 수 있어야 합니다. 소리를 잘 찾는지와 설명이 기록에 맞는지도 함께 확인할 계획입니다. 오른쪽 담당 역할은 기존 팀 분담에 맞춰 정리한 작업 제안입니다.</a:t>
            </a:r>
            <a:endParaRPr/>
          </a:p>
          <a:p xmlns:a="http://schemas.openxmlformats.org/drawingml/2006/main">
            <a:r>
              <a:t/>
            </a:r>
            <a:endParaRPr/>
          </a:p>
          <a:p xmlns:a="http://schemas.openxmlformats.org/drawingml/2006/main">
            <a:r>
              <a:t>근거</a:t>
            </a:r>
            <a:endParaRPr/>
          </a:p>
          <a:p xmlns:a="http://schemas.openxmlformats.org/drawingml/2006/main">
            <a:r>
              <a:t>C:/Users/kuro/Documents/카카오톡 받은 파일/PetMind_2차_발표_prog.pptx</a:t>
            </a:r>
            <a:endParaRPr/>
          </a:p>
          <a:p xmlns:a="http://schemas.openxmlformats.org/drawingml/2006/main">
            <a:r>
              <a:t>C:/Users/kuro/Desktop/capstone/capstone_publish_review/README.md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밑줄 링크를 눌러 HTML 구성도를 엽니다. 수집 프로그램은 노트북 마이크와 웹캠으로 소리와 영상을 수집하고, 분석 프로그램은 소리를 분석하고 기록을 보관합니다. 보호자는 화면에서 원본을 확인하고 의견을 남깁니다. 전체도를 본 뒤 음성 분석과 기록 검색 부분을 눌러 자세히 설명합니다.</a:t>
            </a:r>
          </a:p>
          <a:p xmlns:a="http://schemas.openxmlformats.org/drawingml/2006/main">
            <a:r>
              <a:t>링크가 차단되면 같은 폴더의 PetMind_블록도_쉬운설명.html을 브라우저로 직접 여세요. 현재 화면은 최근 촬영 장면을 약 5초 단위로 갱신하며 즉시 보이는 실시간 방송은 아닙니다.</a:t>
            </a:r>
          </a:p>
          <a:p xmlns:a="http://schemas.openxmlformats.org/drawingml/2006/main">
            <a:r>
              <a:t/>
            </a:r>
          </a:p>
          <a:p xmlns:a="http://schemas.openxmlformats.org/drawingml/2006/main">
            <a:r>
              <a:t>근거</a:t>
            </a:r>
          </a:p>
          <a:p xmlns:a="http://schemas.openxmlformats.org/drawingml/2006/main">
            <a:r>
              <a:t>C:/Users/kuro/Desktop/capstone/capstone_publish_review/docs/PetMind_실장비_블록도.html</a:t>
            </a:r>
          </a:p>
          <a:p xmlns:a="http://schemas.openxmlformats.org/drawingml/2006/main">
            <a:r>
              <a:t>C:/Users/kuro/Desktop/capstone/capstone_publish_review/docs/AUTOMATIC_OUTING.md</a:t>
            </a:r>
          </a:p>
          <a:p xmlns:a="http://schemas.openxmlformats.org/drawingml/2006/main">
            <a:r>
              <a:t>새 패키지의 PetMind_블록도.html을 연다. YAMNet 실험은 운영 구조로 승격하지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외출 모드를 켜면 저장 동의를 받고 새 외출 기록을 만듭니다. 수집 프로그램이 이 요청을 받아 녹음과 촬영을 시작하도록 구현했습니다. 귀가 버튼을 누르면 남은 구간을 저장한 뒤 끝냅니다. 현재는 준비한 파일로 동작을 확인했고 실제 마이크와 카메라 연결 시험은 남아 있습니다.</a:t>
            </a:r>
          </a:p>
          <a:p xmlns:a="http://schemas.openxmlformats.org/drawingml/2006/main">
            <a:r>
              <a:t/>
            </a:r>
          </a:p>
          <a:p xmlns:a="http://schemas.openxmlformats.org/drawingml/2006/main">
            <a:r>
              <a:t>근거</a:t>
            </a:r>
          </a:p>
          <a:p xmlns:a="http://schemas.openxmlformats.org/drawingml/2006/main">
            <a:r>
              <a:t>C:/Users/kuro/Desktop/capstone/capstone_publish_review/docs/AUTOMATIC_OUTING.md</a:t>
            </a:r>
          </a:p>
          <a:p xmlns:a="http://schemas.openxmlformats.org/drawingml/2006/main">
            <a:r>
              <a:t>C:/Users/kuro/Desktop/capstone/capstone_publish_review/scripts/pi_outing_agent.py</a:t>
            </a:r>
          </a:p>
          <a:p xmlns:a="http://schemas.openxmlformats.org/drawingml/2006/main">
            <a:r>
              <a:t>C:/Users/kuro/Desktop/capstone/capstone_publish_review/petmind/backend/routers/capture.py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여기서부터는 소리를 분석하고 과거 기록을 설명에 사용하는 과정을 보여드리겠습니다. 소리 분석은 LSTM, 필요한 과거 기록을 찾아 설명하는 부분은 RAG가 맡습니다.</a:t>
            </a:r>
            <a:endParaRPr/>
          </a:p>
          <a:p xmlns:a="http://schemas.openxmlformats.org/drawingml/2006/main">
            <a:r>
              <a:t/>
            </a:r>
            <a:endParaRPr/>
          </a:p>
          <a:p xmlns:a="http://schemas.openxmlformats.org/drawingml/2006/main">
            <a:r>
              <a:t>근거</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녹음을 5초씩 나눈 뒤 낮은음부터 높은음까지 여러 음역대의 세기를 살펴봅니다. LSTM은 이 소리의 특징이 시간에 따라 어떻게 달라지는지 읽고 짖음 소리 후보를 찾습니다. 특정 음역대만 나오면 짖음이라고 정하는 방식은 아닙니다.</a:t>
            </a:r>
            <a:endParaRPr/>
          </a:p>
          <a:p xmlns:a="http://schemas.openxmlformats.org/drawingml/2006/main">
            <a:r>
              <a:t>예를 들어 5초 동안 세 번 짖어도 AI가 기록하는 것은 짖음 후보 구간 하나입니다. 소리가 커진 횟수와 AI가 판정한 구간 수는 그래서 따로 저장합니다. 문 닫는 소리도 커질 수 있으므로 소리 크기만으로 짖음이라고 확정하지 않습니다.</a:t>
            </a:r>
            <a:endParaRPr/>
          </a:p>
          <a:p xmlns:a="http://schemas.openxmlformats.org/drawingml/2006/main">
            <a:r>
              <a:t>기술 참고: 16kHz는 1초를 16,000개 수치로 표현하는 녹음 기준입니다. log-mel은 음역대별 세기를 시간 순서로 정리한 특징입니다. 현재는 40개 대역을 사용합니다.</a:t>
            </a:r>
            <a:endParaRPr/>
          </a:p>
          <a:p xmlns:a="http://schemas.openxmlformats.org/drawingml/2006/main">
            <a:r>
              <a:t>판정의 한계: 현재 모델은 Dog와 기타 소리를 구분하도록 학습했습니다. Dog 자료에는 짖음 외 다른 발성도 포함될 수 있으므로 슬라이드에서는 사용자 확인 대상인 개 짖음 소리 후보로 표현합니다. 짖음만의 정확도나 낑낑거림·하울링 구분을 검증한 것은 아닙니다.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C:/Users/kuro/Desktop/capstone/capstone_publish_review/pet_monitor/audio_lstm.py</a:t>
            </a:r>
            <a:endParaRPr/>
          </a:p>
          <a:p xmlns:a="http://schemas.openxmlformats.org/drawingml/2006/main">
            <a:r>
              <a:t>C:/Users/kuro/Desktop/capstone/capstone_publish_review/README.md</a:t>
            </a:r>
            <a:endParaRPr/>
          </a:p>
          <a:p xmlns:a="http://schemas.openxmlformats.org/drawingml/2006/main">
            <a:r>
              <a:t>이 장은 기존 운영 LSTM을 설명한다. 이후의 YAMNet과 결합 LSTM은 실험 경로이며 기본 모델 교체는 아직 하지 않았다.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YAMNet의 시간순 1024차원 특징을 LSTM 입력으로 사용했다. YAMNet은 고정하고 작은 분류기를 학습했다. 평균 특징 분류기와 OR 결합도 비교했다. LSTM이 더 좋다는 결론을 먼저 정하지 않고 같은 자료의 결과로 판단했다.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C:/Users/kuro/Desktop/capstone/capstone_publish_review/docs/45_YAMNet_임베딩_LSTM_비교.md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120개 Dog 평가를 이 표와 섞지 않았다. 이번 양성은 명시적 Bark 라벨 42개이며 음원 단위 평가다. 기존 LSTM은 고정 임계값 0.9. 검증으로 임계값을 바꾼 기존 LSTM은 F1 54.8%, FP11 FN22였다. YAMNet 임계값0.05, 결합LSTM0.55. 기존 LSTM만 맞힌 짖음0개, YAMNet만 맞힌 짖음17개. AudioSet 사전학습과 Freesound 원본 중복을 완전히 배제하지 못한다. 실제 가정 정확도로 주장하지 않는다.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C:/Users/kuro/Desktop/capstone/capstone_publish_review/docs/45_YAMNet_임베딩_LSTM_비교.md</a:t>
            </a:r>
            <a:endParaRPr/>
          </a:p>
          <a:p xmlns:a="http://schemas.openxmlformats.org/drawingml/2006/main">
            <a:r>
              <a:t>C:/Users/kuro/Desktop/capstone/capstone_publish_review/artifacts/yamnet_bark_experiment/comparison.json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학습 자료는 학습에만 넣었다. FSD·ESC 검증에서 임계값과 epoch를 골랐다. 시드20261012,11,29의 평가F1은 .805,.780,.811이다. 가장 좋은 실행만 골라 개선을 주장하지 않는다. AudioSet strong은 짖음 시작·종료 주석을 제공하며, 5초 창과0.1초 이상 겹치면 양성으로 지정했다. 접근 가능한 영상만 확보한 선택 편향이 있다.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C:/Users/kuro/Desktop/capstone/capstone_publish_review/docs/46_AudioSet_구간정답_YAMNet_LSTM_재학습.md</a:t>
            </a:r>
            <a:endParaRPr/>
          </a:p>
          <a:p xmlns:a="http://schemas.openxmlformats.org/drawingml/2006/main">
            <a:r>
              <a:t>C:/Users/kuro/Desktop/capstone/capstone_publish_review/docs/47_AudioSet_시간구간_짖음_평가.md</a:t>
            </a:r>
            <a:endParaRPr/>
          </a:p>
          <a:p xmlns:a="http://schemas.openxmlformats.org/drawingml/2006/main">
            <a:r>
              <a:t>https://research.google.com/audioset/download_strong.html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①시드20261012 ②11 ③29. 앞 표의182개 음원 단위 결과와 이번106개 창 단위 결과는 평가 대상이 다르므로 직접 증감 비교하지 않는다. 기존 log-mel LSTM은 이106개 평가에서 측정한 결과가 없어 표에 넣지 않았다. AudioSet 자체의 train/eval ID와 WAV 해시 중복0. YAMNet 사전학습으로부터 독립적이라는 뜻은 아니다.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C:/Users/kuro/Desktop/capstone/capstone_publish_review/docs/47_AudioSet_시간구간_짖음_평가.md</a:t>
            </a:r>
            <a:endParaRPr/>
          </a:p>
          <a:p xmlns:a="http://schemas.openxmlformats.org/drawingml/2006/main">
            <a:r>
              <a:t>C:/Users/kuro/Desktop/capstone/capstone_publish_review/artifacts/audioset_bark_strong_eval/comparison.json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AudioSet 평가 짖음57창 중1초 미만23창에서12개,1초 이상34창에서3개를 놓쳤다. 짧음이 모든 놓침의 원인이라고 단정하지 않는다. 원본 청취와 주석 정렬 확인은 아직 하지 않았다. 점수 기준을 낮추는 실험은 train에서만 진행했으며 오탐 증가로 F1이 낮아졌다.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C:/Users/kuro/Desktop/capstone/capstone_publish_review/docs/47_AudioSet_시간구간_짖음_평가.md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YAMNet .96초 특징을 .48초 간격으로 추출. AudioSet train64개를 영상ID 기준48학습16검증으로 나눔. 시간구간 정답으로 PatchLSTM을 학습, epoch4 threshold.65 선택. eval은 동일53개106창이다. 전체10초를 연속 처리해 경계 점수가 달라 단독F1이81.6%가 아닌80.0%다. LSTM의 짧은 창 누락10개 대 단독11개. 운영에 적용하지 않았다.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C:/Users/kuro/Desktop/capstone/capstone_publish_review/docs/47_AudioSet_시간구간_짖음_평가.md</a:t>
            </a:r>
            <a:endParaRPr/>
          </a:p>
          <a:p xmlns:a="http://schemas.openxmlformats.org/drawingml/2006/main">
            <a:r>
              <a:t>C:/Users/kuro/Desktop/capstone/capstone_publish_review/artifacts/audioset_bark_strong/patch_lstm_comparison.json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AI가 짖음 후보로 판정한 구간이 나오면 앞뒤 영상도 저장합니다. 보호자는 소리를 듣고 같은 시각의 장면을 보며 무슨 일이 있었는지 확인할 수 있습니다. 30초 시험 파일에서 소리 기록 6개와 15초 영상을 만들고 재생했습니다.</a:t>
            </a:r>
            <a:endParaRPr/>
          </a:p>
          <a:p xmlns:a="http://schemas.openxmlformats.org/drawingml/2006/main">
            <a:r>
              <a:t>시험 파일은 공개 녹음에 생성한 영상 패턴을 붙인 기능 시험용 자료입니다. 실제 반려견 홈캠 영상이나 현장 정확도 시험은 아닙니다. 실제 장비에서는 소리와 영상의 시각이 맞는지 추가로 확인해야 합니다.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C:/Users/kuro/Desktop/capstone/capstone_publish_review/docs/evidence/event_video_integration.json</a:t>
            </a:r>
            <a:endParaRPr/>
          </a:p>
          <a:p xmlns:a="http://schemas.openxmlformats.org/drawingml/2006/main">
            <a:r>
              <a:t>C:/Users/kuro/Desktop/capstone/capstone_publish_review/docs/STATUS.md</a:t>
            </a:r>
            <a:endParaRPr/>
          </a:p>
          <a:p xmlns:a="http://schemas.openxmlformats.org/drawingml/2006/main">
            <a:r>
              <a:t>C:/Users/kuro/Desktop/capstone/capstone_publish_review/scripts/monitor_audio_events.py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RAG는 질문에 필요한 과거 기록을 먼저 찾아 AI가 그 기록을 바탕으로 설명하게 하는 방식입니다. MCP는 저장한 기록을 조회해 전달하는 연결 도구입니다.</a:t>
            </a:r>
            <a:endParaRPr/>
          </a:p>
          <a:p xmlns:a="http://schemas.openxmlformats.org/drawingml/2006/main">
            <a:r>
              <a:t>예를 들어 보호자가 TV 소리라고 확인한 기록을 물었는데 다른 기록을 가져오는 문제가 있었습니다. 질문과 보호자 의견을 대조하도록 고쳤습니다. 귀가 요약의 시간과 횟수는 프로그램이 계산하고 AI는 설명에 필요한 기록을 고릅니다.</a:t>
            </a:r>
            <a:endParaRPr/>
          </a:p>
          <a:p xmlns:a="http://schemas.openxmlformats.org/drawingml/2006/main">
            <a:r>
              <a:t>자체 질문 20개에서는 정답 기록이 검색 상위 5개에 포함된 비율이 35%에서 100%로 올랐습니다. 답변 정확도가 100%라는 뜻은 아닙니다. 실제 보호자 질문과 돌봄 제안 문장의 내용 확인은 남아 있습니다.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C:/Users/kuro/Desktop/capstone/capstone_publish_review/docs/RAG_검증과_개선_2026-10-12.md</a:t>
            </a:r>
            <a:endParaRPr/>
          </a:p>
          <a:p xmlns:a="http://schemas.openxmlformats.org/drawingml/2006/main">
            <a:r>
              <a:t>C:/Users/kuro/Desktop/capstone/capstone_publish_review/petmind/backend/services/outing_retrieval.py</a:t>
            </a:r>
            <a:endParaRPr/>
          </a:p>
          <a:p xmlns:a="http://schemas.openxmlformats.org/drawingml/2006/main">
            <a:r>
              <a:t>C:/Users/kuro/Desktop/capstone/capstone_publish_review/petmind/backend/services/retrieval.py</a:t>
            </a:r>
            <a:endParaRPr/>
          </a:p>
          <a:p xmlns:a="http://schemas.openxmlformats.org/drawingml/2006/main">
            <a:r>
              <a:t>추가 변경: gemini-3.5-flash-lite 유지. 다음 확인 제안은 근거 연결 규칙으로 작성한다. 별도 RAG·케어는 Gemini 자유 문장 생성 후 수치·확인 의견 일치를 검사하며 실패 시 기본 판단으로 대체한다. 자연 음성 시연3건에서 케어는1건 Gemini,2건 대체 동작이었다.</a:t>
            </a:r>
            <a:endParaRPr/>
          </a:p>
          <a:p xmlns:a="http://schemas.openxmlformats.org/drawingml/2006/main">
            <a:r>
              <a:t>C:/Users/kuro/Desktop/capstone/capstone_publish_review/docs/43_자연스러운_음성_사례별_UI_RAG_시연.md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보호자는 화면에서 원본 녹음과 영상을 확인하고 개 짖음 소리인지, TV 소리인지, 잘 모르겠는지 의견을 남깁니다. 이 의견을 AI 판정과 따로 기록합니다. 귀가 후에는 실제 분석한 시간과 기록하지 못한 시간을 나누어 보고 지난 외출과 비교합니다.</a:t>
            </a:r>
            <a:endParaRPr/>
          </a:p>
          <a:p xmlns:a="http://schemas.openxmlformats.org/drawingml/2006/main">
            <a:r>
              <a:t>보호자 의견이 곧바로 정답으로 확정되거나 모델을 다시 학습시키는 것은 아닙니다. 공개 자료로 만든 시연 기록도 실제 반려견의 장기 기록과 구분해 표시합니다.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C:/Users/kuro/Desktop/capstone/capstone_publish_review/docs/UI_SECTIONS.md</a:t>
            </a:r>
            <a:endParaRPr/>
          </a:p>
          <a:p xmlns:a="http://schemas.openxmlformats.org/drawingml/2006/main">
            <a:r>
              <a:t>C:/Users/kuro/Desktop/capstone/capstone_publish_review/docs/40_중간발표_시연_체크포인트.md</a:t>
            </a:r>
            <a:endParaRPr/>
          </a:p>
          <a:p xmlns:a="http://schemas.openxmlformats.org/drawingml/2006/main">
            <a:r>
              <a:t>C:/Users/kuro/Desktop/capstone/capstone_publish_review/docs/AUTOMATIC_OUTING.md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Flutter 업로드·귀가·RAG 조작으로 확인한 결과다. 초인종과 노크는 업로드 담당자의 상황 설명이지 운영 LSTM의 자동 분류 결과가 아니다. 기준.9의 household_bark_candidate 사용. RAG의 사실 선택은 Gemini, 최종 근거 문장과 다음 확인 안내는 서버 규칙. 자연스러운 TTS는 다른 합성 시연에 사용했고 이 방문 사례의 짖음은 공개 원본이다. 발표에서 방문 원인 감지로 소개하지 않는다.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C:/Users/kuro/Desktop/capstone/capstone_publish_review/docs/44_방문_상황_음원_RAG_시연.md</a:t>
            </a:r>
            <a:endParaRPr/>
          </a:p>
          <a:p xmlns:a="http://schemas.openxmlformats.org/drawingml/2006/main">
            <a:r>
              <a:t>C:/Users/kuro/Desktop/capstone/capstone_publish_review/artifacts/ai_sound_demo_20261012/visitor/visitor_ui_result.json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현재는 외출 기록부터 원본 확인과 귀가 요약까지 전체 흐름을 보여줄 수 있습니다. 프로그램 자동 테스트도 통과했습니다. 다만 이것이 실제 장비의 안정성이나 짖음 분석의 정확도를 뜻하지는 않습니다. 실제 마이크·웹캠 연결, 놓치는 소리 개선, 실제 보호자 질문 확인이 주요 남은 작업입니다.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C:/Users/kuro/Desktop/capstone/capstone_publish_review/docs/STATUS.md</a:t>
            </a:r>
            <a:endParaRPr/>
          </a:p>
          <a:p xmlns:a="http://schemas.openxmlformats.org/drawingml/2006/main">
            <a:r>
              <a:t>C:/Users/kuro/Desktop/capstone/capstone_publish_review/README.md</a:t>
            </a:r>
            <a:endParaRPr/>
          </a:p>
          <a:p xmlns:a="http://schemas.openxmlformats.org/drawingml/2006/main">
            <a:r>
              <a:t>최신 Python 회귀156개 통과, pip check 정상(docs47). Flutter21개·정적분석·웹빌드는 방문시연 수정 당시 결과(docs44)이며 이후 모델실험에서 UI 변경 없음. YAMNet은 현재 가장 좋은 비교 후보지만 아직 운영 기본값으로 교체하지 않았다.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사용자와 논의한 후속 방향이다. 현재10초 공개 음원만으로 장기 반복 패턴의 성능을 검증할 수 없다. 짧은 구간LSTM은 이미 실험했고 성능우위를 보이지 않았다. 따라서20~60초 패턴모델의 유용성도 사전 보장하지 않으며 단순 규칙보다 나은지 비교한다.</a:t>
            </a:r>
            <a:endParaRPr/>
          </a:p>
          <a:p xmlns:a="http://schemas.openxmlformats.org/drawingml/2006/main">
            <a:r>
              <a:t/>
            </a:r>
            <a:endParaRPr/>
          </a:p>
          <a:p xmlns:a="http://schemas.openxmlformats.org/drawingml/2006/main">
            <a:r>
              <a:t>근거</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발표의 11월 7일 목표를 기준으로 세운 계획입니다. 먼저 마이크와 카메라를 연결하고, 학습과 시험에 쓸 자료를 나누겠습니다. 그다음 놓친 소리를 분석해 모델을 개선하고, 별도 질문으로 기록 검색과 설명을 확인하겠습니다. 마지막에는 장시간 동작과 복구를 시험하고 발표 예행연습을 하겠습니다. 장비 연결 상태와 평가 결과에 따라 세부 작업은 조정할 계획입니다.</a:t>
            </a:r>
            <a:endParaRPr/>
          </a:p>
          <a:p xmlns:a="http://schemas.openxmlformats.org/drawingml/2006/main">
            <a:r>
              <a:t/>
            </a:r>
            <a:endParaRPr/>
          </a:p>
          <a:p xmlns:a="http://schemas.openxmlformats.org/drawingml/2006/main">
            <a:r>
              <a:t>근거</a:t>
            </a:r>
            <a:endParaRPr/>
          </a:p>
          <a:p xmlns:a="http://schemas.openxmlformats.org/drawingml/2006/main">
            <a:r>
              <a:t>C:/Users/kuro/Documents/카카오톡 받은 파일/PetMind_2차_발표_prog.pptx</a:t>
            </a:r>
            <a:endParaRPr/>
          </a:p>
          <a:p xmlns:a="http://schemas.openxmlformats.org/drawingml/2006/main">
            <a:r>
              <a:t>C:/Users/kuro/Desktop/capstone/capstone_publish_review/README.md</a:t>
            </a:r>
            <a:endParaRPr/>
          </a:p>
          <a:p xmlns:a="http://schemas.openxmlformats.org/drawingml/2006/main">
            <a:r>
              <a:t>C:/Users/kuro/Desktop/capstone/capstone_publish_review/docs/RAG_검증과_개선_2026-10-12.md</a:t>
            </a:r>
            <a:endParaRPr/>
          </a:p>
          <a:p xmlns:a="http://schemas.openxmlformats.org/drawingml/2006/main">
            <a:r>
              <a:t>공개 음원 추가 학습은 이미 수행했다. 이제 우선순위는 정답 검수와 새 실제 환경 평가다. LSTM 연속 패턴은 자료 확보 후 선택적으로 진행한다.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목표는 실제 장비로 전체 과정을 보여주고 분석 결과를 검증하는 것입니다. 현재 방향과 남은 계획에 대한 피드백을 부탁드립니다.</a:t>
            </a:r>
            <a:endParaRPr/>
          </a:p>
          <a:p xmlns:a="http://schemas.openxmlformats.org/drawingml/2006/main">
            <a:r>
              <a:t/>
            </a:r>
            <a:endParaRPr/>
          </a:p>
          <a:p xmlns:a="http://schemas.openxmlformats.org/drawingml/2006/main">
            <a:r>
              <a:t>근거</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76ad205320074d70"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3c482ef0f4af42d5" Type="http://schemas.openxmlformats.org/officeDocument/2006/relationships/slideLayout" Target="../slideLayouts/slideLayout1.xml"/><Relationship Id="Re947d3efb66a400e" Type="http://schemas.openxmlformats.org/officeDocument/2006/relationships/theme" Target="theme/theme2.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482ef0f4af42d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41c79891d2734c06" Type="http://schemas.openxmlformats.org/officeDocument/2006/relationships/slideLayout" Target="../slideLayouts/slideLayout1.xml"/><Relationship Id="Rc26d7a60b7ab4f3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06dc862d8b5f4705" Type="http://schemas.openxmlformats.org/officeDocument/2006/relationships/notesSlide" Target="../notesSlides/notesSlide2.xml"/><Relationship Id="R4f723aa3c51d42f2"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3856bf3ffb27415b" Type="http://schemas.openxmlformats.org/officeDocument/2006/relationships/slideLayout" Target="../slideLayouts/slideLayout1.xml"/><Relationship Id="R92aeff7409834a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1655ca123a6c44eb" Type="http://schemas.openxmlformats.org/officeDocument/2006/relationships/notesSlide" Target="../notesSlides/notesSlide4.xml"/><Relationship Id="Rb5c5a0055546423e"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e91aaf11fec34861" Type="http://schemas.openxmlformats.org/officeDocument/2006/relationships/slideLayout" Target="../slideLayouts/slideLayout1.xml"/><Relationship Id="Read09aa6a8c8422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17d6299efe0a4cd5" Type="http://schemas.openxmlformats.org/officeDocument/2006/relationships/notesSlide" Target="../notesSlides/notesSlide6.xml"/><Relationship Id="R35713f1802a8414d" Type="http://schemas.openxmlformats.org/officeDocument/2006/relationships/slideLayout" Target="../slideLayouts/slideLayout1.xml"/><Relationship Id="R4d612b6063844516" Type="http://schemas.openxmlformats.org/officeDocument/2006/relationships/hyperlink" Target="../../PetMind_&#46041;&#51089;_&#50528;&#45768;&#47700;&#51060;&#49496;.html" TargetMode="External"/></Relationships>
</file>

<file path=ppt/slides/_rels/slide7.xml.rels><?xml version='1.0' encoding='UTF-8' standalone='yes'?>
<Relationships xmlns="http://schemas.openxmlformats.org/package/2006/relationships"><Relationship Id="R08acf49746dd4237" Type="http://schemas.openxmlformats.org/officeDocument/2006/relationships/notesSlide" Target="../notesSlides/notesSlide7.xml"/><Relationship Id="R60c450fd4b464059"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3cd3fea0b2e04bb7" Type="http://schemas.openxmlformats.org/officeDocument/2006/relationships/slideLayout" Target="../slideLayouts/slideLayout1.xml"/><Relationship Id="Re2027d1e1e384dd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44f0a129e10d4423" Type="http://schemas.openxmlformats.org/officeDocument/2006/relationships/slideLayout" Target="../slideLayouts/slideLayout1.xml"/><Relationship Id="R63c8c1320d604a4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4594f157631b4233" Type="http://schemas.openxmlformats.org/officeDocument/2006/relationships/notesSlide" Target="../notesSlides/notesSlide10.xml"/><Relationship Id="R9902cb30447a435f"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8e67589cbb5849a9" Type="http://schemas.openxmlformats.org/officeDocument/2006/relationships/notesSlide" Target="../notesSlides/notesSlide11.xml"/><Relationship Id="Rb58402ff915f43e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3ce622c47b03408b" Type="http://schemas.openxmlformats.org/officeDocument/2006/relationships/slideLayout" Target="../slideLayouts/slideLayout1.xml"/><Relationship Id="R5ba0df25719047a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3646576825ce4fa5" Type="http://schemas.openxmlformats.org/officeDocument/2006/relationships/slideLayout" Target="../slideLayouts/slideLayout1.xml"/><Relationship Id="Rfe014569b77f48df"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4b76e16663104ad3" Type="http://schemas.openxmlformats.org/officeDocument/2006/relationships/notesSlide" Target="../notesSlides/notesSlide14.xml"/><Relationship Id="Rc088f62774524cae"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2c5e6db806eb477a" Type="http://schemas.openxmlformats.org/officeDocument/2006/relationships/notesSlide" Target="../notesSlides/notesSlide15.xml"/><Relationship Id="Rf7206245896f414b"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52004fe2f2fa4ed8" Type="http://schemas.openxmlformats.org/officeDocument/2006/relationships/slideLayout" Target="../slideLayouts/slideLayout1.xml"/><Relationship Id="R70c39baff54a4af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43c7a2068a71419f" Type="http://schemas.openxmlformats.org/officeDocument/2006/relationships/notesSlide" Target="../notesSlides/notesSlide17.xml"/><Relationship Id="Ra6ca83f1d4bf4cd5"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1fd1c007bbab440d" Type="http://schemas.openxmlformats.org/officeDocument/2006/relationships/slideLayout" Target="../slideLayouts/slideLayout1.xml"/><Relationship Id="R7bb49466d74947a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4d0b28fc788b421e" Type="http://schemas.openxmlformats.org/officeDocument/2006/relationships/notesSlide" Target="../notesSlides/notesSlide19.xml"/><Relationship Id="R730dcba5f3864887"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67d0505b653b47ab" Type="http://schemas.openxmlformats.org/officeDocument/2006/relationships/notesSlide" Target="../notesSlides/notesSlide20.xml"/><Relationship Id="Rb53378896db44092"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2cd8cfd99bc24187" Type="http://schemas.openxmlformats.org/officeDocument/2006/relationships/notesSlide" Target="../notesSlides/notesSlide21.xml"/><Relationship Id="Raaefd401ad7a4522"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1f513cebd3134ce7" Type="http://schemas.openxmlformats.org/officeDocument/2006/relationships/slideLayout" Target="../slideLayouts/slideLayout1.xml"/><Relationship Id="R21349bfe76ac4b2d"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cc3fa8eb890a4fff" Type="http://schemas.openxmlformats.org/officeDocument/2006/relationships/notesSlide" Target="../notesSlides/notesSlide23.xml"/><Relationship Id="Rde3bf5f61fd84872"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272626"/>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C03E29E-4754-46B8-BFF3-E79F81B9579B}"/>
              </a:ext>
            </a:extLst>
          </p:cNvPr>
          <p:cNvSpPr>
            <a:spLocks xmlns:a="http://schemas.openxmlformats.org/drawingml/2006/main" noGrp="1"/>
          </p:cNvSpPr>
          <p:nvPr/>
        </p:nvSpPr>
        <p:spPr>
          <a:xfrm xmlns:a="http://schemas.openxmlformats.org/drawingml/2006/main">
            <a:off x="5090008" y="1188720"/>
            <a:ext cx="2011680" cy="384048"/>
          </a:xfrm>
          <a:prstGeom xmlns:a="http://schemas.openxmlformats.org/drawingml/2006/main" prst="roundRect">
            <a:avLst>
              <a:gd name="adj" fmla="val 50000"/>
            </a:avLst>
          </a:prstGeom>
          <a:solidFill xmlns:a="http://schemas.openxmlformats.org/drawingml/2006/main">
            <a:srgbClr val="3A3939"/>
          </a:solidFill>
          <a:ln xmlns:a="http://schemas.openxmlformats.org/drawingml/2006/main" w="12700">
            <a:solidFill>
              <a:srgbClr val="3A3939"/>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8CCB8B4F-14EC-4810-A9A6-C33EEC68953E}"/>
              </a:ext>
            </a:extLst>
          </p:cNvPr>
          <p:cNvSpPr>
            <a:spLocks xmlns:a="http://schemas.openxmlformats.org/drawingml/2006/main" noGrp="1"/>
          </p:cNvSpPr>
          <p:nvPr/>
        </p:nvSpPr>
        <p:spPr>
          <a:xfrm xmlns:a="http://schemas.openxmlformats.org/drawingml/2006/main">
            <a:off x="5090008" y="1188720"/>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spc="100">
                <a:solidFill>
                  <a:srgbClr val="FFFFFF"/>
                </a:solidFill>
                <a:latin typeface="Noto Sans KR"/>
                <a:ea typeface="Noto Sans KR"/>
                <a:cs typeface="Noto Sans KR"/>
              </a:rPr>
              <a:t>CAPSTONE DESIGN</a:t>
            </a:r>
            <a:endParaRPr sz="1100"/>
          </a:p>
        </p:txBody>
      </p:sp>
      <p:sp>
        <p:nvSpPr>
          <p:cNvPr id="4" name="Text 2">
            <a:extLst xmlns:a="http://schemas.openxmlformats.org/drawingml/2006/main">
              <a:ext uri="{FF2B5EF4-FFF2-40B4-BE49-F238E27FC236}">
                <a16:creationId xmlns:a16="http://schemas.microsoft.com/office/drawing/2014/main" id="{9517F815-8F86-4C27-9944-D0E039E6390D}"/>
              </a:ext>
            </a:extLst>
          </p:cNvPr>
          <p:cNvSpPr>
            <a:spLocks xmlns:a="http://schemas.openxmlformats.org/drawingml/2006/main" noGrp="1"/>
          </p:cNvSpPr>
          <p:nvPr/>
        </p:nvSpPr>
        <p:spPr>
          <a:xfrm xmlns:a="http://schemas.openxmlformats.org/drawingml/2006/main">
            <a:off x="457200" y="2011680"/>
            <a:ext cx="1127729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000" b="1">
                <a:solidFill>
                  <a:srgbClr val="FFFFFF"/>
                </a:solidFill>
                <a:latin typeface="Noto Sans KR"/>
                <a:ea typeface="Noto Sans KR"/>
                <a:cs typeface="Noto Sans KR"/>
              </a:rPr>
              <a:t>PetMind</a:t>
            </a:r>
            <a:endParaRPr sz="6000"/>
          </a:p>
        </p:txBody>
      </p:sp>
      <p:sp>
        <p:nvSpPr>
          <p:cNvPr id="5" name="Text 3">
            <a:extLst xmlns:a="http://schemas.openxmlformats.org/drawingml/2006/main">
              <a:ext uri="{FF2B5EF4-FFF2-40B4-BE49-F238E27FC236}">
                <a16:creationId xmlns:a16="http://schemas.microsoft.com/office/drawing/2014/main" id="{AC121541-9B7F-4D6F-9EF2-4000E8148791}"/>
              </a:ext>
            </a:extLst>
          </p:cNvPr>
          <p:cNvSpPr>
            <a:spLocks xmlns:a="http://schemas.openxmlformats.org/drawingml/2006/main" noGrp="1"/>
          </p:cNvSpPr>
          <p:nvPr/>
        </p:nvSpPr>
        <p:spPr>
          <a:xfrm xmlns:a="http://schemas.openxmlformats.org/drawingml/2006/main">
            <a:off x="731520" y="3108960"/>
            <a:ext cx="1072865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600" b="0">
                <a:solidFill>
                  <a:srgbClr val="C9C9C9"/>
                </a:solidFill>
                <a:latin typeface="Noto Sans KR"/>
                <a:ea typeface="Noto Sans KR"/>
                <a:cs typeface="Noto Sans KR"/>
              </a:defRPr>
            </a:defPPr>
          </a:lstStyle>
          <a:p xmlns:a="http://schemas.openxmlformats.org/drawingml/2006/main">
            <a:pPr marL="0" indent="0" algn="ctr">
              <a:buNone/>
              <a:defRPr sz="1600" b="0">
                <a:solidFill>
                  <a:srgbClr val="C9C9C9"/>
                </a:solidFill>
                <a:latin typeface="Noto Sans KR"/>
                <a:ea typeface="Noto Sans KR"/>
                <a:cs typeface="Noto Sans KR"/>
              </a:defRPr>
            </a:pPr>
            <a:r>
              <a:rPr sz="1600" b="0">
                <a:solidFill>
                  <a:srgbClr val="C9C9C9"/>
                </a:solidFill>
                <a:latin typeface="Noto Sans KR"/>
                <a:ea typeface="Noto Sans KR"/>
                <a:cs typeface="Noto Sans KR"/>
              </a:rPr>
              <a:t>반려견의 소리와 과거 기록을 살펴 보호자의 돌봄을 돕는 시스템</a:t>
            </a:r>
            <a:endParaRPr sz="1600"/>
          </a:p>
        </p:txBody>
      </p:sp>
      <p:sp>
        <p:nvSpPr>
          <p:cNvPr id="6" name="Shape 4">
            <a:extLst xmlns:a="http://schemas.openxmlformats.org/drawingml/2006/main">
              <a:ext uri="{FF2B5EF4-FFF2-40B4-BE49-F238E27FC236}">
                <a16:creationId xmlns:a16="http://schemas.microsoft.com/office/drawing/2014/main" id="{E550BD84-39A1-4069-A982-23EA5741294F}"/>
              </a:ext>
            </a:extLst>
          </p:cNvPr>
          <p:cNvSpPr>
            <a:spLocks xmlns:a="http://schemas.openxmlformats.org/drawingml/2006/main" noGrp="1"/>
          </p:cNvSpPr>
          <p:nvPr/>
        </p:nvSpPr>
        <p:spPr>
          <a:xfrm xmlns:a="http://schemas.openxmlformats.org/drawingml/2006/main">
            <a:off x="822960" y="4892040"/>
            <a:ext cx="0" cy="685800"/>
          </a:xfrm>
          <a:prstGeom xmlns:a="http://schemas.openxmlformats.org/drawingml/2006/main" prst="line">
            <a:avLst/>
          </a:prstGeom>
          <a:noFill xmlns:a="http://schemas.openxmlformats.org/drawingml/2006/main"/>
          <a:ln xmlns:a="http://schemas.openxmlformats.org/drawingml/2006/main" w="12700">
            <a:solidFill>
              <a:srgbClr val="4A4949"/>
            </a:solidFill>
            <a:prstDash val="solid"/>
          </a:ln>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D93A60A9-6F99-4329-95FE-53163DF5EA49}"/>
              </a:ext>
            </a:extLst>
          </p:cNvPr>
          <p:cNvSpPr>
            <a:spLocks xmlns:a="http://schemas.openxmlformats.org/drawingml/2006/main" noGrp="1"/>
          </p:cNvSpPr>
          <p:nvPr/>
        </p:nvSpPr>
        <p:spPr>
          <a:xfrm xmlns:a="http://schemas.openxmlformats.org/drawingml/2006/main">
            <a:off x="960120" y="4919472"/>
            <a:ext cx="2377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8A8A8A"/>
                </a:solidFill>
                <a:latin typeface="Noto Sans KR"/>
                <a:ea typeface="Noto Sans KR"/>
                <a:cs typeface="Noto Sans KR"/>
              </a:rPr>
              <a:t>유형</a:t>
            </a:r>
            <a:endParaRPr sz="1000"/>
          </a:p>
        </p:txBody>
      </p:sp>
      <p:sp>
        <p:nvSpPr>
          <p:cNvPr id="8" name="Text 6">
            <a:extLst xmlns:a="http://schemas.openxmlformats.org/drawingml/2006/main">
              <a:ext uri="{FF2B5EF4-FFF2-40B4-BE49-F238E27FC236}">
                <a16:creationId xmlns:a16="http://schemas.microsoft.com/office/drawing/2014/main" id="{242C0228-DD7E-4DEE-955A-8FCB42E19346}"/>
              </a:ext>
            </a:extLst>
          </p:cNvPr>
          <p:cNvSpPr>
            <a:spLocks xmlns:a="http://schemas.openxmlformats.org/drawingml/2006/main" noGrp="1"/>
          </p:cNvSpPr>
          <p:nvPr/>
        </p:nvSpPr>
        <p:spPr>
          <a:xfrm xmlns:a="http://schemas.openxmlformats.org/drawingml/2006/main">
            <a:off x="960120" y="5230368"/>
            <a:ext cx="24688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Noto Sans KR"/>
                <a:ea typeface="Noto Sans KR"/>
                <a:cs typeface="Noto Sans KR"/>
              </a:rPr>
              <a:t>창의형</a:t>
            </a:r>
            <a:endParaRPr sz="1300"/>
          </a:p>
        </p:txBody>
      </p:sp>
      <p:sp>
        <p:nvSpPr>
          <p:cNvPr id="9" name="Shape 7">
            <a:extLst xmlns:a="http://schemas.openxmlformats.org/drawingml/2006/main">
              <a:ext uri="{FF2B5EF4-FFF2-40B4-BE49-F238E27FC236}">
                <a16:creationId xmlns:a16="http://schemas.microsoft.com/office/drawing/2014/main" id="{1EE54079-77F9-410C-9C64-1085AC34DE48}"/>
              </a:ext>
            </a:extLst>
          </p:cNvPr>
          <p:cNvSpPr>
            <a:spLocks xmlns:a="http://schemas.openxmlformats.org/drawingml/2006/main" noGrp="1"/>
          </p:cNvSpPr>
          <p:nvPr/>
        </p:nvSpPr>
        <p:spPr>
          <a:xfrm xmlns:a="http://schemas.openxmlformats.org/drawingml/2006/main">
            <a:off x="3520440" y="4892040"/>
            <a:ext cx="0" cy="685800"/>
          </a:xfrm>
          <a:prstGeom xmlns:a="http://schemas.openxmlformats.org/drawingml/2006/main" prst="line">
            <a:avLst/>
          </a:prstGeom>
          <a:noFill xmlns:a="http://schemas.openxmlformats.org/drawingml/2006/main"/>
          <a:ln xmlns:a="http://schemas.openxmlformats.org/drawingml/2006/main" w="12700">
            <a:solidFill>
              <a:srgbClr val="4A4949"/>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1FCD1026-A58F-43A7-8626-19004585AE2F}"/>
              </a:ext>
            </a:extLst>
          </p:cNvPr>
          <p:cNvSpPr>
            <a:spLocks xmlns:a="http://schemas.openxmlformats.org/drawingml/2006/main" noGrp="1"/>
          </p:cNvSpPr>
          <p:nvPr/>
        </p:nvSpPr>
        <p:spPr>
          <a:xfrm xmlns:a="http://schemas.openxmlformats.org/drawingml/2006/main">
            <a:off x="3657600" y="4919472"/>
            <a:ext cx="2377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8A8A8A"/>
                </a:solidFill>
                <a:latin typeface="Noto Sans KR"/>
                <a:ea typeface="Noto Sans KR"/>
                <a:cs typeface="Noto Sans KR"/>
              </a:rPr>
              <a:t>지도교수</a:t>
            </a:r>
            <a:endParaRPr sz="1000"/>
          </a:p>
        </p:txBody>
      </p:sp>
      <p:sp>
        <p:nvSpPr>
          <p:cNvPr id="11" name="Text 9">
            <a:extLst xmlns:a="http://schemas.openxmlformats.org/drawingml/2006/main">
              <a:ext uri="{FF2B5EF4-FFF2-40B4-BE49-F238E27FC236}">
                <a16:creationId xmlns:a16="http://schemas.microsoft.com/office/drawing/2014/main" id="{0016F5B0-80E8-420D-9092-3A418755D0E3}"/>
              </a:ext>
            </a:extLst>
          </p:cNvPr>
          <p:cNvSpPr>
            <a:spLocks xmlns:a="http://schemas.openxmlformats.org/drawingml/2006/main" noGrp="1"/>
          </p:cNvSpPr>
          <p:nvPr/>
        </p:nvSpPr>
        <p:spPr>
          <a:xfrm xmlns:a="http://schemas.openxmlformats.org/drawingml/2006/main">
            <a:off x="3657600" y="5230368"/>
            <a:ext cx="24688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Noto Sans KR"/>
                <a:ea typeface="Noto Sans KR"/>
                <a:cs typeface="Noto Sans KR"/>
              </a:rPr>
              <a:t>우주</a:t>
            </a:r>
            <a:endParaRPr sz="1300"/>
          </a:p>
        </p:txBody>
      </p:sp>
      <p:sp>
        <p:nvSpPr>
          <p:cNvPr id="12" name="Shape 10">
            <a:extLst xmlns:a="http://schemas.openxmlformats.org/drawingml/2006/main">
              <a:ext uri="{FF2B5EF4-FFF2-40B4-BE49-F238E27FC236}">
                <a16:creationId xmlns:a16="http://schemas.microsoft.com/office/drawing/2014/main" id="{32B4A2D2-3D87-47BE-B785-B76EB76C94A5}"/>
              </a:ext>
            </a:extLst>
          </p:cNvPr>
          <p:cNvSpPr>
            <a:spLocks xmlns:a="http://schemas.openxmlformats.org/drawingml/2006/main" noGrp="1"/>
          </p:cNvSpPr>
          <p:nvPr/>
        </p:nvSpPr>
        <p:spPr>
          <a:xfrm xmlns:a="http://schemas.openxmlformats.org/drawingml/2006/main">
            <a:off x="6217920" y="4892040"/>
            <a:ext cx="0" cy="685800"/>
          </a:xfrm>
          <a:prstGeom xmlns:a="http://schemas.openxmlformats.org/drawingml/2006/main" prst="line">
            <a:avLst/>
          </a:prstGeom>
          <a:noFill xmlns:a="http://schemas.openxmlformats.org/drawingml/2006/main"/>
          <a:ln xmlns:a="http://schemas.openxmlformats.org/drawingml/2006/main" w="12700">
            <a:solidFill>
              <a:srgbClr val="4A4949"/>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A30E3F4E-43F7-4E1F-9D15-5804C84648A4}"/>
              </a:ext>
            </a:extLst>
          </p:cNvPr>
          <p:cNvSpPr>
            <a:spLocks xmlns:a="http://schemas.openxmlformats.org/drawingml/2006/main" noGrp="1"/>
          </p:cNvSpPr>
          <p:nvPr/>
        </p:nvSpPr>
        <p:spPr>
          <a:xfrm xmlns:a="http://schemas.openxmlformats.org/drawingml/2006/main">
            <a:off x="6355080" y="4919472"/>
            <a:ext cx="2377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8A8A8A"/>
                </a:solidFill>
                <a:latin typeface="Noto Sans KR"/>
                <a:ea typeface="Noto Sans KR"/>
                <a:cs typeface="Noto Sans KR"/>
              </a:rPr>
              <a:t>ESC 팀</a:t>
            </a:r>
            <a:endParaRPr sz="1000"/>
          </a:p>
        </p:txBody>
      </p:sp>
      <p:sp>
        <p:nvSpPr>
          <p:cNvPr id="14" name="Text 12">
            <a:extLst xmlns:a="http://schemas.openxmlformats.org/drawingml/2006/main">
              <a:ext uri="{FF2B5EF4-FFF2-40B4-BE49-F238E27FC236}">
                <a16:creationId xmlns:a16="http://schemas.microsoft.com/office/drawing/2014/main" id="{7E630260-862B-473D-AEF3-99C90535B0C7}"/>
              </a:ext>
            </a:extLst>
          </p:cNvPr>
          <p:cNvSpPr>
            <a:spLocks xmlns:a="http://schemas.openxmlformats.org/drawingml/2006/main" noGrp="1"/>
          </p:cNvSpPr>
          <p:nvPr/>
        </p:nvSpPr>
        <p:spPr>
          <a:xfrm xmlns:a="http://schemas.openxmlformats.org/drawingml/2006/main">
            <a:off x="6355080" y="5230368"/>
            <a:ext cx="24688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Noto Sans KR"/>
                <a:ea typeface="Noto Sans KR"/>
                <a:cs typeface="Noto Sans KR"/>
              </a:rPr>
              <a:t>김재준 · 유민형 · 임성배</a:t>
            </a:r>
            <a:endParaRPr sz="1300"/>
          </a:p>
        </p:txBody>
      </p:sp>
      <p:sp>
        <p:nvSpPr>
          <p:cNvPr id="15" name="Shape 13">
            <a:extLst xmlns:a="http://schemas.openxmlformats.org/drawingml/2006/main">
              <a:ext uri="{FF2B5EF4-FFF2-40B4-BE49-F238E27FC236}">
                <a16:creationId xmlns:a16="http://schemas.microsoft.com/office/drawing/2014/main" id="{72E2F5C5-F8B4-42EB-B5CF-EC9AF2E9D019}"/>
              </a:ext>
            </a:extLst>
          </p:cNvPr>
          <p:cNvSpPr>
            <a:spLocks xmlns:a="http://schemas.openxmlformats.org/drawingml/2006/main" noGrp="1"/>
          </p:cNvSpPr>
          <p:nvPr/>
        </p:nvSpPr>
        <p:spPr>
          <a:xfrm xmlns:a="http://schemas.openxmlformats.org/drawingml/2006/main">
            <a:off x="8915400" y="4892040"/>
            <a:ext cx="0" cy="685800"/>
          </a:xfrm>
          <a:prstGeom xmlns:a="http://schemas.openxmlformats.org/drawingml/2006/main" prst="line">
            <a:avLst/>
          </a:prstGeom>
          <a:noFill xmlns:a="http://schemas.openxmlformats.org/drawingml/2006/main"/>
          <a:ln xmlns:a="http://schemas.openxmlformats.org/drawingml/2006/main" w="12700">
            <a:solidFill>
              <a:srgbClr val="4A4949"/>
            </a:solidFill>
            <a:prstDash val="solid"/>
          </a:ln>
        </p:spPr>
        <p:txBody xmlns:a="http://schemas.openxmlformats.org/drawingml/2006/main">
          <a:bodyPr/>
          <a:p/>
        </p:txBody>
      </p:sp>
      <p:sp>
        <p:nvSpPr>
          <p:cNvPr id="16" name="Text 14">
            <a:extLst xmlns:a="http://schemas.openxmlformats.org/drawingml/2006/main">
              <a:ext uri="{FF2B5EF4-FFF2-40B4-BE49-F238E27FC236}">
                <a16:creationId xmlns:a16="http://schemas.microsoft.com/office/drawing/2014/main" id="{841DBF86-6E90-48B6-B4F5-81D9C5261AEE}"/>
              </a:ext>
            </a:extLst>
          </p:cNvPr>
          <p:cNvSpPr>
            <a:spLocks xmlns:a="http://schemas.openxmlformats.org/drawingml/2006/main" noGrp="1"/>
          </p:cNvSpPr>
          <p:nvPr/>
        </p:nvSpPr>
        <p:spPr>
          <a:xfrm xmlns:a="http://schemas.openxmlformats.org/drawingml/2006/main">
            <a:off x="9052560" y="4919472"/>
            <a:ext cx="2377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8A8A8A"/>
                </a:solidFill>
                <a:latin typeface="Noto Sans KR"/>
                <a:ea typeface="Noto Sans KR"/>
                <a:cs typeface="Noto Sans KR"/>
              </a:rPr>
              <a:t>발표</a:t>
            </a:r>
            <a:endParaRPr sz="1000"/>
          </a:p>
        </p:txBody>
      </p:sp>
      <p:sp>
        <p:nvSpPr>
          <p:cNvPr id="17" name="Text 15">
            <a:extLst xmlns:a="http://schemas.openxmlformats.org/drawingml/2006/main">
              <a:ext uri="{FF2B5EF4-FFF2-40B4-BE49-F238E27FC236}">
                <a16:creationId xmlns:a16="http://schemas.microsoft.com/office/drawing/2014/main" id="{44EB9B61-C814-440F-B4BC-C0BD6B60DC56}"/>
              </a:ext>
            </a:extLst>
          </p:cNvPr>
          <p:cNvSpPr>
            <a:spLocks xmlns:a="http://schemas.openxmlformats.org/drawingml/2006/main" noGrp="1"/>
          </p:cNvSpPr>
          <p:nvPr/>
        </p:nvSpPr>
        <p:spPr>
          <a:xfrm xmlns:a="http://schemas.openxmlformats.org/drawingml/2006/main">
            <a:off x="9052560" y="5230368"/>
            <a:ext cx="24688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FFFFFF"/>
                </a:solidFill>
                <a:latin typeface="Noto Sans KR"/>
                <a:ea typeface="Noto Sans KR"/>
                <a:cs typeface="Noto Sans KR"/>
              </a:defRPr>
            </a:defPPr>
          </a:lstStyle>
          <a:p xmlns:a="http://schemas.openxmlformats.org/drawingml/2006/main">
            <a:pPr marL="0" indent="0" algn="l">
              <a:buNone/>
              <a:defRPr sz="1300" b="1">
                <a:solidFill>
                  <a:srgbClr val="FFFFFF"/>
                </a:solidFill>
                <a:latin typeface="Noto Sans KR"/>
                <a:ea typeface="Noto Sans KR"/>
                <a:cs typeface="Noto Sans KR"/>
              </a:defRPr>
            </a:pPr>
            <a:r>
              <a:rPr sz="1300" b="1">
                <a:solidFill>
                  <a:srgbClr val="FFFFFF"/>
                </a:solidFill>
                <a:latin typeface="Noto Sans KR"/>
                <a:ea typeface="Noto Sans KR"/>
                <a:cs typeface="Noto Sans KR"/>
              </a:rPr>
              <a:t>피드백 반영과 음성 모델 비교</a:t>
            </a:r>
            <a:endParaRPr sz="1300"/>
          </a:p>
        </p:txBody>
      </p:sp>
    </p:spTree>
    <p:extLst>
      <p:ext uri="{BB962C8B-B14F-4D97-AF65-F5344CB8AC3E}">
        <p14:creationId xmlns:p14="http://schemas.microsoft.com/office/powerpoint/2010/main" val="1593978209"/>
      </p:ext>
    </p:extLst>
  </p:cSld>
</p:sld>
</file>

<file path=ppt/slides/slide2.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E63A760-BF90-4D1B-80B0-0D26F01E58D8}"/>
              </a:ext>
            </a:extLst>
          </p:cNvPr>
          <p:cNvSpPr>
            <a:spLocks xmlns:a="http://schemas.openxmlformats.org/drawingml/2006/main" noGrp="1"/>
          </p:cNvSpPr>
          <p:nvPr/>
        </p:nvSpPr>
        <p:spPr>
          <a:xfrm xmlns:a="http://schemas.openxmlformats.org/drawingml/2006/main">
            <a:off x="502920" y="41148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8A8A8A"/>
                </a:solidFill>
                <a:latin typeface="Noto Sans KR"/>
                <a:ea typeface="Noto Sans KR"/>
                <a:cs typeface="Noto Sans KR"/>
              </a:rPr>
              <a:t>INDEX</a:t>
            </a:r>
            <a:endParaRPr sz="1100"/>
          </a:p>
        </p:txBody>
      </p:sp>
      <p:sp>
        <p:nvSpPr>
          <p:cNvPr id="3" name="Text 1">
            <a:extLst xmlns:a="http://schemas.openxmlformats.org/drawingml/2006/main">
              <a:ext uri="{FF2B5EF4-FFF2-40B4-BE49-F238E27FC236}">
                <a16:creationId xmlns:a16="http://schemas.microsoft.com/office/drawing/2014/main" id="{66CB66CE-56A4-48AB-9C82-FCA37BB87B02}"/>
              </a:ext>
            </a:extLst>
          </p:cNvPr>
          <p:cNvSpPr>
            <a:spLocks xmlns:a="http://schemas.openxmlformats.org/drawingml/2006/main" noGrp="1"/>
          </p:cNvSpPr>
          <p:nvPr/>
        </p:nvSpPr>
        <p:spPr>
          <a:xfrm xmlns:a="http://schemas.openxmlformats.org/drawingml/2006/main">
            <a:off x="502920" y="731520"/>
            <a:ext cx="45720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272626"/>
                </a:solidFill>
                <a:latin typeface="Noto Sans KR"/>
                <a:ea typeface="Noto Sans KR"/>
                <a:cs typeface="Noto Sans KR"/>
              </a:rPr>
              <a:t>목차</a:t>
            </a:r>
            <a:endParaRPr sz="2800"/>
          </a:p>
        </p:txBody>
      </p:sp>
      <p:sp>
        <p:nvSpPr>
          <p:cNvPr id="4" name="Shape 2">
            <a:extLst xmlns:a="http://schemas.openxmlformats.org/drawingml/2006/main">
              <a:ext uri="{FF2B5EF4-FFF2-40B4-BE49-F238E27FC236}">
                <a16:creationId xmlns:a16="http://schemas.microsoft.com/office/drawing/2014/main" id="{069DBE86-7B52-4328-AC0A-9FE1B858AF28}"/>
              </a:ext>
            </a:extLst>
          </p:cNvPr>
          <p:cNvSpPr>
            <a:spLocks xmlns:a="http://schemas.openxmlformats.org/drawingml/2006/main" noGrp="1"/>
          </p:cNvSpPr>
          <p:nvPr/>
        </p:nvSpPr>
        <p:spPr>
          <a:xfrm xmlns:a="http://schemas.openxmlformats.org/drawingml/2006/main">
            <a:off x="502920" y="1508760"/>
            <a:ext cx="11183112" cy="731520"/>
          </a:xfrm>
          <a:prstGeom xmlns:a="http://schemas.openxmlformats.org/drawingml/2006/main" prst="roundRect">
            <a:avLst>
              <a:gd name="adj" fmla="val 10000"/>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5" name="Text 3">
            <a:extLst xmlns:a="http://schemas.openxmlformats.org/drawingml/2006/main">
              <a:ext uri="{FF2B5EF4-FFF2-40B4-BE49-F238E27FC236}">
                <a16:creationId xmlns:a16="http://schemas.microsoft.com/office/drawing/2014/main" id="{3AC9BBA3-C04F-4A4D-AF16-018C8FFC562A}"/>
              </a:ext>
            </a:extLst>
          </p:cNvPr>
          <p:cNvSpPr>
            <a:spLocks xmlns:a="http://schemas.openxmlformats.org/drawingml/2006/main" noGrp="1"/>
          </p:cNvSpPr>
          <p:nvPr/>
        </p:nvSpPr>
        <p:spPr>
          <a:xfrm xmlns:a="http://schemas.openxmlformats.org/drawingml/2006/main">
            <a:off x="822960" y="1508760"/>
            <a:ext cx="731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72626"/>
                </a:solidFill>
                <a:latin typeface="Noto Sans KR"/>
                <a:ea typeface="Noto Sans KR"/>
                <a:cs typeface="Noto Sans KR"/>
              </a:rPr>
              <a:t>01</a:t>
            </a:r>
            <a:endParaRPr sz="2000"/>
          </a:p>
        </p:txBody>
      </p:sp>
      <p:sp>
        <p:nvSpPr>
          <p:cNvPr id="6" name="Text 4">
            <a:extLst xmlns:a="http://schemas.openxmlformats.org/drawingml/2006/main">
              <a:ext uri="{FF2B5EF4-FFF2-40B4-BE49-F238E27FC236}">
                <a16:creationId xmlns:a16="http://schemas.microsoft.com/office/drawing/2014/main" id="{FEFD02B3-F765-4C1A-8E1B-0DBFD0BA9BE2}"/>
              </a:ext>
            </a:extLst>
          </p:cNvPr>
          <p:cNvSpPr>
            <a:spLocks xmlns:a="http://schemas.openxmlformats.org/drawingml/2006/main" noGrp="1"/>
          </p:cNvSpPr>
          <p:nvPr/>
        </p:nvSpPr>
        <p:spPr>
          <a:xfrm xmlns:a="http://schemas.openxmlformats.org/drawingml/2006/main">
            <a:off x="1737360" y="1618488"/>
            <a:ext cx="7315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1">
                <a:solidFill>
                  <a:srgbClr val="272626"/>
                </a:solidFill>
                <a:latin typeface="Noto Sans KR"/>
                <a:ea typeface="Noto Sans KR"/>
                <a:cs typeface="Noto Sans KR"/>
              </a:defRPr>
            </a:defPPr>
          </a:lstStyle>
          <a:p xmlns:a="http://schemas.openxmlformats.org/drawingml/2006/main">
            <a:pPr marL="0" indent="0" algn="l">
              <a:buNone/>
              <a:defRPr sz="1500" b="1">
                <a:solidFill>
                  <a:srgbClr val="272626"/>
                </a:solidFill>
                <a:latin typeface="Noto Sans KR"/>
                <a:ea typeface="Noto Sans KR"/>
                <a:cs typeface="Noto Sans KR"/>
              </a:defRPr>
            </a:pPr>
            <a:r>
              <a:rPr sz="1500" b="1">
                <a:solidFill>
                  <a:srgbClr val="272626"/>
                </a:solidFill>
                <a:latin typeface="Noto Sans KR"/>
                <a:ea typeface="Noto Sans KR"/>
                <a:cs typeface="Noto Sans KR"/>
              </a:rPr>
              <a:t>교수님 피드백과 변경 내용</a:t>
            </a:r>
            <a:endParaRPr sz="1500"/>
          </a:p>
        </p:txBody>
      </p:sp>
      <p:sp>
        <p:nvSpPr>
          <p:cNvPr id="7" name="Text 5">
            <a:extLst xmlns:a="http://schemas.openxmlformats.org/drawingml/2006/main">
              <a:ext uri="{FF2B5EF4-FFF2-40B4-BE49-F238E27FC236}">
                <a16:creationId xmlns:a16="http://schemas.microsoft.com/office/drawing/2014/main" id="{884E1A56-D4C7-49BA-8945-D0C637F4F94E}"/>
              </a:ext>
            </a:extLst>
          </p:cNvPr>
          <p:cNvSpPr>
            <a:spLocks xmlns:a="http://schemas.openxmlformats.org/drawingml/2006/main" noGrp="1"/>
          </p:cNvSpPr>
          <p:nvPr/>
        </p:nvSpPr>
        <p:spPr>
          <a:xfrm xmlns:a="http://schemas.openxmlformats.org/drawingml/2006/main">
            <a:off x="1737360" y="1911096"/>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어떤 지적을 받았고, 어떻게 바꾸었는가</a:t>
            </a:r>
            <a:endParaRPr sz="1100"/>
          </a:p>
        </p:txBody>
      </p:sp>
      <p:sp>
        <p:nvSpPr>
          <p:cNvPr id="8" name="Shape 6">
            <a:extLst xmlns:a="http://schemas.openxmlformats.org/drawingml/2006/main">
              <a:ext uri="{FF2B5EF4-FFF2-40B4-BE49-F238E27FC236}">
                <a16:creationId xmlns:a16="http://schemas.microsoft.com/office/drawing/2014/main" id="{A4233D07-D1BD-49CD-9CD3-64C2BF085A63}"/>
              </a:ext>
            </a:extLst>
          </p:cNvPr>
          <p:cNvSpPr>
            <a:spLocks xmlns:a="http://schemas.openxmlformats.org/drawingml/2006/main" noGrp="1"/>
          </p:cNvSpPr>
          <p:nvPr/>
        </p:nvSpPr>
        <p:spPr>
          <a:xfrm xmlns:a="http://schemas.openxmlformats.org/drawingml/2006/main">
            <a:off x="502920" y="2423160"/>
            <a:ext cx="11183112" cy="731520"/>
          </a:xfrm>
          <a:prstGeom xmlns:a="http://schemas.openxmlformats.org/drawingml/2006/main" prst="roundRect">
            <a:avLst>
              <a:gd name="adj" fmla="val 10000"/>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1F5E15F2-EB6A-407C-A7A1-F46343D6B2F5}"/>
              </a:ext>
            </a:extLst>
          </p:cNvPr>
          <p:cNvSpPr>
            <a:spLocks xmlns:a="http://schemas.openxmlformats.org/drawingml/2006/main" noGrp="1"/>
          </p:cNvSpPr>
          <p:nvPr/>
        </p:nvSpPr>
        <p:spPr>
          <a:xfrm xmlns:a="http://schemas.openxmlformats.org/drawingml/2006/main">
            <a:off x="822960" y="2423160"/>
            <a:ext cx="731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72626"/>
                </a:solidFill>
                <a:latin typeface="Noto Sans KR"/>
                <a:ea typeface="Noto Sans KR"/>
                <a:cs typeface="Noto Sans KR"/>
              </a:rPr>
              <a:t>02</a:t>
            </a:r>
            <a:endParaRPr sz="2000"/>
          </a:p>
        </p:txBody>
      </p:sp>
      <p:sp>
        <p:nvSpPr>
          <p:cNvPr id="10" name="Text 8">
            <a:extLst xmlns:a="http://schemas.openxmlformats.org/drawingml/2006/main">
              <a:ext uri="{FF2B5EF4-FFF2-40B4-BE49-F238E27FC236}">
                <a16:creationId xmlns:a16="http://schemas.microsoft.com/office/drawing/2014/main" id="{5D3BE3BC-D0F6-4BA2-91CA-4A25EAAE862A}"/>
              </a:ext>
            </a:extLst>
          </p:cNvPr>
          <p:cNvSpPr>
            <a:spLocks xmlns:a="http://schemas.openxmlformats.org/drawingml/2006/main" noGrp="1"/>
          </p:cNvSpPr>
          <p:nvPr/>
        </p:nvSpPr>
        <p:spPr>
          <a:xfrm xmlns:a="http://schemas.openxmlformats.org/drawingml/2006/main">
            <a:off x="1737360" y="2532888"/>
            <a:ext cx="7315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1">
                <a:solidFill>
                  <a:srgbClr val="272626"/>
                </a:solidFill>
                <a:latin typeface="Noto Sans KR"/>
                <a:ea typeface="Noto Sans KR"/>
                <a:cs typeface="Noto Sans KR"/>
              </a:defRPr>
            </a:defPPr>
          </a:lstStyle>
          <a:p xmlns:a="http://schemas.openxmlformats.org/drawingml/2006/main">
            <a:pPr marL="0" indent="0" algn="l">
              <a:buNone/>
              <a:defRPr sz="1500" b="1">
                <a:solidFill>
                  <a:srgbClr val="272626"/>
                </a:solidFill>
                <a:latin typeface="Noto Sans KR"/>
                <a:ea typeface="Noto Sans KR"/>
                <a:cs typeface="Noto Sans KR"/>
              </a:defRPr>
            </a:pPr>
            <a:r>
              <a:rPr sz="1500" b="1">
                <a:solidFill>
                  <a:srgbClr val="272626"/>
                </a:solidFill>
                <a:latin typeface="Noto Sans KR"/>
                <a:ea typeface="Noto Sans KR"/>
                <a:cs typeface="Noto Sans KR"/>
              </a:rPr>
              <a:t>프로젝트 목표와 담당 역할</a:t>
            </a:r>
            <a:endParaRPr sz="1500"/>
          </a:p>
        </p:txBody>
      </p:sp>
      <p:sp>
        <p:nvSpPr>
          <p:cNvPr id="11" name="Text 9">
            <a:extLst xmlns:a="http://schemas.openxmlformats.org/drawingml/2006/main">
              <a:ext uri="{FF2B5EF4-FFF2-40B4-BE49-F238E27FC236}">
                <a16:creationId xmlns:a16="http://schemas.microsoft.com/office/drawing/2014/main" id="{EBD46425-848A-460A-B086-BD0EC7857E15}"/>
              </a:ext>
            </a:extLst>
          </p:cNvPr>
          <p:cNvSpPr>
            <a:spLocks xmlns:a="http://schemas.openxmlformats.org/drawingml/2006/main" noGrp="1"/>
          </p:cNvSpPr>
          <p:nvPr/>
        </p:nvSpPr>
        <p:spPr>
          <a:xfrm xmlns:a="http://schemas.openxmlformats.org/drawingml/2006/main">
            <a:off x="1737360" y="2825496"/>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무엇을 만들고, 무엇을 확인할 것인가</a:t>
            </a:r>
            <a:endParaRPr sz="1100"/>
          </a:p>
        </p:txBody>
      </p:sp>
      <p:sp>
        <p:nvSpPr>
          <p:cNvPr id="12" name="Shape 10">
            <a:extLst xmlns:a="http://schemas.openxmlformats.org/drawingml/2006/main">
              <a:ext uri="{FF2B5EF4-FFF2-40B4-BE49-F238E27FC236}">
                <a16:creationId xmlns:a16="http://schemas.microsoft.com/office/drawing/2014/main" id="{1B917C2C-E932-42DF-823D-DCE751210B09}"/>
              </a:ext>
            </a:extLst>
          </p:cNvPr>
          <p:cNvSpPr>
            <a:spLocks xmlns:a="http://schemas.openxmlformats.org/drawingml/2006/main" noGrp="1"/>
          </p:cNvSpPr>
          <p:nvPr/>
        </p:nvSpPr>
        <p:spPr>
          <a:xfrm xmlns:a="http://schemas.openxmlformats.org/drawingml/2006/main">
            <a:off x="502920" y="3337560"/>
            <a:ext cx="11183112" cy="731520"/>
          </a:xfrm>
          <a:prstGeom xmlns:a="http://schemas.openxmlformats.org/drawingml/2006/main" prst="roundRect">
            <a:avLst>
              <a:gd name="adj" fmla="val 10000"/>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B8297ACF-0EF7-41E4-A319-C391E0B9F80D}"/>
              </a:ext>
            </a:extLst>
          </p:cNvPr>
          <p:cNvSpPr>
            <a:spLocks xmlns:a="http://schemas.openxmlformats.org/drawingml/2006/main" noGrp="1"/>
          </p:cNvSpPr>
          <p:nvPr/>
        </p:nvSpPr>
        <p:spPr>
          <a:xfrm xmlns:a="http://schemas.openxmlformats.org/drawingml/2006/main">
            <a:off x="822960" y="3337560"/>
            <a:ext cx="731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72626"/>
                </a:solidFill>
                <a:latin typeface="Noto Sans KR"/>
                <a:ea typeface="Noto Sans KR"/>
                <a:cs typeface="Noto Sans KR"/>
              </a:rPr>
              <a:t>03</a:t>
            </a:r>
            <a:endParaRPr sz="2000"/>
          </a:p>
        </p:txBody>
      </p:sp>
      <p:sp>
        <p:nvSpPr>
          <p:cNvPr id="14" name="Text 12">
            <a:extLst xmlns:a="http://schemas.openxmlformats.org/drawingml/2006/main">
              <a:ext uri="{FF2B5EF4-FFF2-40B4-BE49-F238E27FC236}">
                <a16:creationId xmlns:a16="http://schemas.microsoft.com/office/drawing/2014/main" id="{F2DB9D99-A4EC-423B-81BD-4B143AE6A771}"/>
              </a:ext>
            </a:extLst>
          </p:cNvPr>
          <p:cNvSpPr>
            <a:spLocks xmlns:a="http://schemas.openxmlformats.org/drawingml/2006/main" noGrp="1"/>
          </p:cNvSpPr>
          <p:nvPr/>
        </p:nvSpPr>
        <p:spPr>
          <a:xfrm xmlns:a="http://schemas.openxmlformats.org/drawingml/2006/main">
            <a:off x="1737360" y="3447288"/>
            <a:ext cx="7315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1">
                <a:solidFill>
                  <a:srgbClr val="272626"/>
                </a:solidFill>
                <a:latin typeface="Noto Sans KR"/>
                <a:ea typeface="Noto Sans KR"/>
                <a:cs typeface="Noto Sans KR"/>
              </a:defRPr>
            </a:defPPr>
          </a:lstStyle>
          <a:p xmlns:a="http://schemas.openxmlformats.org/drawingml/2006/main">
            <a:pPr marL="0" indent="0" algn="l">
              <a:buNone/>
              <a:defRPr sz="1500" b="1">
                <a:solidFill>
                  <a:srgbClr val="272626"/>
                </a:solidFill>
                <a:latin typeface="Noto Sans KR"/>
                <a:ea typeface="Noto Sans KR"/>
                <a:cs typeface="Noto Sans KR"/>
              </a:defRPr>
            </a:pPr>
            <a:r>
              <a:rPr sz="1500" b="1">
                <a:solidFill>
                  <a:srgbClr val="272626"/>
                </a:solidFill>
                <a:latin typeface="Noto Sans KR"/>
                <a:ea typeface="Noto Sans KR"/>
                <a:cs typeface="Noto Sans KR"/>
              </a:rPr>
              <a:t>HTML 전체 구성도</a:t>
            </a:r>
            <a:endParaRPr sz="1500"/>
          </a:p>
        </p:txBody>
      </p:sp>
      <p:sp>
        <p:nvSpPr>
          <p:cNvPr id="15" name="Text 13">
            <a:extLst xmlns:a="http://schemas.openxmlformats.org/drawingml/2006/main">
              <a:ext uri="{FF2B5EF4-FFF2-40B4-BE49-F238E27FC236}">
                <a16:creationId xmlns:a16="http://schemas.microsoft.com/office/drawing/2014/main" id="{D8E59F48-9F87-4069-B084-CDB97E529EE1}"/>
              </a:ext>
            </a:extLst>
          </p:cNvPr>
          <p:cNvSpPr>
            <a:spLocks xmlns:a="http://schemas.openxmlformats.org/drawingml/2006/main" noGrp="1"/>
          </p:cNvSpPr>
          <p:nvPr/>
        </p:nvSpPr>
        <p:spPr>
          <a:xfrm xmlns:a="http://schemas.openxmlformats.org/drawingml/2006/main">
            <a:off x="1737360" y="3739896"/>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장비와 프로그램이 연결되는 과정</a:t>
            </a:r>
            <a:endParaRPr sz="1100"/>
          </a:p>
        </p:txBody>
      </p:sp>
      <p:sp>
        <p:nvSpPr>
          <p:cNvPr id="16" name="Shape 14">
            <a:extLst xmlns:a="http://schemas.openxmlformats.org/drawingml/2006/main">
              <a:ext uri="{FF2B5EF4-FFF2-40B4-BE49-F238E27FC236}">
                <a16:creationId xmlns:a16="http://schemas.microsoft.com/office/drawing/2014/main" id="{206F6E30-5300-4C6E-A81C-374C3E230E40}"/>
              </a:ext>
            </a:extLst>
          </p:cNvPr>
          <p:cNvSpPr>
            <a:spLocks xmlns:a="http://schemas.openxmlformats.org/drawingml/2006/main" noGrp="1"/>
          </p:cNvSpPr>
          <p:nvPr/>
        </p:nvSpPr>
        <p:spPr>
          <a:xfrm xmlns:a="http://schemas.openxmlformats.org/drawingml/2006/main">
            <a:off x="502920" y="4251960"/>
            <a:ext cx="11183112" cy="731520"/>
          </a:xfrm>
          <a:prstGeom xmlns:a="http://schemas.openxmlformats.org/drawingml/2006/main" prst="roundRect">
            <a:avLst>
              <a:gd name="adj" fmla="val 10000"/>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4627D33D-689D-4DC8-915C-CA277CAF26FF}"/>
              </a:ext>
            </a:extLst>
          </p:cNvPr>
          <p:cNvSpPr>
            <a:spLocks xmlns:a="http://schemas.openxmlformats.org/drawingml/2006/main" noGrp="1"/>
          </p:cNvSpPr>
          <p:nvPr/>
        </p:nvSpPr>
        <p:spPr>
          <a:xfrm xmlns:a="http://schemas.openxmlformats.org/drawingml/2006/main">
            <a:off x="822960" y="4251960"/>
            <a:ext cx="731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72626"/>
                </a:solidFill>
                <a:latin typeface="Noto Sans KR"/>
                <a:ea typeface="Noto Sans KR"/>
                <a:cs typeface="Noto Sans KR"/>
              </a:rPr>
              <a:t>04</a:t>
            </a:r>
            <a:endParaRPr sz="2000"/>
          </a:p>
        </p:txBody>
      </p:sp>
      <p:sp>
        <p:nvSpPr>
          <p:cNvPr id="18" name="Text 16">
            <a:extLst xmlns:a="http://schemas.openxmlformats.org/drawingml/2006/main">
              <a:ext uri="{FF2B5EF4-FFF2-40B4-BE49-F238E27FC236}">
                <a16:creationId xmlns:a16="http://schemas.microsoft.com/office/drawing/2014/main" id="{8634E0C0-0770-449B-B646-04871468B211}"/>
              </a:ext>
            </a:extLst>
          </p:cNvPr>
          <p:cNvSpPr>
            <a:spLocks xmlns:a="http://schemas.openxmlformats.org/drawingml/2006/main" noGrp="1"/>
          </p:cNvSpPr>
          <p:nvPr/>
        </p:nvSpPr>
        <p:spPr>
          <a:xfrm xmlns:a="http://schemas.openxmlformats.org/drawingml/2006/main">
            <a:off x="1737360" y="4361688"/>
            <a:ext cx="7315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1">
                <a:solidFill>
                  <a:srgbClr val="272626"/>
                </a:solidFill>
                <a:latin typeface="Noto Sans KR"/>
                <a:ea typeface="Noto Sans KR"/>
                <a:cs typeface="Noto Sans KR"/>
              </a:defRPr>
            </a:defPPr>
          </a:lstStyle>
          <a:p xmlns:a="http://schemas.openxmlformats.org/drawingml/2006/main">
            <a:pPr marL="0" indent="0" algn="l">
              <a:buNone/>
              <a:defRPr sz="1500" b="1">
                <a:solidFill>
                  <a:srgbClr val="272626"/>
                </a:solidFill>
                <a:latin typeface="Noto Sans KR"/>
                <a:ea typeface="Noto Sans KR"/>
                <a:cs typeface="Noto Sans KR"/>
              </a:defRPr>
            </a:pPr>
            <a:r>
              <a:rPr sz="1500" b="1">
                <a:solidFill>
                  <a:srgbClr val="272626"/>
                </a:solidFill>
                <a:latin typeface="Noto Sans KR"/>
                <a:ea typeface="Noto Sans KR"/>
                <a:cs typeface="Noto Sans KR"/>
              </a:rPr>
              <a:t>주요 기능과 확인한 결과</a:t>
            </a:r>
            <a:endParaRPr sz="1500"/>
          </a:p>
        </p:txBody>
      </p:sp>
      <p:sp>
        <p:nvSpPr>
          <p:cNvPr id="19" name="Text 17">
            <a:extLst xmlns:a="http://schemas.openxmlformats.org/drawingml/2006/main">
              <a:ext uri="{FF2B5EF4-FFF2-40B4-BE49-F238E27FC236}">
                <a16:creationId xmlns:a16="http://schemas.microsoft.com/office/drawing/2014/main" id="{B92EE113-6C0F-4F7E-95F6-91D153E1BEC2}"/>
              </a:ext>
            </a:extLst>
          </p:cNvPr>
          <p:cNvSpPr>
            <a:spLocks xmlns:a="http://schemas.openxmlformats.org/drawingml/2006/main" noGrp="1"/>
          </p:cNvSpPr>
          <p:nvPr/>
        </p:nvSpPr>
        <p:spPr>
          <a:xfrm xmlns:a="http://schemas.openxmlformats.org/drawingml/2006/main">
            <a:off x="1737360" y="4654296"/>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LSTM·YAMNet 비교, 영상 확인과 RAG 시연</a:t>
            </a:r>
            <a:endParaRPr sz="1100"/>
          </a:p>
        </p:txBody>
      </p:sp>
      <p:sp>
        <p:nvSpPr>
          <p:cNvPr id="20" name="Shape 18">
            <a:extLst xmlns:a="http://schemas.openxmlformats.org/drawingml/2006/main">
              <a:ext uri="{FF2B5EF4-FFF2-40B4-BE49-F238E27FC236}">
                <a16:creationId xmlns:a16="http://schemas.microsoft.com/office/drawing/2014/main" id="{B32203B5-8F77-41C4-B4F3-F11BA394F2B2}"/>
              </a:ext>
            </a:extLst>
          </p:cNvPr>
          <p:cNvSpPr>
            <a:spLocks xmlns:a="http://schemas.openxmlformats.org/drawingml/2006/main" noGrp="1"/>
          </p:cNvSpPr>
          <p:nvPr/>
        </p:nvSpPr>
        <p:spPr>
          <a:xfrm xmlns:a="http://schemas.openxmlformats.org/drawingml/2006/main">
            <a:off x="502920" y="5166360"/>
            <a:ext cx="11183112" cy="731520"/>
          </a:xfrm>
          <a:prstGeom xmlns:a="http://schemas.openxmlformats.org/drawingml/2006/main" prst="roundRect">
            <a:avLst>
              <a:gd name="adj" fmla="val 10000"/>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F87DEF71-AEDB-485F-9FDC-B83108A6B51D}"/>
              </a:ext>
            </a:extLst>
          </p:cNvPr>
          <p:cNvSpPr>
            <a:spLocks xmlns:a="http://schemas.openxmlformats.org/drawingml/2006/main" noGrp="1"/>
          </p:cNvSpPr>
          <p:nvPr/>
        </p:nvSpPr>
        <p:spPr>
          <a:xfrm xmlns:a="http://schemas.openxmlformats.org/drawingml/2006/main">
            <a:off x="822960" y="5166360"/>
            <a:ext cx="731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72626"/>
                </a:solidFill>
                <a:latin typeface="Noto Sans KR"/>
                <a:ea typeface="Noto Sans KR"/>
                <a:cs typeface="Noto Sans KR"/>
              </a:rPr>
              <a:t>05</a:t>
            </a:r>
            <a:endParaRPr sz="2000"/>
          </a:p>
        </p:txBody>
      </p:sp>
      <p:sp>
        <p:nvSpPr>
          <p:cNvPr id="22" name="Text 20">
            <a:extLst xmlns:a="http://schemas.openxmlformats.org/drawingml/2006/main">
              <a:ext uri="{FF2B5EF4-FFF2-40B4-BE49-F238E27FC236}">
                <a16:creationId xmlns:a16="http://schemas.microsoft.com/office/drawing/2014/main" id="{C8030C23-3509-4B93-8FE8-B13B8E27AFC3}"/>
              </a:ext>
            </a:extLst>
          </p:cNvPr>
          <p:cNvSpPr>
            <a:spLocks xmlns:a="http://schemas.openxmlformats.org/drawingml/2006/main" noGrp="1"/>
          </p:cNvSpPr>
          <p:nvPr/>
        </p:nvSpPr>
        <p:spPr>
          <a:xfrm xmlns:a="http://schemas.openxmlformats.org/drawingml/2006/main">
            <a:off x="1737360" y="5276088"/>
            <a:ext cx="7315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1">
                <a:solidFill>
                  <a:srgbClr val="272626"/>
                </a:solidFill>
                <a:latin typeface="Noto Sans KR"/>
                <a:ea typeface="Noto Sans KR"/>
                <a:cs typeface="Noto Sans KR"/>
              </a:defRPr>
            </a:defPPr>
          </a:lstStyle>
          <a:p xmlns:a="http://schemas.openxmlformats.org/drawingml/2006/main">
            <a:pPr marL="0" indent="0" algn="l">
              <a:buNone/>
              <a:defRPr sz="1500" b="1">
                <a:solidFill>
                  <a:srgbClr val="272626"/>
                </a:solidFill>
                <a:latin typeface="Noto Sans KR"/>
                <a:ea typeface="Noto Sans KR"/>
                <a:cs typeface="Noto Sans KR"/>
              </a:defRPr>
            </a:pPr>
            <a:r>
              <a:rPr sz="1500" b="1">
                <a:solidFill>
                  <a:srgbClr val="272626"/>
                </a:solidFill>
                <a:latin typeface="Noto Sans KR"/>
                <a:ea typeface="Noto Sans KR"/>
                <a:cs typeface="Noto Sans KR"/>
              </a:rPr>
              <a:t>남은 작업과 개발 일정</a:t>
            </a:r>
            <a:endParaRPr sz="1500"/>
          </a:p>
        </p:txBody>
      </p:sp>
      <p:sp>
        <p:nvSpPr>
          <p:cNvPr id="23" name="Text 21">
            <a:extLst xmlns:a="http://schemas.openxmlformats.org/drawingml/2006/main">
              <a:ext uri="{FF2B5EF4-FFF2-40B4-BE49-F238E27FC236}">
                <a16:creationId xmlns:a16="http://schemas.microsoft.com/office/drawing/2014/main" id="{13147B03-E868-4419-90FA-36F36965A803}"/>
              </a:ext>
            </a:extLst>
          </p:cNvPr>
          <p:cNvSpPr>
            <a:spLocks xmlns:a="http://schemas.openxmlformats.org/drawingml/2006/main" noGrp="1"/>
          </p:cNvSpPr>
          <p:nvPr/>
        </p:nvSpPr>
        <p:spPr>
          <a:xfrm xmlns:a="http://schemas.openxmlformats.org/drawingml/2006/main">
            <a:off x="1737360" y="5568696"/>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실제 장비 테스트와 11월 7일까지의 계획</a:t>
            </a:r>
            <a:endParaRPr sz="1100"/>
          </a:p>
        </p:txBody>
      </p:sp>
      <p:sp>
        <p:nvSpPr>
          <p:cNvPr id="24" name="Text 22">
            <a:extLst xmlns:a="http://schemas.openxmlformats.org/drawingml/2006/main">
              <a:ext uri="{FF2B5EF4-FFF2-40B4-BE49-F238E27FC236}">
                <a16:creationId xmlns:a16="http://schemas.microsoft.com/office/drawing/2014/main" id="{BFBE94BF-F33B-494F-B9E9-18B290488F78}"/>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2 / 23</a:t>
            </a:r>
            <a:endParaRPr sz="900"/>
          </a:p>
        </p:txBody>
      </p:sp>
    </p:spTree>
    <p:extLst>
      <p:ext uri="{BB962C8B-B14F-4D97-AF65-F5344CB8AC3E}">
        <p14:creationId xmlns:p14="http://schemas.microsoft.com/office/powerpoint/2010/main" val="1389060073"/>
      </p:ext>
    </p:extLst>
  </p:cSld>
</p:sld>
</file>

<file path=ppt/slides/slide3.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65199FD-ADD9-4E0C-9E54-439FA3070D7F}"/>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01A5B723-0CCE-4DD9-A9A6-DFBAE61CEA10}"/>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Noto Sans KR"/>
                <a:ea typeface="Noto Sans KR"/>
                <a:cs typeface="Noto Sans KR"/>
              </a:rPr>
              <a:t>01</a:t>
            </a:r>
            <a:endParaRPr sz="1000"/>
          </a:p>
        </p:txBody>
      </p:sp>
      <p:sp>
        <p:nvSpPr>
          <p:cNvPr id="4" name="Text 2">
            <a:extLst xmlns:a="http://schemas.openxmlformats.org/drawingml/2006/main">
              <a:ext uri="{FF2B5EF4-FFF2-40B4-BE49-F238E27FC236}">
                <a16:creationId xmlns:a16="http://schemas.microsoft.com/office/drawing/2014/main" id="{3005BC55-3B61-4CAF-AE09-5152559F23D5}"/>
              </a:ext>
            </a:extLst>
          </p:cNvPr>
          <p:cNvSpPr>
            <a:spLocks xmlns:a="http://schemas.openxmlformats.org/drawingml/2006/main" noGrp="1"/>
          </p:cNvSpPr>
          <p:nvPr/>
        </p:nvSpPr>
        <p:spPr>
          <a:xfrm xmlns:a="http://schemas.openxmlformats.org/drawingml/2006/main">
            <a:off x="1207008"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교수님 피드백과 변경 내용</a:t>
            </a:r>
            <a:endParaRPr sz="1100"/>
          </a:p>
        </p:txBody>
      </p:sp>
      <p:sp>
        <p:nvSpPr>
          <p:cNvPr id="5" name="Text 3">
            <a:extLst xmlns:a="http://schemas.openxmlformats.org/drawingml/2006/main">
              <a:ext uri="{FF2B5EF4-FFF2-40B4-BE49-F238E27FC236}">
                <a16:creationId xmlns:a16="http://schemas.microsoft.com/office/drawing/2014/main" id="{6E94885D-9387-4CF5-A853-D7FE1796E906}"/>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피드백을 이렇게 반영했습니다</a:t>
            </a:r>
            <a:endParaRPr sz="2600"/>
          </a:p>
        </p:txBody>
      </p:sp>
      <p:sp>
        <p:nvSpPr>
          <p:cNvPr id="6" name="Shape 4">
            <a:extLst xmlns:a="http://schemas.openxmlformats.org/drawingml/2006/main">
              <a:ext uri="{FF2B5EF4-FFF2-40B4-BE49-F238E27FC236}">
                <a16:creationId xmlns:a16="http://schemas.microsoft.com/office/drawing/2014/main" id="{06CC2E4F-98B6-4DD6-BBE5-81B8387143E5}"/>
              </a:ext>
            </a:extLst>
          </p:cNvPr>
          <p:cNvSpPr>
            <a:spLocks xmlns:a="http://schemas.openxmlformats.org/drawingml/2006/main" noGrp="1"/>
          </p:cNvSpPr>
          <p:nvPr/>
        </p:nvSpPr>
        <p:spPr>
          <a:xfrm xmlns:a="http://schemas.openxmlformats.org/drawingml/2006/main">
            <a:off x="502920" y="1600200"/>
            <a:ext cx="4800600" cy="932688"/>
          </a:xfrm>
          <a:prstGeom xmlns:a="http://schemas.openxmlformats.org/drawingml/2006/main" prst="roundRect">
            <a:avLst>
              <a:gd name="adj" fmla="val 7843"/>
            </a:avLst>
          </a:prstGeom>
          <a:solidFill xmlns:a="http://schemas.openxmlformats.org/drawingml/2006/main">
            <a:srgbClr val="E3E3E3"/>
          </a:solidFill>
          <a:ln xmlns:a="http://schemas.openxmlformats.org/drawingml/2006/main" w="12700">
            <a:solidFill>
              <a:srgbClr val="E3E3E3"/>
            </a:solidFill>
            <a:prstDash val="solid"/>
          </a:ln>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8A0BBB26-BD97-4A37-A17A-C91DADFFD374}"/>
              </a:ext>
            </a:extLst>
          </p:cNvPr>
          <p:cNvSpPr>
            <a:spLocks xmlns:a="http://schemas.openxmlformats.org/drawingml/2006/main" noGrp="1"/>
          </p:cNvSpPr>
          <p:nvPr/>
        </p:nvSpPr>
        <p:spPr>
          <a:xfrm xmlns:a="http://schemas.openxmlformats.org/drawingml/2006/main">
            <a:off x="777240" y="1728216"/>
            <a:ext cx="1828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8A8A8A"/>
                </a:solidFill>
                <a:latin typeface="Noto Sans KR"/>
                <a:ea typeface="Noto Sans KR"/>
                <a:cs typeface="Noto Sans KR"/>
              </a:rPr>
              <a:t>피드백</a:t>
            </a:r>
            <a:endParaRPr sz="1000"/>
          </a:p>
        </p:txBody>
      </p:sp>
      <p:sp>
        <p:nvSpPr>
          <p:cNvPr id="8" name="Text 6">
            <a:extLst xmlns:a="http://schemas.openxmlformats.org/drawingml/2006/main">
              <a:ext uri="{FF2B5EF4-FFF2-40B4-BE49-F238E27FC236}">
                <a16:creationId xmlns:a16="http://schemas.microsoft.com/office/drawing/2014/main" id="{CEA87627-FACA-4511-A4CF-55480BE90B20}"/>
              </a:ext>
            </a:extLst>
          </p:cNvPr>
          <p:cNvSpPr>
            <a:spLocks xmlns:a="http://schemas.openxmlformats.org/drawingml/2006/main" noGrp="1"/>
          </p:cNvSpPr>
          <p:nvPr/>
        </p:nvSpPr>
        <p:spPr>
          <a:xfrm xmlns:a="http://schemas.openxmlformats.org/drawingml/2006/main">
            <a:off x="777240" y="1947672"/>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300" b="0">
                <a:solidFill>
                  <a:srgbClr val="5A5A5A"/>
                </a:solidFill>
                <a:latin typeface="Noto Sans KR"/>
                <a:ea typeface="Noto Sans KR"/>
                <a:cs typeface="Noto Sans KR"/>
              </a:defRPr>
            </a:defPPr>
          </a:lstStyle>
          <a:p xmlns:a="http://schemas.openxmlformats.org/drawingml/2006/main">
            <a:pPr marL="0" indent="0" algn="l">
              <a:buNone/>
              <a:defRPr sz="1300" b="0">
                <a:solidFill>
                  <a:srgbClr val="5A5A5A"/>
                </a:solidFill>
                <a:latin typeface="Noto Sans KR"/>
                <a:ea typeface="Noto Sans KR"/>
                <a:cs typeface="Noto Sans KR"/>
              </a:defRPr>
            </a:pPr>
            <a:r>
              <a:rPr sz="1300" b="0">
                <a:solidFill>
                  <a:srgbClr val="5A5A5A"/>
                </a:solidFill>
                <a:latin typeface="Noto Sans KR"/>
                <a:ea typeface="Noto Sans KR"/>
                <a:cs typeface="Noto Sans KR"/>
              </a:rPr>
              <a:t>사진 한 장으로 움직임을 판단하기 어렵다</a:t>
            </a:r>
            <a:endParaRPr sz="1300"/>
          </a:p>
        </p:txBody>
      </p:sp>
      <p:sp>
        <p:nvSpPr>
          <p:cNvPr id="9" name="Text 7">
            <a:extLst xmlns:a="http://schemas.openxmlformats.org/drawingml/2006/main">
              <a:ext uri="{FF2B5EF4-FFF2-40B4-BE49-F238E27FC236}">
                <a16:creationId xmlns:a16="http://schemas.microsoft.com/office/drawing/2014/main" id="{8F6C452B-7E3E-4DBB-9F29-417A625F0ED8}"/>
              </a:ext>
            </a:extLst>
          </p:cNvPr>
          <p:cNvSpPr>
            <a:spLocks xmlns:a="http://schemas.openxmlformats.org/drawingml/2006/main" noGrp="1"/>
          </p:cNvSpPr>
          <p:nvPr/>
        </p:nvSpPr>
        <p:spPr>
          <a:xfrm xmlns:a="http://schemas.openxmlformats.org/drawingml/2006/main">
            <a:off x="5349240" y="1600200"/>
            <a:ext cx="548640" cy="9326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272626"/>
                </a:solidFill>
                <a:latin typeface="Noto Sans KR"/>
                <a:ea typeface="Noto Sans KR"/>
                <a:cs typeface="Noto Sans KR"/>
              </a:rPr>
              <a:t>→</a:t>
            </a:r>
            <a:endParaRPr sz="2000"/>
          </a:p>
        </p:txBody>
      </p:sp>
      <p:sp>
        <p:nvSpPr>
          <p:cNvPr id="10" name="Shape 8">
            <a:extLst xmlns:a="http://schemas.openxmlformats.org/drawingml/2006/main">
              <a:ext uri="{FF2B5EF4-FFF2-40B4-BE49-F238E27FC236}">
                <a16:creationId xmlns:a16="http://schemas.microsoft.com/office/drawing/2014/main" id="{D4F8C710-837B-461A-AD21-F0F4A95FF835}"/>
              </a:ext>
            </a:extLst>
          </p:cNvPr>
          <p:cNvSpPr>
            <a:spLocks xmlns:a="http://schemas.openxmlformats.org/drawingml/2006/main" noGrp="1"/>
          </p:cNvSpPr>
          <p:nvPr/>
        </p:nvSpPr>
        <p:spPr>
          <a:xfrm xmlns:a="http://schemas.openxmlformats.org/drawingml/2006/main">
            <a:off x="5943600" y="1600200"/>
            <a:ext cx="5742432" cy="932688"/>
          </a:xfrm>
          <a:prstGeom xmlns:a="http://schemas.openxmlformats.org/drawingml/2006/main" prst="roundRect">
            <a:avLst>
              <a:gd name="adj" fmla="val 7843"/>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11" name="Shape 9">
            <a:extLst xmlns:a="http://schemas.openxmlformats.org/drawingml/2006/main">
              <a:ext uri="{FF2B5EF4-FFF2-40B4-BE49-F238E27FC236}">
                <a16:creationId xmlns:a16="http://schemas.microsoft.com/office/drawing/2014/main" id="{02853CF2-8F8F-4174-937A-5F543493991F}"/>
              </a:ext>
            </a:extLst>
          </p:cNvPr>
          <p:cNvSpPr>
            <a:spLocks xmlns:a="http://schemas.openxmlformats.org/drawingml/2006/main" noGrp="1"/>
          </p:cNvSpPr>
          <p:nvPr/>
        </p:nvSpPr>
        <p:spPr>
          <a:xfrm xmlns:a="http://schemas.openxmlformats.org/drawingml/2006/main">
            <a:off x="6217920" y="1719072"/>
            <a:ext cx="566928" cy="237744"/>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60C9CD40-C655-4E04-9EF3-DAF18B5C1086}"/>
              </a:ext>
            </a:extLst>
          </p:cNvPr>
          <p:cNvSpPr>
            <a:spLocks xmlns:a="http://schemas.openxmlformats.org/drawingml/2006/main" noGrp="1"/>
          </p:cNvSpPr>
          <p:nvPr/>
        </p:nvSpPr>
        <p:spPr>
          <a:xfrm xmlns:a="http://schemas.openxmlformats.org/drawingml/2006/main">
            <a:off x="6217920" y="1719072"/>
            <a:ext cx="56692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Noto Sans KR"/>
                <a:ea typeface="Noto Sans KR"/>
                <a:cs typeface="Noto Sans KR"/>
              </a:rPr>
              <a:t>반영</a:t>
            </a:r>
            <a:endParaRPr sz="900"/>
          </a:p>
        </p:txBody>
      </p:sp>
      <p:sp>
        <p:nvSpPr>
          <p:cNvPr id="13" name="Text 11">
            <a:extLst xmlns:a="http://schemas.openxmlformats.org/drawingml/2006/main">
              <a:ext uri="{FF2B5EF4-FFF2-40B4-BE49-F238E27FC236}">
                <a16:creationId xmlns:a16="http://schemas.microsoft.com/office/drawing/2014/main" id="{2D05FC36-3B29-483D-B518-2A0CF8EF68F1}"/>
              </a:ext>
            </a:extLst>
          </p:cNvPr>
          <p:cNvSpPr>
            <a:spLocks xmlns:a="http://schemas.openxmlformats.org/drawingml/2006/main" noGrp="1"/>
          </p:cNvSpPr>
          <p:nvPr/>
        </p:nvSpPr>
        <p:spPr>
          <a:xfrm xmlns:a="http://schemas.openxmlformats.org/drawingml/2006/main">
            <a:off x="6217920" y="2002536"/>
            <a:ext cx="52578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300" b="1">
                <a:solidFill>
                  <a:srgbClr val="272626"/>
                </a:solidFill>
                <a:latin typeface="Noto Sans KR"/>
                <a:ea typeface="Noto Sans KR"/>
                <a:cs typeface="Noto Sans KR"/>
              </a:defRPr>
            </a:defPPr>
          </a:lstStyle>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영상으로 행동을 자동 판단하는 기능 제외</a:t>
            </a:r>
            <a:endParaRPr sz="1300"/>
          </a:p>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카메라는 소리가 난 상황을 확인하는 데 사용</a:t>
            </a:r>
            <a:endParaRPr sz="1300"/>
          </a:p>
        </p:txBody>
      </p:sp>
      <p:sp>
        <p:nvSpPr>
          <p:cNvPr id="14" name="Shape 12">
            <a:extLst xmlns:a="http://schemas.openxmlformats.org/drawingml/2006/main">
              <a:ext uri="{FF2B5EF4-FFF2-40B4-BE49-F238E27FC236}">
                <a16:creationId xmlns:a16="http://schemas.microsoft.com/office/drawing/2014/main" id="{78C62130-D58E-49DA-A7AE-A41EBC3F8312}"/>
              </a:ext>
            </a:extLst>
          </p:cNvPr>
          <p:cNvSpPr>
            <a:spLocks xmlns:a="http://schemas.openxmlformats.org/drawingml/2006/main" noGrp="1"/>
          </p:cNvSpPr>
          <p:nvPr/>
        </p:nvSpPr>
        <p:spPr>
          <a:xfrm xmlns:a="http://schemas.openxmlformats.org/drawingml/2006/main">
            <a:off x="502920" y="2715768"/>
            <a:ext cx="4800600" cy="932688"/>
          </a:xfrm>
          <a:prstGeom xmlns:a="http://schemas.openxmlformats.org/drawingml/2006/main" prst="roundRect">
            <a:avLst>
              <a:gd name="adj" fmla="val 7843"/>
            </a:avLst>
          </a:prstGeom>
          <a:solidFill xmlns:a="http://schemas.openxmlformats.org/drawingml/2006/main">
            <a:srgbClr val="E3E3E3"/>
          </a:solidFill>
          <a:ln xmlns:a="http://schemas.openxmlformats.org/drawingml/2006/main" w="12700">
            <a:solidFill>
              <a:srgbClr val="E3E3E3"/>
            </a:solidFill>
            <a:prstDash val="solid"/>
          </a:ln>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6368CB28-B39B-48C7-B627-2B45A54BCACC}"/>
              </a:ext>
            </a:extLst>
          </p:cNvPr>
          <p:cNvSpPr>
            <a:spLocks xmlns:a="http://schemas.openxmlformats.org/drawingml/2006/main" noGrp="1"/>
          </p:cNvSpPr>
          <p:nvPr/>
        </p:nvSpPr>
        <p:spPr>
          <a:xfrm xmlns:a="http://schemas.openxmlformats.org/drawingml/2006/main">
            <a:off x="777240" y="2843784"/>
            <a:ext cx="1828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8A8A8A"/>
                </a:solidFill>
                <a:latin typeface="Noto Sans KR"/>
                <a:ea typeface="Noto Sans KR"/>
                <a:cs typeface="Noto Sans KR"/>
              </a:rPr>
              <a:t>피드백</a:t>
            </a:r>
            <a:endParaRPr sz="1000"/>
          </a:p>
        </p:txBody>
      </p:sp>
      <p:sp>
        <p:nvSpPr>
          <p:cNvPr id="16" name="Text 14">
            <a:extLst xmlns:a="http://schemas.openxmlformats.org/drawingml/2006/main">
              <a:ext uri="{FF2B5EF4-FFF2-40B4-BE49-F238E27FC236}">
                <a16:creationId xmlns:a16="http://schemas.microsoft.com/office/drawing/2014/main" id="{81A78BDD-8E2D-45C8-944E-3BF57EB0F560}"/>
              </a:ext>
            </a:extLst>
          </p:cNvPr>
          <p:cNvSpPr>
            <a:spLocks xmlns:a="http://schemas.openxmlformats.org/drawingml/2006/main" noGrp="1"/>
          </p:cNvSpPr>
          <p:nvPr/>
        </p:nvSpPr>
        <p:spPr>
          <a:xfrm xmlns:a="http://schemas.openxmlformats.org/drawingml/2006/main">
            <a:off x="777240" y="3063240"/>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300" b="0">
                <a:solidFill>
                  <a:srgbClr val="5A5A5A"/>
                </a:solidFill>
                <a:latin typeface="Noto Sans KR"/>
                <a:ea typeface="Noto Sans KR"/>
                <a:cs typeface="Noto Sans KR"/>
              </a:defRPr>
            </a:defPPr>
          </a:lstStyle>
          <a:p xmlns:a="http://schemas.openxmlformats.org/drawingml/2006/main">
            <a:pPr marL="0" indent="0" algn="l">
              <a:buNone/>
              <a:defRPr sz="1300" b="0">
                <a:solidFill>
                  <a:srgbClr val="5A5A5A"/>
                </a:solidFill>
                <a:latin typeface="Noto Sans KR"/>
                <a:ea typeface="Noto Sans KR"/>
                <a:cs typeface="Noto Sans KR"/>
              </a:defRPr>
            </a:pPr>
            <a:r>
              <a:rPr sz="1300" b="0">
                <a:solidFill>
                  <a:srgbClr val="5A5A5A"/>
                </a:solidFill>
                <a:latin typeface="Noto Sans KR"/>
                <a:ea typeface="Noto Sans KR"/>
                <a:cs typeface="Noto Sans KR"/>
              </a:rPr>
              <a:t>소리를 어떤 방법으로 분석하는지 설명이 부족하다</a:t>
            </a:r>
            <a:endParaRPr sz="1300"/>
          </a:p>
        </p:txBody>
      </p:sp>
      <p:sp>
        <p:nvSpPr>
          <p:cNvPr id="17" name="Text 15">
            <a:extLst xmlns:a="http://schemas.openxmlformats.org/drawingml/2006/main">
              <a:ext uri="{FF2B5EF4-FFF2-40B4-BE49-F238E27FC236}">
                <a16:creationId xmlns:a16="http://schemas.microsoft.com/office/drawing/2014/main" id="{F2E61C27-123E-4C58-A9DA-3E88287615A9}"/>
              </a:ext>
            </a:extLst>
          </p:cNvPr>
          <p:cNvSpPr>
            <a:spLocks xmlns:a="http://schemas.openxmlformats.org/drawingml/2006/main" noGrp="1"/>
          </p:cNvSpPr>
          <p:nvPr/>
        </p:nvSpPr>
        <p:spPr>
          <a:xfrm xmlns:a="http://schemas.openxmlformats.org/drawingml/2006/main">
            <a:off x="5349240" y="2715768"/>
            <a:ext cx="548640" cy="9326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272626"/>
                </a:solidFill>
                <a:latin typeface="Noto Sans KR"/>
                <a:ea typeface="Noto Sans KR"/>
                <a:cs typeface="Noto Sans KR"/>
              </a:rPr>
              <a:t>→</a:t>
            </a:r>
            <a:endParaRPr sz="2000"/>
          </a:p>
        </p:txBody>
      </p:sp>
      <p:sp>
        <p:nvSpPr>
          <p:cNvPr id="18" name="Shape 16">
            <a:extLst xmlns:a="http://schemas.openxmlformats.org/drawingml/2006/main">
              <a:ext uri="{FF2B5EF4-FFF2-40B4-BE49-F238E27FC236}">
                <a16:creationId xmlns:a16="http://schemas.microsoft.com/office/drawing/2014/main" id="{249AD64C-EF8C-403C-95D5-8EA2FF9E6535}"/>
              </a:ext>
            </a:extLst>
          </p:cNvPr>
          <p:cNvSpPr>
            <a:spLocks xmlns:a="http://schemas.openxmlformats.org/drawingml/2006/main" noGrp="1"/>
          </p:cNvSpPr>
          <p:nvPr/>
        </p:nvSpPr>
        <p:spPr>
          <a:xfrm xmlns:a="http://schemas.openxmlformats.org/drawingml/2006/main">
            <a:off x="5943600" y="2715768"/>
            <a:ext cx="5742432" cy="932688"/>
          </a:xfrm>
          <a:prstGeom xmlns:a="http://schemas.openxmlformats.org/drawingml/2006/main" prst="roundRect">
            <a:avLst>
              <a:gd name="adj" fmla="val 7843"/>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2B32B637-AC46-40F5-A01F-F3EA7F4C97D8}"/>
              </a:ext>
            </a:extLst>
          </p:cNvPr>
          <p:cNvSpPr>
            <a:spLocks xmlns:a="http://schemas.openxmlformats.org/drawingml/2006/main" noGrp="1"/>
          </p:cNvSpPr>
          <p:nvPr/>
        </p:nvSpPr>
        <p:spPr>
          <a:xfrm xmlns:a="http://schemas.openxmlformats.org/drawingml/2006/main">
            <a:off x="6217920" y="2834640"/>
            <a:ext cx="566928" cy="237744"/>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F6129953-2E0E-4599-A78F-9DDF945AC26B}"/>
              </a:ext>
            </a:extLst>
          </p:cNvPr>
          <p:cNvSpPr>
            <a:spLocks xmlns:a="http://schemas.openxmlformats.org/drawingml/2006/main" noGrp="1"/>
          </p:cNvSpPr>
          <p:nvPr/>
        </p:nvSpPr>
        <p:spPr>
          <a:xfrm xmlns:a="http://schemas.openxmlformats.org/drawingml/2006/main">
            <a:off x="6217920" y="2834640"/>
            <a:ext cx="56692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Noto Sans KR"/>
                <a:ea typeface="Noto Sans KR"/>
                <a:cs typeface="Noto Sans KR"/>
              </a:rPr>
              <a:t>반영</a:t>
            </a:r>
            <a:endParaRPr sz="900"/>
          </a:p>
        </p:txBody>
      </p:sp>
      <p:sp>
        <p:nvSpPr>
          <p:cNvPr id="21" name="Text 19">
            <a:extLst xmlns:a="http://schemas.openxmlformats.org/drawingml/2006/main">
              <a:ext uri="{FF2B5EF4-FFF2-40B4-BE49-F238E27FC236}">
                <a16:creationId xmlns:a16="http://schemas.microsoft.com/office/drawing/2014/main" id="{63FFB9B7-9F84-43F7-8220-20290D07DA0E}"/>
              </a:ext>
            </a:extLst>
          </p:cNvPr>
          <p:cNvSpPr>
            <a:spLocks xmlns:a="http://schemas.openxmlformats.org/drawingml/2006/main" noGrp="1"/>
          </p:cNvSpPr>
          <p:nvPr/>
        </p:nvSpPr>
        <p:spPr>
          <a:xfrm xmlns:a="http://schemas.openxmlformats.org/drawingml/2006/main">
            <a:off x="6217920" y="3118104"/>
            <a:ext cx="52578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300" b="1">
                <a:solidFill>
                  <a:srgbClr val="272626"/>
                </a:solidFill>
                <a:latin typeface="Noto Sans KR"/>
                <a:ea typeface="Noto Sans KR"/>
                <a:cs typeface="Noto Sans KR"/>
              </a:defRPr>
            </a:defPPr>
          </a:lstStyle>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음역대별 변화와 음성 LSTM 구현</a:t>
            </a:r>
            <a:endParaRPr sz="1300"/>
          </a:p>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YAMNet과 결합 모델을 공개 자료로 비교</a:t>
            </a:r>
          </a:p>
        </p:txBody>
      </p:sp>
      <p:sp>
        <p:nvSpPr>
          <p:cNvPr id="22" name="Shape 20">
            <a:extLst xmlns:a="http://schemas.openxmlformats.org/drawingml/2006/main">
              <a:ext uri="{FF2B5EF4-FFF2-40B4-BE49-F238E27FC236}">
                <a16:creationId xmlns:a16="http://schemas.microsoft.com/office/drawing/2014/main" id="{AD4729EF-7B67-4BE8-8E06-15469C4FE4AF}"/>
              </a:ext>
            </a:extLst>
          </p:cNvPr>
          <p:cNvSpPr>
            <a:spLocks xmlns:a="http://schemas.openxmlformats.org/drawingml/2006/main" noGrp="1"/>
          </p:cNvSpPr>
          <p:nvPr/>
        </p:nvSpPr>
        <p:spPr>
          <a:xfrm xmlns:a="http://schemas.openxmlformats.org/drawingml/2006/main">
            <a:off x="502920" y="3831336"/>
            <a:ext cx="4800600" cy="932688"/>
          </a:xfrm>
          <a:prstGeom xmlns:a="http://schemas.openxmlformats.org/drawingml/2006/main" prst="roundRect">
            <a:avLst>
              <a:gd name="adj" fmla="val 7843"/>
            </a:avLst>
          </a:prstGeom>
          <a:solidFill xmlns:a="http://schemas.openxmlformats.org/drawingml/2006/main">
            <a:srgbClr val="E3E3E3"/>
          </a:solidFill>
          <a:ln xmlns:a="http://schemas.openxmlformats.org/drawingml/2006/main" w="12700">
            <a:solidFill>
              <a:srgbClr val="E3E3E3"/>
            </a:solidFill>
            <a:prstDash val="solid"/>
          </a:ln>
        </p:spPr>
        <p:txBody xmlns:a="http://schemas.openxmlformats.org/drawingml/2006/main">
          <a:bodyPr/>
          <a:p/>
        </p:txBody>
      </p:sp>
      <p:sp>
        <p:nvSpPr>
          <p:cNvPr id="23" name="Text 21">
            <a:extLst xmlns:a="http://schemas.openxmlformats.org/drawingml/2006/main">
              <a:ext uri="{FF2B5EF4-FFF2-40B4-BE49-F238E27FC236}">
                <a16:creationId xmlns:a16="http://schemas.microsoft.com/office/drawing/2014/main" id="{D55DCF18-77DE-434C-80BA-E5FA40A785C2}"/>
              </a:ext>
            </a:extLst>
          </p:cNvPr>
          <p:cNvSpPr>
            <a:spLocks xmlns:a="http://schemas.openxmlformats.org/drawingml/2006/main" noGrp="1"/>
          </p:cNvSpPr>
          <p:nvPr/>
        </p:nvSpPr>
        <p:spPr>
          <a:xfrm xmlns:a="http://schemas.openxmlformats.org/drawingml/2006/main">
            <a:off x="777240" y="3959352"/>
            <a:ext cx="1828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8A8A8A"/>
                </a:solidFill>
                <a:latin typeface="Noto Sans KR"/>
                <a:ea typeface="Noto Sans KR"/>
                <a:cs typeface="Noto Sans KR"/>
              </a:rPr>
              <a:t>피드백</a:t>
            </a:r>
            <a:endParaRPr sz="1000"/>
          </a:p>
        </p:txBody>
      </p:sp>
      <p:sp>
        <p:nvSpPr>
          <p:cNvPr id="24" name="Text 22">
            <a:extLst xmlns:a="http://schemas.openxmlformats.org/drawingml/2006/main">
              <a:ext uri="{FF2B5EF4-FFF2-40B4-BE49-F238E27FC236}">
                <a16:creationId xmlns:a16="http://schemas.microsoft.com/office/drawing/2014/main" id="{224706D8-D0AC-40F9-BA01-D9796D63552D}"/>
              </a:ext>
            </a:extLst>
          </p:cNvPr>
          <p:cNvSpPr>
            <a:spLocks xmlns:a="http://schemas.openxmlformats.org/drawingml/2006/main" noGrp="1"/>
          </p:cNvSpPr>
          <p:nvPr/>
        </p:nvSpPr>
        <p:spPr>
          <a:xfrm xmlns:a="http://schemas.openxmlformats.org/drawingml/2006/main">
            <a:off x="777240" y="4178808"/>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300" b="0">
                <a:solidFill>
                  <a:srgbClr val="5A5A5A"/>
                </a:solidFill>
                <a:latin typeface="Noto Sans KR"/>
                <a:ea typeface="Noto Sans KR"/>
                <a:cs typeface="Noto Sans KR"/>
              </a:defRPr>
            </a:defPPr>
          </a:lstStyle>
          <a:p xmlns:a="http://schemas.openxmlformats.org/drawingml/2006/main">
            <a:pPr marL="0" indent="0" algn="l">
              <a:buNone/>
              <a:defRPr sz="1300" b="0">
                <a:solidFill>
                  <a:srgbClr val="5A5A5A"/>
                </a:solidFill>
                <a:latin typeface="Noto Sans KR"/>
                <a:ea typeface="Noto Sans KR"/>
                <a:cs typeface="Noto Sans KR"/>
              </a:defRPr>
            </a:pPr>
            <a:r>
              <a:rPr sz="1300" b="0">
                <a:solidFill>
                  <a:srgbClr val="5A5A5A"/>
                </a:solidFill>
                <a:latin typeface="Noto Sans KR"/>
                <a:ea typeface="Noto Sans KR"/>
                <a:cs typeface="Noto Sans KR"/>
              </a:rPr>
              <a:t>일반 정보보다 우리 반려견의 기록을 활용해야 한다</a:t>
            </a:r>
            <a:endParaRPr sz="1300"/>
          </a:p>
        </p:txBody>
      </p:sp>
      <p:sp>
        <p:nvSpPr>
          <p:cNvPr id="25" name="Text 23">
            <a:extLst xmlns:a="http://schemas.openxmlformats.org/drawingml/2006/main">
              <a:ext uri="{FF2B5EF4-FFF2-40B4-BE49-F238E27FC236}">
                <a16:creationId xmlns:a16="http://schemas.microsoft.com/office/drawing/2014/main" id="{2E724E04-177D-4A0D-9F24-60AABF42C7FD}"/>
              </a:ext>
            </a:extLst>
          </p:cNvPr>
          <p:cNvSpPr>
            <a:spLocks xmlns:a="http://schemas.openxmlformats.org/drawingml/2006/main" noGrp="1"/>
          </p:cNvSpPr>
          <p:nvPr/>
        </p:nvSpPr>
        <p:spPr>
          <a:xfrm xmlns:a="http://schemas.openxmlformats.org/drawingml/2006/main">
            <a:off x="5349240" y="3831336"/>
            <a:ext cx="548640" cy="9326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272626"/>
                </a:solidFill>
                <a:latin typeface="Noto Sans KR"/>
                <a:ea typeface="Noto Sans KR"/>
                <a:cs typeface="Noto Sans KR"/>
              </a:rPr>
              <a:t>→</a:t>
            </a:r>
            <a:endParaRPr sz="2000"/>
          </a:p>
        </p:txBody>
      </p:sp>
      <p:sp>
        <p:nvSpPr>
          <p:cNvPr id="26" name="Shape 24">
            <a:extLst xmlns:a="http://schemas.openxmlformats.org/drawingml/2006/main">
              <a:ext uri="{FF2B5EF4-FFF2-40B4-BE49-F238E27FC236}">
                <a16:creationId xmlns:a16="http://schemas.microsoft.com/office/drawing/2014/main" id="{F3FC0367-1F10-407D-8F12-EC81C3439362}"/>
              </a:ext>
            </a:extLst>
          </p:cNvPr>
          <p:cNvSpPr>
            <a:spLocks xmlns:a="http://schemas.openxmlformats.org/drawingml/2006/main" noGrp="1"/>
          </p:cNvSpPr>
          <p:nvPr/>
        </p:nvSpPr>
        <p:spPr>
          <a:xfrm xmlns:a="http://schemas.openxmlformats.org/drawingml/2006/main">
            <a:off x="5943600" y="3831336"/>
            <a:ext cx="5742432" cy="932688"/>
          </a:xfrm>
          <a:prstGeom xmlns:a="http://schemas.openxmlformats.org/drawingml/2006/main" prst="roundRect">
            <a:avLst>
              <a:gd name="adj" fmla="val 7843"/>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27" name="Shape 25">
            <a:extLst xmlns:a="http://schemas.openxmlformats.org/drawingml/2006/main">
              <a:ext uri="{FF2B5EF4-FFF2-40B4-BE49-F238E27FC236}">
                <a16:creationId xmlns:a16="http://schemas.microsoft.com/office/drawing/2014/main" id="{F2A7984A-1073-476C-9D21-0769A8E31096}"/>
              </a:ext>
            </a:extLst>
          </p:cNvPr>
          <p:cNvSpPr>
            <a:spLocks xmlns:a="http://schemas.openxmlformats.org/drawingml/2006/main" noGrp="1"/>
          </p:cNvSpPr>
          <p:nvPr/>
        </p:nvSpPr>
        <p:spPr>
          <a:xfrm xmlns:a="http://schemas.openxmlformats.org/drawingml/2006/main">
            <a:off x="6217920" y="3950208"/>
            <a:ext cx="566928" cy="237744"/>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32757270-985B-449E-A8C5-5F35ACD26D20}"/>
              </a:ext>
            </a:extLst>
          </p:cNvPr>
          <p:cNvSpPr>
            <a:spLocks xmlns:a="http://schemas.openxmlformats.org/drawingml/2006/main" noGrp="1"/>
          </p:cNvSpPr>
          <p:nvPr/>
        </p:nvSpPr>
        <p:spPr>
          <a:xfrm xmlns:a="http://schemas.openxmlformats.org/drawingml/2006/main">
            <a:off x="6217920" y="3950208"/>
            <a:ext cx="56692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Noto Sans KR"/>
                <a:ea typeface="Noto Sans KR"/>
                <a:cs typeface="Noto Sans KR"/>
              </a:rPr>
              <a:t>반영</a:t>
            </a:r>
            <a:endParaRPr sz="900"/>
          </a:p>
        </p:txBody>
      </p:sp>
      <p:sp>
        <p:nvSpPr>
          <p:cNvPr id="29" name="Text 27">
            <a:extLst xmlns:a="http://schemas.openxmlformats.org/drawingml/2006/main">
              <a:ext uri="{FF2B5EF4-FFF2-40B4-BE49-F238E27FC236}">
                <a16:creationId xmlns:a16="http://schemas.microsoft.com/office/drawing/2014/main" id="{4CD6A4E1-2B4F-4F08-8648-B16461BAB741}"/>
              </a:ext>
            </a:extLst>
          </p:cNvPr>
          <p:cNvSpPr>
            <a:spLocks xmlns:a="http://schemas.openxmlformats.org/drawingml/2006/main" noGrp="1"/>
          </p:cNvSpPr>
          <p:nvPr/>
        </p:nvSpPr>
        <p:spPr>
          <a:xfrm xmlns:a="http://schemas.openxmlformats.org/drawingml/2006/main">
            <a:off x="6217920" y="4233672"/>
            <a:ext cx="52578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300" b="1">
                <a:solidFill>
                  <a:srgbClr val="272626"/>
                </a:solidFill>
                <a:latin typeface="Noto Sans KR"/>
                <a:ea typeface="Noto Sans KR"/>
                <a:cs typeface="Noto Sans KR"/>
              </a:defRPr>
            </a:defPPr>
          </a:lstStyle>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같은 반려견의 과거 기록과 보호자 의견 검색</a:t>
            </a:r>
            <a:endParaRPr sz="1300"/>
          </a:p>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설명에 사용한 기록과 원본을 함께 제공</a:t>
            </a:r>
            <a:endParaRPr sz="1300"/>
          </a:p>
        </p:txBody>
      </p:sp>
      <p:sp>
        <p:nvSpPr>
          <p:cNvPr id="30" name="Shape 28">
            <a:extLst xmlns:a="http://schemas.openxmlformats.org/drawingml/2006/main">
              <a:ext uri="{FF2B5EF4-FFF2-40B4-BE49-F238E27FC236}">
                <a16:creationId xmlns:a16="http://schemas.microsoft.com/office/drawing/2014/main" id="{528CF553-DBFF-4C09-B827-B7DA8EC4BEFB}"/>
              </a:ext>
            </a:extLst>
          </p:cNvPr>
          <p:cNvSpPr>
            <a:spLocks xmlns:a="http://schemas.openxmlformats.org/drawingml/2006/main" noGrp="1"/>
          </p:cNvSpPr>
          <p:nvPr/>
        </p:nvSpPr>
        <p:spPr>
          <a:xfrm xmlns:a="http://schemas.openxmlformats.org/drawingml/2006/main">
            <a:off x="502920" y="4946904"/>
            <a:ext cx="4800600" cy="932688"/>
          </a:xfrm>
          <a:prstGeom xmlns:a="http://schemas.openxmlformats.org/drawingml/2006/main" prst="roundRect">
            <a:avLst>
              <a:gd name="adj" fmla="val 7843"/>
            </a:avLst>
          </a:prstGeom>
          <a:solidFill xmlns:a="http://schemas.openxmlformats.org/drawingml/2006/main">
            <a:srgbClr val="E3E3E3"/>
          </a:solidFill>
          <a:ln xmlns:a="http://schemas.openxmlformats.org/drawingml/2006/main" w="12700">
            <a:solidFill>
              <a:srgbClr val="E3E3E3"/>
            </a:solidFill>
            <a:prstDash val="solid"/>
          </a:ln>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BCCA1FD0-9BC5-4953-A5BB-97F58F3F2147}"/>
              </a:ext>
            </a:extLst>
          </p:cNvPr>
          <p:cNvSpPr>
            <a:spLocks xmlns:a="http://schemas.openxmlformats.org/drawingml/2006/main" noGrp="1"/>
          </p:cNvSpPr>
          <p:nvPr/>
        </p:nvSpPr>
        <p:spPr>
          <a:xfrm xmlns:a="http://schemas.openxmlformats.org/drawingml/2006/main">
            <a:off x="777240" y="5074920"/>
            <a:ext cx="1828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8A8A8A"/>
                </a:solidFill>
                <a:latin typeface="Noto Sans KR"/>
                <a:ea typeface="Noto Sans KR"/>
                <a:cs typeface="Noto Sans KR"/>
              </a:rPr>
              <a:t>피드백</a:t>
            </a:r>
            <a:endParaRPr sz="1000"/>
          </a:p>
        </p:txBody>
      </p:sp>
      <p:sp>
        <p:nvSpPr>
          <p:cNvPr id="32" name="Text 30">
            <a:extLst xmlns:a="http://schemas.openxmlformats.org/drawingml/2006/main">
              <a:ext uri="{FF2B5EF4-FFF2-40B4-BE49-F238E27FC236}">
                <a16:creationId xmlns:a16="http://schemas.microsoft.com/office/drawing/2014/main" id="{FF2487EF-8FA0-4470-9A65-6959CBB1B29C}"/>
              </a:ext>
            </a:extLst>
          </p:cNvPr>
          <p:cNvSpPr>
            <a:spLocks xmlns:a="http://schemas.openxmlformats.org/drawingml/2006/main" noGrp="1"/>
          </p:cNvSpPr>
          <p:nvPr/>
        </p:nvSpPr>
        <p:spPr>
          <a:xfrm xmlns:a="http://schemas.openxmlformats.org/drawingml/2006/main">
            <a:off x="777240" y="5294376"/>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300" b="0">
                <a:solidFill>
                  <a:srgbClr val="5A5A5A"/>
                </a:solidFill>
                <a:latin typeface="Noto Sans KR"/>
                <a:ea typeface="Noto Sans KR"/>
                <a:cs typeface="Noto Sans KR"/>
              </a:defRPr>
            </a:defPPr>
          </a:lstStyle>
          <a:p xmlns:a="http://schemas.openxmlformats.org/drawingml/2006/main">
            <a:pPr marL="0" indent="0" algn="l">
              <a:buNone/>
              <a:defRPr sz="1300" b="0">
                <a:solidFill>
                  <a:srgbClr val="5A5A5A"/>
                </a:solidFill>
                <a:latin typeface="Noto Sans KR"/>
                <a:ea typeface="Noto Sans KR"/>
                <a:cs typeface="Noto Sans KR"/>
              </a:defRPr>
            </a:pPr>
            <a:r>
              <a:rPr sz="1300" b="0">
                <a:solidFill>
                  <a:srgbClr val="5A5A5A"/>
                </a:solidFill>
                <a:latin typeface="Noto Sans KR"/>
                <a:ea typeface="Noto Sans KR"/>
                <a:cs typeface="Noto Sans KR"/>
              </a:rPr>
              <a:t>저장한 기록을 AI에 연결하고 결과물을 보여달라</a:t>
            </a:r>
            <a:endParaRPr sz="1300"/>
          </a:p>
        </p:txBody>
      </p:sp>
      <p:sp>
        <p:nvSpPr>
          <p:cNvPr id="33" name="Text 31">
            <a:extLst xmlns:a="http://schemas.openxmlformats.org/drawingml/2006/main">
              <a:ext uri="{FF2B5EF4-FFF2-40B4-BE49-F238E27FC236}">
                <a16:creationId xmlns:a16="http://schemas.microsoft.com/office/drawing/2014/main" id="{C07963A0-3D51-4AA9-9001-2676B718FCE8}"/>
              </a:ext>
            </a:extLst>
          </p:cNvPr>
          <p:cNvSpPr>
            <a:spLocks xmlns:a="http://schemas.openxmlformats.org/drawingml/2006/main" noGrp="1"/>
          </p:cNvSpPr>
          <p:nvPr/>
        </p:nvSpPr>
        <p:spPr>
          <a:xfrm xmlns:a="http://schemas.openxmlformats.org/drawingml/2006/main">
            <a:off x="5349240" y="4946904"/>
            <a:ext cx="548640" cy="9326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272626"/>
                </a:solidFill>
                <a:latin typeface="Noto Sans KR"/>
                <a:ea typeface="Noto Sans KR"/>
                <a:cs typeface="Noto Sans KR"/>
              </a:rPr>
              <a:t>→</a:t>
            </a:r>
            <a:endParaRPr sz="2000"/>
          </a:p>
        </p:txBody>
      </p:sp>
      <p:sp>
        <p:nvSpPr>
          <p:cNvPr id="34" name="Shape 32">
            <a:extLst xmlns:a="http://schemas.openxmlformats.org/drawingml/2006/main">
              <a:ext uri="{FF2B5EF4-FFF2-40B4-BE49-F238E27FC236}">
                <a16:creationId xmlns:a16="http://schemas.microsoft.com/office/drawing/2014/main" id="{B4AA1FE7-8A82-4373-B37F-87B754D79D52}"/>
              </a:ext>
            </a:extLst>
          </p:cNvPr>
          <p:cNvSpPr>
            <a:spLocks xmlns:a="http://schemas.openxmlformats.org/drawingml/2006/main" noGrp="1"/>
          </p:cNvSpPr>
          <p:nvPr/>
        </p:nvSpPr>
        <p:spPr>
          <a:xfrm xmlns:a="http://schemas.openxmlformats.org/drawingml/2006/main">
            <a:off x="5943600" y="4946904"/>
            <a:ext cx="5742432" cy="932688"/>
          </a:xfrm>
          <a:prstGeom xmlns:a="http://schemas.openxmlformats.org/drawingml/2006/main" prst="roundRect">
            <a:avLst>
              <a:gd name="adj" fmla="val 7843"/>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35" name="Shape 33">
            <a:extLst xmlns:a="http://schemas.openxmlformats.org/drawingml/2006/main">
              <a:ext uri="{FF2B5EF4-FFF2-40B4-BE49-F238E27FC236}">
                <a16:creationId xmlns:a16="http://schemas.microsoft.com/office/drawing/2014/main" id="{4BAB69A6-653D-4423-9847-054786B836B0}"/>
              </a:ext>
            </a:extLst>
          </p:cNvPr>
          <p:cNvSpPr>
            <a:spLocks xmlns:a="http://schemas.openxmlformats.org/drawingml/2006/main" noGrp="1"/>
          </p:cNvSpPr>
          <p:nvPr/>
        </p:nvSpPr>
        <p:spPr>
          <a:xfrm xmlns:a="http://schemas.openxmlformats.org/drawingml/2006/main">
            <a:off x="6217920" y="5065776"/>
            <a:ext cx="566928" cy="237744"/>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6" name="Text 34">
            <a:extLst xmlns:a="http://schemas.openxmlformats.org/drawingml/2006/main">
              <a:ext uri="{FF2B5EF4-FFF2-40B4-BE49-F238E27FC236}">
                <a16:creationId xmlns:a16="http://schemas.microsoft.com/office/drawing/2014/main" id="{F5297373-EDC3-41E4-8E99-402D10F00B02}"/>
              </a:ext>
            </a:extLst>
          </p:cNvPr>
          <p:cNvSpPr>
            <a:spLocks xmlns:a="http://schemas.openxmlformats.org/drawingml/2006/main" noGrp="1"/>
          </p:cNvSpPr>
          <p:nvPr/>
        </p:nvSpPr>
        <p:spPr>
          <a:xfrm xmlns:a="http://schemas.openxmlformats.org/drawingml/2006/main">
            <a:off x="6217920" y="5065776"/>
            <a:ext cx="56692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Noto Sans KR"/>
                <a:ea typeface="Noto Sans KR"/>
                <a:cs typeface="Noto Sans KR"/>
              </a:rPr>
              <a:t>반영</a:t>
            </a:r>
            <a:endParaRPr sz="900"/>
          </a:p>
        </p:txBody>
      </p:sp>
      <p:sp>
        <p:nvSpPr>
          <p:cNvPr id="37" name="Text 35">
            <a:extLst xmlns:a="http://schemas.openxmlformats.org/drawingml/2006/main">
              <a:ext uri="{FF2B5EF4-FFF2-40B4-BE49-F238E27FC236}">
                <a16:creationId xmlns:a16="http://schemas.microsoft.com/office/drawing/2014/main" id="{1C9C2812-A64B-41D5-9A03-2F910CDE44D8}"/>
              </a:ext>
            </a:extLst>
          </p:cNvPr>
          <p:cNvSpPr>
            <a:spLocks xmlns:a="http://schemas.openxmlformats.org/drawingml/2006/main" noGrp="1"/>
          </p:cNvSpPr>
          <p:nvPr/>
        </p:nvSpPr>
        <p:spPr>
          <a:xfrm xmlns:a="http://schemas.openxmlformats.org/drawingml/2006/main">
            <a:off x="6217920" y="5349240"/>
            <a:ext cx="52578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300" b="1">
                <a:solidFill>
                  <a:srgbClr val="272626"/>
                </a:solidFill>
                <a:latin typeface="Noto Sans KR"/>
                <a:ea typeface="Noto Sans KR"/>
                <a:cs typeface="Noto Sans KR"/>
              </a:defRPr>
            </a:defPPr>
          </a:lstStyle>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저장 기록 조회와 AI 설명 기능 연결</a:t>
            </a:r>
            <a:endParaRPr sz="1300"/>
          </a:p>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외출 기록부터 귀가 요약까지 화면에서 확인</a:t>
            </a:r>
            <a:endParaRPr sz="1300"/>
          </a:p>
        </p:txBody>
      </p:sp>
      <p:sp>
        <p:nvSpPr>
          <p:cNvPr id="38" name="Text 36">
            <a:extLst xmlns:a="http://schemas.openxmlformats.org/drawingml/2006/main">
              <a:ext uri="{FF2B5EF4-FFF2-40B4-BE49-F238E27FC236}">
                <a16:creationId xmlns:a16="http://schemas.microsoft.com/office/drawing/2014/main" id="{450D7196-C66D-42DB-B1F6-5A2C6C717062}"/>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3 / 23</a:t>
            </a:r>
            <a:endParaRPr sz="900"/>
          </a:p>
        </p:txBody>
      </p:sp>
      <p:sp>
        <p:nvSpPr>
          <p:cNvPr id="39" name="feedback-source">
            <a:extLst xmlns:a="http://schemas.openxmlformats.org/drawingml/2006/main">
              <a:ext uri="{FF2B5EF4-FFF2-40B4-BE49-F238E27FC236}">
                <a16:creationId xmlns:a16="http://schemas.microsoft.com/office/drawing/2014/main" id="{F8888D47-8821-4CFB-96A2-6D6F4A1B5980}"/>
              </a:ext>
            </a:extLst>
          </p:cNvPr>
          <p:cNvSpPr>
            <a:spLocks xmlns:a="http://schemas.openxmlformats.org/drawingml/2006/main" noGrp="1"/>
          </p:cNvSpPr>
          <p:nvPr/>
        </p:nvSpPr>
        <p:spPr>
          <a:xfrm xmlns:a="http://schemas.openxmlformats.org/drawingml/2006/main">
            <a:off x="771525" y="60102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050" b="0">
                <a:solidFill>
                  <a:srgbClr val="727272"/>
                </a:solidFill>
                <a:latin typeface="Noto Sans KR"/>
                <a:ea typeface="Noto Sans KR"/>
                <a:cs typeface="Noto Sans KR"/>
              </a:defRPr>
            </a:defPPr>
          </a:lstStyle>
          <a:p xmlns:a="http://schemas.openxmlformats.org/drawingml/2006/main">
            <a:pPr>
              <a:buNone/>
              <a:defRPr sz="1050" b="0">
                <a:solidFill>
                  <a:srgbClr val="727272"/>
                </a:solidFill>
                <a:latin typeface="Noto Sans KR"/>
                <a:ea typeface="Noto Sans KR"/>
                <a:cs typeface="Noto Sans KR"/>
              </a:defRPr>
            </a:pPr>
            <a:r>
              <a:rPr sz="1050" b="0">
                <a:solidFill>
                  <a:srgbClr val="727272"/>
                </a:solidFill>
                <a:latin typeface="Noto Sans KR"/>
                <a:ea typeface="Noto Sans KR"/>
                <a:cs typeface="Noto Sans KR"/>
              </a:rPr>
              <a:t>피드백의 취지를 요약했습니다. 음성 LSTM 적용과 카메라 활용 방식은 이후 정한 개발 방향입니다.</a:t>
            </a:r>
          </a:p>
        </p:txBody>
      </p:sp>
    </p:spTree>
    <p:extLst>
      <p:ext uri="{BB962C8B-B14F-4D97-AF65-F5344CB8AC3E}">
        <p14:creationId xmlns:p14="http://schemas.microsoft.com/office/powerpoint/2010/main" val="2138451428"/>
      </p:ext>
    </p:extLst>
  </p:cSld>
</p:sld>
</file>

<file path=ppt/slides/slide4.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C4D09BB-116B-420F-A935-51F95AA1E9D1}"/>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C75A4432-FBB9-4A33-8601-652BAAC07FD2}"/>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Noto Sans KR"/>
                <a:ea typeface="Noto Sans KR"/>
                <a:cs typeface="Noto Sans KR"/>
              </a:rPr>
              <a:t>01</a:t>
            </a:r>
            <a:endParaRPr sz="1000"/>
          </a:p>
        </p:txBody>
      </p:sp>
      <p:sp>
        <p:nvSpPr>
          <p:cNvPr id="4" name="Text 2">
            <a:extLst xmlns:a="http://schemas.openxmlformats.org/drawingml/2006/main">
              <a:ext uri="{FF2B5EF4-FFF2-40B4-BE49-F238E27FC236}">
                <a16:creationId xmlns:a16="http://schemas.microsoft.com/office/drawing/2014/main" id="{20DF5731-F045-449A-B97A-8E935682965A}"/>
              </a:ext>
            </a:extLst>
          </p:cNvPr>
          <p:cNvSpPr>
            <a:spLocks xmlns:a="http://schemas.openxmlformats.org/drawingml/2006/main" noGrp="1"/>
          </p:cNvSpPr>
          <p:nvPr/>
        </p:nvSpPr>
        <p:spPr>
          <a:xfrm xmlns:a="http://schemas.openxmlformats.org/drawingml/2006/main">
            <a:off x="1207008"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교수님 피드백과 변경 내용</a:t>
            </a:r>
            <a:endParaRPr sz="1100"/>
          </a:p>
        </p:txBody>
      </p:sp>
      <p:sp>
        <p:nvSpPr>
          <p:cNvPr id="5" name="Text 3">
            <a:extLst xmlns:a="http://schemas.openxmlformats.org/drawingml/2006/main">
              <a:ext uri="{FF2B5EF4-FFF2-40B4-BE49-F238E27FC236}">
                <a16:creationId xmlns:a16="http://schemas.microsoft.com/office/drawing/2014/main" id="{7621701E-40AE-4198-8B13-7BCC3834EC7E}"/>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이전 발표 이후 달라진 점</a:t>
            </a:r>
            <a:endParaRPr sz="2600"/>
          </a:p>
        </p:txBody>
      </p:sp>
      <p:sp>
        <p:nvSpPr>
          <p:cNvPr id="6" name="Shape 4">
            <a:extLst xmlns:a="http://schemas.openxmlformats.org/drawingml/2006/main">
              <a:ext uri="{FF2B5EF4-FFF2-40B4-BE49-F238E27FC236}">
                <a16:creationId xmlns:a16="http://schemas.microsoft.com/office/drawing/2014/main" id="{3F5E34A1-6462-4AEB-8DBE-0D4641E275E5}"/>
              </a:ext>
            </a:extLst>
          </p:cNvPr>
          <p:cNvSpPr>
            <a:spLocks xmlns:a="http://schemas.openxmlformats.org/drawingml/2006/main" noGrp="1"/>
          </p:cNvSpPr>
          <p:nvPr/>
        </p:nvSpPr>
        <p:spPr>
          <a:xfrm xmlns:a="http://schemas.openxmlformats.org/drawingml/2006/main">
            <a:off x="2377440" y="1600200"/>
            <a:ext cx="4434840" cy="4498848"/>
          </a:xfrm>
          <a:prstGeom xmlns:a="http://schemas.openxmlformats.org/drawingml/2006/main" prst="roundRect">
            <a:avLst>
              <a:gd name="adj" fmla="val 1649"/>
            </a:avLst>
          </a:prstGeom>
          <a:solidFill xmlns:a="http://schemas.openxmlformats.org/drawingml/2006/main">
            <a:srgbClr val="E3E3E3"/>
          </a:solidFill>
          <a:ln xmlns:a="http://schemas.openxmlformats.org/drawingml/2006/main" w="12700">
            <a:solidFill>
              <a:srgbClr val="E3E3E3"/>
            </a:solidFill>
            <a:prstDash val="solid"/>
          </a:ln>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717A1925-17FC-492F-ACD6-F45619B1D594}"/>
              </a:ext>
            </a:extLst>
          </p:cNvPr>
          <p:cNvSpPr>
            <a:spLocks xmlns:a="http://schemas.openxmlformats.org/drawingml/2006/main" noGrp="1"/>
          </p:cNvSpPr>
          <p:nvPr/>
        </p:nvSpPr>
        <p:spPr>
          <a:xfrm xmlns:a="http://schemas.openxmlformats.org/drawingml/2006/main">
            <a:off x="6903720" y="1600200"/>
            <a:ext cx="4782312" cy="4498848"/>
          </a:xfrm>
          <a:prstGeom xmlns:a="http://schemas.openxmlformats.org/drawingml/2006/main" prst="roundRect">
            <a:avLst>
              <a:gd name="adj" fmla="val 1626"/>
            </a:avLst>
          </a:prstGeom>
          <a:solidFill xmlns:a="http://schemas.openxmlformats.org/drawingml/2006/main">
            <a:srgbClr val="272626"/>
          </a:solidFill>
          <a:ln xmlns:a="http://schemas.openxmlformats.org/drawingml/2006/main" w="12700">
            <a:solidFill>
              <a:srgbClr val="272626"/>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AF2EF81C-4417-475C-895F-2458D0EFF68D}"/>
              </a:ext>
            </a:extLst>
          </p:cNvPr>
          <p:cNvSpPr>
            <a:spLocks xmlns:a="http://schemas.openxmlformats.org/drawingml/2006/main" noGrp="1"/>
          </p:cNvSpPr>
          <p:nvPr/>
        </p:nvSpPr>
        <p:spPr>
          <a:xfrm xmlns:a="http://schemas.openxmlformats.org/drawingml/2006/main">
            <a:off x="2651760" y="1728216"/>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1">
                <a:solidFill>
                  <a:srgbClr val="8A8A8A"/>
                </a:solidFill>
                <a:latin typeface="Noto Sans KR"/>
                <a:ea typeface="Noto Sans KR"/>
                <a:cs typeface="Noto Sans KR"/>
              </a:defRPr>
            </a:defPPr>
          </a:lstStyle>
          <a:p xmlns:a="http://schemas.openxmlformats.org/drawingml/2006/main">
            <a:pPr marL="0" indent="0" algn="l">
              <a:buNone/>
              <a:defRPr sz="1200" b="1">
                <a:solidFill>
                  <a:srgbClr val="8A8A8A"/>
                </a:solidFill>
                <a:latin typeface="Noto Sans KR"/>
                <a:ea typeface="Noto Sans KR"/>
                <a:cs typeface="Noto Sans KR"/>
              </a:defRPr>
            </a:pPr>
            <a:r>
              <a:rPr sz="1200" b="1">
                <a:solidFill>
                  <a:srgbClr val="8A8A8A"/>
                </a:solidFill>
                <a:latin typeface="Noto Sans KR"/>
                <a:ea typeface="Noto Sans KR"/>
                <a:cs typeface="Noto Sans KR"/>
              </a:rPr>
              <a:t>이전 발표</a:t>
            </a:r>
            <a:endParaRPr sz="1200"/>
          </a:p>
        </p:txBody>
      </p:sp>
      <p:sp>
        <p:nvSpPr>
          <p:cNvPr id="9" name="Text 7">
            <a:extLst xmlns:a="http://schemas.openxmlformats.org/drawingml/2006/main">
              <a:ext uri="{FF2B5EF4-FFF2-40B4-BE49-F238E27FC236}">
                <a16:creationId xmlns:a16="http://schemas.microsoft.com/office/drawing/2014/main" id="{84C32EF5-CE2F-4F46-886D-939BC6F752AE}"/>
              </a:ext>
            </a:extLst>
          </p:cNvPr>
          <p:cNvSpPr>
            <a:spLocks xmlns:a="http://schemas.openxmlformats.org/drawingml/2006/main" noGrp="1"/>
          </p:cNvSpPr>
          <p:nvPr/>
        </p:nvSpPr>
        <p:spPr>
          <a:xfrm xmlns:a="http://schemas.openxmlformats.org/drawingml/2006/main">
            <a:off x="7178040" y="1728216"/>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1">
                <a:solidFill>
                  <a:srgbClr val="C9C9C9"/>
                </a:solidFill>
                <a:latin typeface="Noto Sans KR"/>
                <a:ea typeface="Noto Sans KR"/>
                <a:cs typeface="Noto Sans KR"/>
              </a:defRPr>
            </a:defPPr>
          </a:lstStyle>
          <a:p xmlns:a="http://schemas.openxmlformats.org/drawingml/2006/main">
            <a:pPr marL="0" indent="0" algn="l">
              <a:buNone/>
              <a:defRPr sz="1200" b="1">
                <a:solidFill>
                  <a:srgbClr val="C9C9C9"/>
                </a:solidFill>
                <a:latin typeface="Noto Sans KR"/>
                <a:ea typeface="Noto Sans KR"/>
                <a:cs typeface="Noto Sans KR"/>
              </a:defRPr>
            </a:pPr>
            <a:r>
              <a:rPr sz="1200" b="1">
                <a:solidFill>
                  <a:srgbClr val="C9C9C9"/>
                </a:solidFill>
                <a:latin typeface="Noto Sans KR"/>
                <a:ea typeface="Noto Sans KR"/>
                <a:cs typeface="Noto Sans KR"/>
              </a:rPr>
              <a:t>현재 구현</a:t>
            </a:r>
            <a:endParaRPr sz="1200"/>
          </a:p>
        </p:txBody>
      </p:sp>
      <p:sp>
        <p:nvSpPr>
          <p:cNvPr id="10" name="Text 8">
            <a:extLst xmlns:a="http://schemas.openxmlformats.org/drawingml/2006/main">
              <a:ext uri="{FF2B5EF4-FFF2-40B4-BE49-F238E27FC236}">
                <a16:creationId xmlns:a16="http://schemas.microsoft.com/office/drawing/2014/main" id="{D5349E79-87CB-4321-A4B4-B70B443395F8}"/>
              </a:ext>
            </a:extLst>
          </p:cNvPr>
          <p:cNvSpPr>
            <a:spLocks xmlns:a="http://schemas.openxmlformats.org/drawingml/2006/main" noGrp="1"/>
          </p:cNvSpPr>
          <p:nvPr/>
        </p:nvSpPr>
        <p:spPr>
          <a:xfrm xmlns:a="http://schemas.openxmlformats.org/drawingml/2006/main">
            <a:off x="502920" y="2057400"/>
            <a:ext cx="17373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272626"/>
                </a:solidFill>
                <a:latin typeface="Noto Sans KR"/>
                <a:ea typeface="Noto Sans KR"/>
                <a:cs typeface="Noto Sans KR"/>
              </a:defRPr>
            </a:defPPr>
          </a:lstStyle>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프로젝트 목적</a:t>
            </a:r>
            <a:endParaRPr sz="1300"/>
          </a:p>
        </p:txBody>
      </p:sp>
      <p:sp>
        <p:nvSpPr>
          <p:cNvPr id="11" name="Text 9">
            <a:extLst xmlns:a="http://schemas.openxmlformats.org/drawingml/2006/main">
              <a:ext uri="{FF2B5EF4-FFF2-40B4-BE49-F238E27FC236}">
                <a16:creationId xmlns:a16="http://schemas.microsoft.com/office/drawing/2014/main" id="{6AD669AB-14D2-42EA-B1CE-9588C7D4893D}"/>
              </a:ext>
            </a:extLst>
          </p:cNvPr>
          <p:cNvSpPr>
            <a:spLocks xmlns:a="http://schemas.openxmlformats.org/drawingml/2006/main" noGrp="1"/>
          </p:cNvSpPr>
          <p:nvPr/>
        </p:nvSpPr>
        <p:spPr>
          <a:xfrm xmlns:a="http://schemas.openxmlformats.org/drawingml/2006/main">
            <a:off x="2651760" y="2057400"/>
            <a:ext cx="3886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0">
                <a:solidFill>
                  <a:srgbClr val="5A5A5A"/>
                </a:solidFill>
                <a:latin typeface="Noto Sans KR"/>
                <a:ea typeface="Noto Sans KR"/>
                <a:cs typeface="Noto Sans KR"/>
              </a:defRPr>
            </a:defPPr>
          </a:lstStyle>
          <a:p xmlns:a="http://schemas.openxmlformats.org/drawingml/2006/main">
            <a:pPr marL="0" indent="0" algn="l">
              <a:buNone/>
              <a:defRPr sz="1300" b="0">
                <a:solidFill>
                  <a:srgbClr val="5A5A5A"/>
                </a:solidFill>
                <a:latin typeface="Noto Sans KR"/>
                <a:ea typeface="Noto Sans KR"/>
                <a:cs typeface="Noto Sans KR"/>
              </a:defRPr>
            </a:pPr>
            <a:r>
              <a:rPr sz="1300" b="0">
                <a:solidFill>
                  <a:srgbClr val="5A5A5A"/>
                </a:solidFill>
                <a:latin typeface="Noto Sans KR"/>
                <a:ea typeface="Noto Sans KR"/>
                <a:cs typeface="Noto Sans KR"/>
              </a:rPr>
              <a:t>관찰 결과를 종합해 음악 케어 제안</a:t>
            </a:r>
            <a:endParaRPr sz="1300"/>
          </a:p>
        </p:txBody>
      </p:sp>
      <p:sp>
        <p:nvSpPr>
          <p:cNvPr id="12" name="Text 10">
            <a:extLst xmlns:a="http://schemas.openxmlformats.org/drawingml/2006/main">
              <a:ext uri="{FF2B5EF4-FFF2-40B4-BE49-F238E27FC236}">
                <a16:creationId xmlns:a16="http://schemas.microsoft.com/office/drawing/2014/main" id="{D569CC59-1A0C-4B15-897A-6C78B7D9C859}"/>
              </a:ext>
            </a:extLst>
          </p:cNvPr>
          <p:cNvSpPr>
            <a:spLocks xmlns:a="http://schemas.openxmlformats.org/drawingml/2006/main" noGrp="1"/>
          </p:cNvSpPr>
          <p:nvPr/>
        </p:nvSpPr>
        <p:spPr>
          <a:xfrm xmlns:a="http://schemas.openxmlformats.org/drawingml/2006/main">
            <a:off x="7178040" y="2057400"/>
            <a:ext cx="423367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FFFFFF"/>
                </a:solidFill>
                <a:latin typeface="Noto Sans KR"/>
                <a:ea typeface="Noto Sans KR"/>
                <a:cs typeface="Noto Sans KR"/>
              </a:defRPr>
            </a:defPPr>
          </a:lstStyle>
          <a:p xmlns:a="http://schemas.openxmlformats.org/drawingml/2006/main">
            <a:pPr marL="0" indent="0" algn="l">
              <a:buNone/>
              <a:defRPr sz="1300" b="1">
                <a:solidFill>
                  <a:srgbClr val="FFFFFF"/>
                </a:solidFill>
                <a:latin typeface="Noto Sans KR"/>
                <a:ea typeface="Noto Sans KR"/>
                <a:cs typeface="Noto Sans KR"/>
              </a:defRPr>
            </a:pPr>
            <a:r>
              <a:rPr sz="1300" b="1">
                <a:solidFill>
                  <a:srgbClr val="FFFFFF"/>
                </a:solidFill>
                <a:latin typeface="Noto Sans KR"/>
                <a:ea typeface="Noto Sans KR"/>
                <a:cs typeface="Noto Sans KR"/>
              </a:rPr>
              <a:t>반려견의 기록을 바탕으로 돌봄 판단 지원</a:t>
            </a:r>
            <a:endParaRPr sz="1300"/>
          </a:p>
        </p:txBody>
      </p:sp>
      <p:sp>
        <p:nvSpPr>
          <p:cNvPr id="13" name="Text 11">
            <a:extLst xmlns:a="http://schemas.openxmlformats.org/drawingml/2006/main">
              <a:ext uri="{FF2B5EF4-FFF2-40B4-BE49-F238E27FC236}">
                <a16:creationId xmlns:a16="http://schemas.microsoft.com/office/drawing/2014/main" id="{3A4DD1A6-0D37-4B1E-BDED-DE9B4B78D288}"/>
              </a:ext>
            </a:extLst>
          </p:cNvPr>
          <p:cNvSpPr>
            <a:spLocks xmlns:a="http://schemas.openxmlformats.org/drawingml/2006/main" noGrp="1"/>
          </p:cNvSpPr>
          <p:nvPr/>
        </p:nvSpPr>
        <p:spPr>
          <a:xfrm xmlns:a="http://schemas.openxmlformats.org/drawingml/2006/main">
            <a:off x="502920" y="2715768"/>
            <a:ext cx="17373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272626"/>
                </a:solidFill>
                <a:latin typeface="Noto Sans KR"/>
                <a:ea typeface="Noto Sans KR"/>
                <a:cs typeface="Noto Sans KR"/>
              </a:defRPr>
            </a:defPPr>
          </a:lstStyle>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카메라</a:t>
            </a:r>
            <a:endParaRPr sz="1300"/>
          </a:p>
        </p:txBody>
      </p:sp>
      <p:sp>
        <p:nvSpPr>
          <p:cNvPr id="14" name="Text 12">
            <a:extLst xmlns:a="http://schemas.openxmlformats.org/drawingml/2006/main">
              <a:ext uri="{FF2B5EF4-FFF2-40B4-BE49-F238E27FC236}">
                <a16:creationId xmlns:a16="http://schemas.microsoft.com/office/drawing/2014/main" id="{B70969D8-750B-4EDD-A2DF-5585CE034F16}"/>
              </a:ext>
            </a:extLst>
          </p:cNvPr>
          <p:cNvSpPr>
            <a:spLocks xmlns:a="http://schemas.openxmlformats.org/drawingml/2006/main" noGrp="1"/>
          </p:cNvSpPr>
          <p:nvPr/>
        </p:nvSpPr>
        <p:spPr>
          <a:xfrm xmlns:a="http://schemas.openxmlformats.org/drawingml/2006/main">
            <a:off x="2651760" y="2715768"/>
            <a:ext cx="3886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0">
                <a:solidFill>
                  <a:srgbClr val="5A5A5A"/>
                </a:solidFill>
                <a:latin typeface="Noto Sans KR"/>
                <a:ea typeface="Noto Sans KR"/>
                <a:cs typeface="Noto Sans KR"/>
              </a:defRPr>
            </a:defPPr>
          </a:lstStyle>
          <a:p xmlns:a="http://schemas.openxmlformats.org/drawingml/2006/main">
            <a:pPr marL="0" indent="0" algn="l">
              <a:buNone/>
              <a:defRPr sz="1300" b="0">
                <a:solidFill>
                  <a:srgbClr val="5A5A5A"/>
                </a:solidFill>
                <a:latin typeface="Noto Sans KR"/>
                <a:ea typeface="Noto Sans KR"/>
                <a:cs typeface="Noto Sans KR"/>
              </a:defRPr>
            </a:pPr>
            <a:r>
              <a:rPr sz="1300" b="0">
                <a:solidFill>
                  <a:srgbClr val="5A5A5A"/>
                </a:solidFill>
                <a:latin typeface="Noto Sans KR"/>
                <a:ea typeface="Noto Sans KR"/>
                <a:cs typeface="Noto Sans KR"/>
              </a:rPr>
              <a:t>영상에서 행동과 감정을 분석</a:t>
            </a:r>
            <a:endParaRPr sz="1300"/>
          </a:p>
        </p:txBody>
      </p:sp>
      <p:sp>
        <p:nvSpPr>
          <p:cNvPr id="15" name="Text 13">
            <a:extLst xmlns:a="http://schemas.openxmlformats.org/drawingml/2006/main">
              <a:ext uri="{FF2B5EF4-FFF2-40B4-BE49-F238E27FC236}">
                <a16:creationId xmlns:a16="http://schemas.microsoft.com/office/drawing/2014/main" id="{FE7A5A5E-CD5C-4111-866C-AD915BA07E71}"/>
              </a:ext>
            </a:extLst>
          </p:cNvPr>
          <p:cNvSpPr>
            <a:spLocks xmlns:a="http://schemas.openxmlformats.org/drawingml/2006/main" noGrp="1"/>
          </p:cNvSpPr>
          <p:nvPr/>
        </p:nvSpPr>
        <p:spPr>
          <a:xfrm xmlns:a="http://schemas.openxmlformats.org/drawingml/2006/main">
            <a:off x="7178040" y="2715768"/>
            <a:ext cx="423367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FFFFFF"/>
                </a:solidFill>
                <a:latin typeface="Noto Sans KR"/>
                <a:ea typeface="Noto Sans KR"/>
                <a:cs typeface="Noto Sans KR"/>
              </a:defRPr>
            </a:defPPr>
          </a:lstStyle>
          <a:p xmlns:a="http://schemas.openxmlformats.org/drawingml/2006/main">
            <a:pPr marL="0" indent="0" algn="l">
              <a:buNone/>
              <a:defRPr sz="1300" b="1">
                <a:solidFill>
                  <a:srgbClr val="FFFFFF"/>
                </a:solidFill>
                <a:latin typeface="Noto Sans KR"/>
                <a:ea typeface="Noto Sans KR"/>
                <a:cs typeface="Noto Sans KR"/>
              </a:defRPr>
            </a:pPr>
            <a:r>
              <a:rPr sz="1300" b="1">
                <a:solidFill>
                  <a:srgbClr val="FFFFFF"/>
                </a:solidFill>
                <a:latin typeface="Noto Sans KR"/>
                <a:ea typeface="Noto Sans KR"/>
                <a:cs typeface="Noto Sans KR"/>
              </a:rPr>
              <a:t>소리가 난 전후 장면을 보호자가 확인</a:t>
            </a:r>
            <a:endParaRPr sz="1300"/>
          </a:p>
        </p:txBody>
      </p:sp>
      <p:sp>
        <p:nvSpPr>
          <p:cNvPr id="16" name="Shape 14">
            <a:extLst xmlns:a="http://schemas.openxmlformats.org/drawingml/2006/main">
              <a:ext uri="{FF2B5EF4-FFF2-40B4-BE49-F238E27FC236}">
                <a16:creationId xmlns:a16="http://schemas.microsoft.com/office/drawing/2014/main" id="{AAA80BC3-41D6-4F32-9C70-7D2AA54842A1}"/>
              </a:ext>
            </a:extLst>
          </p:cNvPr>
          <p:cNvSpPr>
            <a:spLocks xmlns:a="http://schemas.openxmlformats.org/drawingml/2006/main" noGrp="1"/>
          </p:cNvSpPr>
          <p:nvPr/>
        </p:nvSpPr>
        <p:spPr>
          <a:xfrm xmlns:a="http://schemas.openxmlformats.org/drawingml/2006/main">
            <a:off x="2651760" y="2715768"/>
            <a:ext cx="388620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txBody xmlns:a="http://schemas.openxmlformats.org/drawingml/2006/main">
          <a:bodyPr/>
          <a:p/>
        </p:txBody>
      </p:sp>
      <p:sp>
        <p:nvSpPr>
          <p:cNvPr id="17" name="Shape 15">
            <a:extLst xmlns:a="http://schemas.openxmlformats.org/drawingml/2006/main">
              <a:ext uri="{FF2B5EF4-FFF2-40B4-BE49-F238E27FC236}">
                <a16:creationId xmlns:a16="http://schemas.microsoft.com/office/drawing/2014/main" id="{55D1CA8E-B82E-45D1-A9C1-57838247E79C}"/>
              </a:ext>
            </a:extLst>
          </p:cNvPr>
          <p:cNvSpPr>
            <a:spLocks xmlns:a="http://schemas.openxmlformats.org/drawingml/2006/main" noGrp="1"/>
          </p:cNvSpPr>
          <p:nvPr/>
        </p:nvSpPr>
        <p:spPr>
          <a:xfrm xmlns:a="http://schemas.openxmlformats.org/drawingml/2006/main">
            <a:off x="7178040" y="2715768"/>
            <a:ext cx="4233672" cy="0"/>
          </a:xfrm>
          <a:prstGeom xmlns:a="http://schemas.openxmlformats.org/drawingml/2006/main" prst="line">
            <a:avLst/>
          </a:prstGeom>
          <a:noFill xmlns:a="http://schemas.openxmlformats.org/drawingml/2006/main"/>
          <a:ln xmlns:a="http://schemas.openxmlformats.org/drawingml/2006/main" w="9525">
            <a:solidFill>
              <a:srgbClr val="4A4949"/>
            </a:solidFill>
            <a:prstDash val="solid"/>
          </a:ln>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792AB679-862F-4054-805A-E4F0A6E8C9B2}"/>
              </a:ext>
            </a:extLst>
          </p:cNvPr>
          <p:cNvSpPr>
            <a:spLocks xmlns:a="http://schemas.openxmlformats.org/drawingml/2006/main" noGrp="1"/>
          </p:cNvSpPr>
          <p:nvPr/>
        </p:nvSpPr>
        <p:spPr>
          <a:xfrm xmlns:a="http://schemas.openxmlformats.org/drawingml/2006/main">
            <a:off x="502920" y="3374136"/>
            <a:ext cx="17373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272626"/>
                </a:solidFill>
                <a:latin typeface="Noto Sans KR"/>
                <a:ea typeface="Noto Sans KR"/>
                <a:cs typeface="Noto Sans KR"/>
              </a:defRPr>
            </a:defPPr>
          </a:lstStyle>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소리 분석</a:t>
            </a:r>
            <a:endParaRPr sz="1300"/>
          </a:p>
        </p:txBody>
      </p:sp>
      <p:sp>
        <p:nvSpPr>
          <p:cNvPr id="19" name="Text 17">
            <a:extLst xmlns:a="http://schemas.openxmlformats.org/drawingml/2006/main">
              <a:ext uri="{FF2B5EF4-FFF2-40B4-BE49-F238E27FC236}">
                <a16:creationId xmlns:a16="http://schemas.microsoft.com/office/drawing/2014/main" id="{84D0FCCB-81A0-4EED-BF60-FC9317FA4989}"/>
              </a:ext>
            </a:extLst>
          </p:cNvPr>
          <p:cNvSpPr>
            <a:spLocks xmlns:a="http://schemas.openxmlformats.org/drawingml/2006/main" noGrp="1"/>
          </p:cNvSpPr>
          <p:nvPr/>
        </p:nvSpPr>
        <p:spPr>
          <a:xfrm xmlns:a="http://schemas.openxmlformats.org/drawingml/2006/main">
            <a:off x="2651760" y="3374136"/>
            <a:ext cx="3886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0">
                <a:solidFill>
                  <a:srgbClr val="5A5A5A"/>
                </a:solidFill>
                <a:latin typeface="Noto Sans KR"/>
                <a:ea typeface="Noto Sans KR"/>
                <a:cs typeface="Noto Sans KR"/>
              </a:defRPr>
            </a:defPPr>
          </a:lstStyle>
          <a:p xmlns:a="http://schemas.openxmlformats.org/drawingml/2006/main">
            <a:pPr marL="0" indent="0" algn="l">
              <a:buNone/>
              <a:defRPr sz="1300" b="0">
                <a:solidFill>
                  <a:srgbClr val="5A5A5A"/>
                </a:solidFill>
                <a:latin typeface="Noto Sans KR"/>
                <a:ea typeface="Noto Sans KR"/>
                <a:cs typeface="Noto Sans KR"/>
              </a:defRPr>
            </a:pPr>
            <a:r>
              <a:rPr sz="1300" b="0">
                <a:solidFill>
                  <a:srgbClr val="5A5A5A"/>
                </a:solidFill>
                <a:latin typeface="Noto Sans KR"/>
                <a:ea typeface="Noto Sans KR"/>
                <a:cs typeface="Noto Sans KR"/>
              </a:rPr>
              <a:t>짖음의 횟수와 크기를 분석할 계획</a:t>
            </a:r>
            <a:endParaRPr sz="1300"/>
          </a:p>
        </p:txBody>
      </p:sp>
      <p:sp>
        <p:nvSpPr>
          <p:cNvPr id="20" name="Text 18">
            <a:extLst xmlns:a="http://schemas.openxmlformats.org/drawingml/2006/main">
              <a:ext uri="{FF2B5EF4-FFF2-40B4-BE49-F238E27FC236}">
                <a16:creationId xmlns:a16="http://schemas.microsoft.com/office/drawing/2014/main" id="{125F4335-6A77-4740-BA32-CC0DC49DFE84}"/>
              </a:ext>
            </a:extLst>
          </p:cNvPr>
          <p:cNvSpPr>
            <a:spLocks xmlns:a="http://schemas.openxmlformats.org/drawingml/2006/main" noGrp="1"/>
          </p:cNvSpPr>
          <p:nvPr/>
        </p:nvSpPr>
        <p:spPr>
          <a:xfrm xmlns:a="http://schemas.openxmlformats.org/drawingml/2006/main">
            <a:off x="7178040" y="3374136"/>
            <a:ext cx="423367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FFFFFF"/>
                </a:solidFill>
                <a:latin typeface="Noto Sans KR"/>
                <a:ea typeface="Noto Sans KR"/>
                <a:cs typeface="Noto Sans KR"/>
              </a:defRPr>
            </a:defPPr>
          </a:lstStyle>
          <a:p xmlns:a="http://schemas.openxmlformats.org/drawingml/2006/main">
            <a:pPr marL="0" indent="0" algn="l">
              <a:buNone/>
              <a:defRPr sz="1300" b="1">
                <a:solidFill>
                  <a:srgbClr val="FFFFFF"/>
                </a:solidFill>
                <a:latin typeface="Noto Sans KR"/>
                <a:ea typeface="Noto Sans KR"/>
                <a:cs typeface="Noto Sans KR"/>
              </a:defRPr>
            </a:pPr>
            <a:r>
              <a:rPr sz="1300" b="1">
                <a:solidFill>
                  <a:srgbClr val="FFFFFF"/>
                </a:solidFill>
                <a:latin typeface="Noto Sans KR"/>
                <a:ea typeface="Noto Sans KR"/>
                <a:cs typeface="Noto Sans KR"/>
              </a:rPr>
              <a:t>기존 LSTM 유지, YAMNet·결합 LSTM 비교 실험</a:t>
            </a:r>
            <a:endParaRPr sz="1300"/>
          </a:p>
        </p:txBody>
      </p:sp>
      <p:sp>
        <p:nvSpPr>
          <p:cNvPr id="21" name="Shape 19">
            <a:extLst xmlns:a="http://schemas.openxmlformats.org/drawingml/2006/main">
              <a:ext uri="{FF2B5EF4-FFF2-40B4-BE49-F238E27FC236}">
                <a16:creationId xmlns:a16="http://schemas.microsoft.com/office/drawing/2014/main" id="{B4149014-C8B9-4CEC-AB76-DA3177D7E87D}"/>
              </a:ext>
            </a:extLst>
          </p:cNvPr>
          <p:cNvSpPr>
            <a:spLocks xmlns:a="http://schemas.openxmlformats.org/drawingml/2006/main" noGrp="1"/>
          </p:cNvSpPr>
          <p:nvPr/>
        </p:nvSpPr>
        <p:spPr>
          <a:xfrm xmlns:a="http://schemas.openxmlformats.org/drawingml/2006/main">
            <a:off x="2651760" y="3374136"/>
            <a:ext cx="388620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txBody xmlns:a="http://schemas.openxmlformats.org/drawingml/2006/main">
          <a:bodyPr/>
          <a:p/>
        </p:txBody>
      </p:sp>
      <p:sp>
        <p:nvSpPr>
          <p:cNvPr id="22" name="Shape 20">
            <a:extLst xmlns:a="http://schemas.openxmlformats.org/drawingml/2006/main">
              <a:ext uri="{FF2B5EF4-FFF2-40B4-BE49-F238E27FC236}">
                <a16:creationId xmlns:a16="http://schemas.microsoft.com/office/drawing/2014/main" id="{F4E1A92C-1204-4210-9F3B-060EE5B41960}"/>
              </a:ext>
            </a:extLst>
          </p:cNvPr>
          <p:cNvSpPr>
            <a:spLocks xmlns:a="http://schemas.openxmlformats.org/drawingml/2006/main" noGrp="1"/>
          </p:cNvSpPr>
          <p:nvPr/>
        </p:nvSpPr>
        <p:spPr>
          <a:xfrm xmlns:a="http://schemas.openxmlformats.org/drawingml/2006/main">
            <a:off x="7178040" y="3374136"/>
            <a:ext cx="4233672" cy="0"/>
          </a:xfrm>
          <a:prstGeom xmlns:a="http://schemas.openxmlformats.org/drawingml/2006/main" prst="line">
            <a:avLst/>
          </a:prstGeom>
          <a:noFill xmlns:a="http://schemas.openxmlformats.org/drawingml/2006/main"/>
          <a:ln xmlns:a="http://schemas.openxmlformats.org/drawingml/2006/main" w="9525">
            <a:solidFill>
              <a:srgbClr val="4A4949"/>
            </a:solidFill>
            <a:prstDash val="solid"/>
          </a:ln>
        </p:spPr>
        <p:txBody xmlns:a="http://schemas.openxmlformats.org/drawingml/2006/main">
          <a:bodyPr/>
          <a:p/>
        </p:txBody>
      </p:sp>
      <p:sp>
        <p:nvSpPr>
          <p:cNvPr id="23" name="Text 21">
            <a:extLst xmlns:a="http://schemas.openxmlformats.org/drawingml/2006/main">
              <a:ext uri="{FF2B5EF4-FFF2-40B4-BE49-F238E27FC236}">
                <a16:creationId xmlns:a16="http://schemas.microsoft.com/office/drawing/2014/main" id="{40AF09E8-195B-47B4-BA7A-D0CC66825BC1}"/>
              </a:ext>
            </a:extLst>
          </p:cNvPr>
          <p:cNvSpPr>
            <a:spLocks xmlns:a="http://schemas.openxmlformats.org/drawingml/2006/main" noGrp="1"/>
          </p:cNvSpPr>
          <p:nvPr/>
        </p:nvSpPr>
        <p:spPr>
          <a:xfrm xmlns:a="http://schemas.openxmlformats.org/drawingml/2006/main">
            <a:off x="502920" y="4032504"/>
            <a:ext cx="17373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272626"/>
                </a:solidFill>
                <a:latin typeface="Noto Sans KR"/>
                <a:ea typeface="Noto Sans KR"/>
                <a:cs typeface="Noto Sans KR"/>
              </a:defRPr>
            </a:defPPr>
          </a:lstStyle>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과거 기록</a:t>
            </a:r>
            <a:endParaRPr sz="1300"/>
          </a:p>
        </p:txBody>
      </p:sp>
      <p:sp>
        <p:nvSpPr>
          <p:cNvPr id="24" name="Text 22">
            <a:extLst xmlns:a="http://schemas.openxmlformats.org/drawingml/2006/main">
              <a:ext uri="{FF2B5EF4-FFF2-40B4-BE49-F238E27FC236}">
                <a16:creationId xmlns:a16="http://schemas.microsoft.com/office/drawing/2014/main" id="{2EFC1FB9-615F-40D0-95DD-5B69183BEB81}"/>
              </a:ext>
            </a:extLst>
          </p:cNvPr>
          <p:cNvSpPr>
            <a:spLocks xmlns:a="http://schemas.openxmlformats.org/drawingml/2006/main" noGrp="1"/>
          </p:cNvSpPr>
          <p:nvPr/>
        </p:nvSpPr>
        <p:spPr>
          <a:xfrm xmlns:a="http://schemas.openxmlformats.org/drawingml/2006/main">
            <a:off x="2651760" y="4032504"/>
            <a:ext cx="3886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0">
                <a:solidFill>
                  <a:srgbClr val="5A5A5A"/>
                </a:solidFill>
                <a:latin typeface="Noto Sans KR"/>
                <a:ea typeface="Noto Sans KR"/>
                <a:cs typeface="Noto Sans KR"/>
              </a:defRPr>
            </a:defPPr>
          </a:lstStyle>
          <a:p xmlns:a="http://schemas.openxmlformats.org/drawingml/2006/main">
            <a:pPr marL="0" indent="0" algn="l">
              <a:buNone/>
              <a:defRPr sz="1300" b="0">
                <a:solidFill>
                  <a:srgbClr val="5A5A5A"/>
                </a:solidFill>
                <a:latin typeface="Noto Sans KR"/>
                <a:ea typeface="Noto Sans KR"/>
                <a:cs typeface="Noto Sans KR"/>
              </a:defRPr>
            </a:pPr>
            <a:r>
              <a:rPr sz="1300" b="0">
                <a:solidFill>
                  <a:srgbClr val="5A5A5A"/>
                </a:solidFill>
                <a:latin typeface="Noto Sans KR"/>
                <a:ea typeface="Noto Sans KR"/>
                <a:cs typeface="Noto Sans KR"/>
              </a:rPr>
              <a:t>최근 상태를 AI에 전달</a:t>
            </a:r>
            <a:endParaRPr sz="1300"/>
          </a:p>
        </p:txBody>
      </p:sp>
      <p:sp>
        <p:nvSpPr>
          <p:cNvPr id="25" name="Text 23">
            <a:extLst xmlns:a="http://schemas.openxmlformats.org/drawingml/2006/main">
              <a:ext uri="{FF2B5EF4-FFF2-40B4-BE49-F238E27FC236}">
                <a16:creationId xmlns:a16="http://schemas.microsoft.com/office/drawing/2014/main" id="{FB1F54D5-9167-402E-A09F-5DBCB095CA6B}"/>
              </a:ext>
            </a:extLst>
          </p:cNvPr>
          <p:cNvSpPr>
            <a:spLocks xmlns:a="http://schemas.openxmlformats.org/drawingml/2006/main" noGrp="1"/>
          </p:cNvSpPr>
          <p:nvPr/>
        </p:nvSpPr>
        <p:spPr>
          <a:xfrm xmlns:a="http://schemas.openxmlformats.org/drawingml/2006/main">
            <a:off x="7178040" y="4032504"/>
            <a:ext cx="423367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FFFFFF"/>
                </a:solidFill>
                <a:latin typeface="Noto Sans KR"/>
                <a:ea typeface="Noto Sans KR"/>
                <a:cs typeface="Noto Sans KR"/>
              </a:defRPr>
            </a:defPPr>
          </a:lstStyle>
          <a:p xmlns:a="http://schemas.openxmlformats.org/drawingml/2006/main">
            <a:pPr marL="0" indent="0" algn="l">
              <a:buNone/>
              <a:defRPr sz="1300" b="1">
                <a:solidFill>
                  <a:srgbClr val="FFFFFF"/>
                </a:solidFill>
                <a:latin typeface="Noto Sans KR"/>
                <a:ea typeface="Noto Sans KR"/>
                <a:cs typeface="Noto Sans KR"/>
              </a:defRPr>
            </a:pPr>
            <a:r>
              <a:rPr sz="1300" b="1">
                <a:solidFill>
                  <a:srgbClr val="FFFFFF"/>
                </a:solidFill>
                <a:latin typeface="Noto Sans KR"/>
                <a:ea typeface="Noto Sans KR"/>
                <a:cs typeface="Noto Sans KR"/>
              </a:rPr>
              <a:t>과거 기록 검색과 근거 대조, 다음 확인 제안</a:t>
            </a:r>
            <a:endParaRPr sz="1300"/>
          </a:p>
        </p:txBody>
      </p:sp>
      <p:sp>
        <p:nvSpPr>
          <p:cNvPr id="26" name="Shape 24">
            <a:extLst xmlns:a="http://schemas.openxmlformats.org/drawingml/2006/main">
              <a:ext uri="{FF2B5EF4-FFF2-40B4-BE49-F238E27FC236}">
                <a16:creationId xmlns:a16="http://schemas.microsoft.com/office/drawing/2014/main" id="{DEBAE775-0C67-4E35-BF64-C39079DF042C}"/>
              </a:ext>
            </a:extLst>
          </p:cNvPr>
          <p:cNvSpPr>
            <a:spLocks xmlns:a="http://schemas.openxmlformats.org/drawingml/2006/main" noGrp="1"/>
          </p:cNvSpPr>
          <p:nvPr/>
        </p:nvSpPr>
        <p:spPr>
          <a:xfrm xmlns:a="http://schemas.openxmlformats.org/drawingml/2006/main">
            <a:off x="2651760" y="4032504"/>
            <a:ext cx="388620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txBody xmlns:a="http://schemas.openxmlformats.org/drawingml/2006/main">
          <a:bodyPr/>
          <a:p/>
        </p:txBody>
      </p:sp>
      <p:sp>
        <p:nvSpPr>
          <p:cNvPr id="27" name="Shape 25">
            <a:extLst xmlns:a="http://schemas.openxmlformats.org/drawingml/2006/main">
              <a:ext uri="{FF2B5EF4-FFF2-40B4-BE49-F238E27FC236}">
                <a16:creationId xmlns:a16="http://schemas.microsoft.com/office/drawing/2014/main" id="{58706CC4-3413-4AA3-BA32-A7A8B0879FFA}"/>
              </a:ext>
            </a:extLst>
          </p:cNvPr>
          <p:cNvSpPr>
            <a:spLocks xmlns:a="http://schemas.openxmlformats.org/drawingml/2006/main" noGrp="1"/>
          </p:cNvSpPr>
          <p:nvPr/>
        </p:nvSpPr>
        <p:spPr>
          <a:xfrm xmlns:a="http://schemas.openxmlformats.org/drawingml/2006/main">
            <a:off x="7178040" y="4032504"/>
            <a:ext cx="4233672" cy="0"/>
          </a:xfrm>
          <a:prstGeom xmlns:a="http://schemas.openxmlformats.org/drawingml/2006/main" prst="line">
            <a:avLst/>
          </a:prstGeom>
          <a:noFill xmlns:a="http://schemas.openxmlformats.org/drawingml/2006/main"/>
          <a:ln xmlns:a="http://schemas.openxmlformats.org/drawingml/2006/main" w="9525">
            <a:solidFill>
              <a:srgbClr val="4A4949"/>
            </a:solidFill>
            <a:prstDash val="solid"/>
          </a:ln>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AA6D27AF-406C-4289-B8E6-25D5FF7E08F5}"/>
              </a:ext>
            </a:extLst>
          </p:cNvPr>
          <p:cNvSpPr>
            <a:spLocks xmlns:a="http://schemas.openxmlformats.org/drawingml/2006/main" noGrp="1"/>
          </p:cNvSpPr>
          <p:nvPr/>
        </p:nvSpPr>
        <p:spPr>
          <a:xfrm xmlns:a="http://schemas.openxmlformats.org/drawingml/2006/main">
            <a:off x="502920" y="4690872"/>
            <a:ext cx="17373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272626"/>
                </a:solidFill>
                <a:latin typeface="Noto Sans KR"/>
                <a:ea typeface="Noto Sans KR"/>
                <a:cs typeface="Noto Sans KR"/>
              </a:defRPr>
            </a:defPPr>
          </a:lstStyle>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장비 구성</a:t>
            </a:r>
            <a:endParaRPr sz="1300"/>
          </a:p>
        </p:txBody>
      </p:sp>
      <p:sp>
        <p:nvSpPr>
          <p:cNvPr id="29" name="Text 27">
            <a:extLst xmlns:a="http://schemas.openxmlformats.org/drawingml/2006/main">
              <a:ext uri="{FF2B5EF4-FFF2-40B4-BE49-F238E27FC236}">
                <a16:creationId xmlns:a16="http://schemas.microsoft.com/office/drawing/2014/main" id="{7B58753A-0ABB-4DE8-9BA9-232362BCA48C}"/>
              </a:ext>
            </a:extLst>
          </p:cNvPr>
          <p:cNvSpPr>
            <a:spLocks xmlns:a="http://schemas.openxmlformats.org/drawingml/2006/main" noGrp="1"/>
          </p:cNvSpPr>
          <p:nvPr/>
        </p:nvSpPr>
        <p:spPr>
          <a:xfrm xmlns:a="http://schemas.openxmlformats.org/drawingml/2006/main">
            <a:off x="2651760" y="4690872"/>
            <a:ext cx="3886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0">
                <a:solidFill>
                  <a:srgbClr val="5A5A5A"/>
                </a:solidFill>
                <a:latin typeface="Noto Sans KR"/>
                <a:ea typeface="Noto Sans KR"/>
                <a:cs typeface="Noto Sans KR"/>
              </a:defRPr>
            </a:defPPr>
          </a:lstStyle>
          <a:p xmlns:a="http://schemas.openxmlformats.org/drawingml/2006/main">
            <a:pPr marL="0" indent="0" algn="l">
              <a:buNone/>
              <a:defRPr sz="1300" b="0">
                <a:solidFill>
                  <a:srgbClr val="5A5A5A"/>
                </a:solidFill>
                <a:latin typeface="Noto Sans KR"/>
                <a:ea typeface="Noto Sans KR"/>
                <a:cs typeface="Noto Sans KR"/>
              </a:defRPr>
            </a:pPr>
            <a:r>
              <a:rPr sz="1300" b="0">
                <a:solidFill>
                  <a:srgbClr val="5A5A5A"/>
                </a:solidFill>
                <a:latin typeface="Noto Sans KR"/>
                <a:ea typeface="Noto Sans KR"/>
                <a:cs typeface="Noto Sans KR"/>
              </a:rPr>
              <a:t>카메라·마이크·온습도 센서·스피커</a:t>
            </a:r>
            <a:endParaRPr sz="1300"/>
          </a:p>
        </p:txBody>
      </p:sp>
      <p:sp>
        <p:nvSpPr>
          <p:cNvPr id="30" name="Text 28">
            <a:extLst xmlns:a="http://schemas.openxmlformats.org/drawingml/2006/main">
              <a:ext uri="{FF2B5EF4-FFF2-40B4-BE49-F238E27FC236}">
                <a16:creationId xmlns:a16="http://schemas.microsoft.com/office/drawing/2014/main" id="{0309781E-F85D-4702-A491-B778290D4444}"/>
              </a:ext>
            </a:extLst>
          </p:cNvPr>
          <p:cNvSpPr>
            <a:spLocks xmlns:a="http://schemas.openxmlformats.org/drawingml/2006/main" noGrp="1"/>
          </p:cNvSpPr>
          <p:nvPr/>
        </p:nvSpPr>
        <p:spPr>
          <a:xfrm xmlns:a="http://schemas.openxmlformats.org/drawingml/2006/main">
            <a:off x="7178040" y="4690872"/>
            <a:ext cx="423367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FFFFFF"/>
                </a:solidFill>
                <a:latin typeface="Noto Sans KR"/>
                <a:ea typeface="Noto Sans KR"/>
                <a:cs typeface="Noto Sans KR"/>
              </a:defRPr>
            </a:defPPr>
          </a:lstStyle>
          <a:p xmlns:a="http://schemas.openxmlformats.org/drawingml/2006/main">
            <a:pPr marL="0" indent="0" algn="l">
              <a:buNone/>
              <a:defRPr sz="1300" b="1">
                <a:solidFill>
                  <a:srgbClr val="FFFFFF"/>
                </a:solidFill>
                <a:latin typeface="Noto Sans KR"/>
                <a:ea typeface="Noto Sans KR"/>
                <a:cs typeface="Noto Sans KR"/>
              </a:defRPr>
            </a:pPr>
            <a:r>
              <a:rPr sz="1300" b="1">
                <a:solidFill>
                  <a:srgbClr val="FFFFFF"/>
                </a:solidFill>
                <a:latin typeface="Noto Sans KR"/>
                <a:ea typeface="Noto Sans KR"/>
                <a:cs typeface="Noto Sans KR"/>
              </a:rPr>
              <a:t>마이크 분석과 카메라 상황 확인에 집중</a:t>
            </a:r>
            <a:endParaRPr sz="1300"/>
          </a:p>
        </p:txBody>
      </p:sp>
      <p:sp>
        <p:nvSpPr>
          <p:cNvPr id="31" name="Shape 29">
            <a:extLst xmlns:a="http://schemas.openxmlformats.org/drawingml/2006/main">
              <a:ext uri="{FF2B5EF4-FFF2-40B4-BE49-F238E27FC236}">
                <a16:creationId xmlns:a16="http://schemas.microsoft.com/office/drawing/2014/main" id="{F8416DF1-7C80-47E8-9154-8065072BD710}"/>
              </a:ext>
            </a:extLst>
          </p:cNvPr>
          <p:cNvSpPr>
            <a:spLocks xmlns:a="http://schemas.openxmlformats.org/drawingml/2006/main" noGrp="1"/>
          </p:cNvSpPr>
          <p:nvPr/>
        </p:nvSpPr>
        <p:spPr>
          <a:xfrm xmlns:a="http://schemas.openxmlformats.org/drawingml/2006/main">
            <a:off x="2651760" y="4690872"/>
            <a:ext cx="388620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txBody xmlns:a="http://schemas.openxmlformats.org/drawingml/2006/main">
          <a:bodyPr/>
          <a:p/>
        </p:txBody>
      </p:sp>
      <p:sp>
        <p:nvSpPr>
          <p:cNvPr id="32" name="Shape 30">
            <a:extLst xmlns:a="http://schemas.openxmlformats.org/drawingml/2006/main">
              <a:ext uri="{FF2B5EF4-FFF2-40B4-BE49-F238E27FC236}">
                <a16:creationId xmlns:a16="http://schemas.microsoft.com/office/drawing/2014/main" id="{8D76F5BD-C9F3-4B85-A76D-35A06286CCB3}"/>
              </a:ext>
            </a:extLst>
          </p:cNvPr>
          <p:cNvSpPr>
            <a:spLocks xmlns:a="http://schemas.openxmlformats.org/drawingml/2006/main" noGrp="1"/>
          </p:cNvSpPr>
          <p:nvPr/>
        </p:nvSpPr>
        <p:spPr>
          <a:xfrm xmlns:a="http://schemas.openxmlformats.org/drawingml/2006/main">
            <a:off x="7178040" y="4690872"/>
            <a:ext cx="4233672" cy="0"/>
          </a:xfrm>
          <a:prstGeom xmlns:a="http://schemas.openxmlformats.org/drawingml/2006/main" prst="line">
            <a:avLst/>
          </a:prstGeom>
          <a:noFill xmlns:a="http://schemas.openxmlformats.org/drawingml/2006/main"/>
          <a:ln xmlns:a="http://schemas.openxmlformats.org/drawingml/2006/main" w="9525">
            <a:solidFill>
              <a:srgbClr val="4A4949"/>
            </a:solidFill>
            <a:prstDash val="solid"/>
          </a:ln>
        </p:spPr>
        <p:txBody xmlns:a="http://schemas.openxmlformats.org/drawingml/2006/main">
          <a:bodyPr/>
          <a:p/>
        </p:txBody>
      </p:sp>
      <p:sp>
        <p:nvSpPr>
          <p:cNvPr id="33" name="Text 31">
            <a:extLst xmlns:a="http://schemas.openxmlformats.org/drawingml/2006/main">
              <a:ext uri="{FF2B5EF4-FFF2-40B4-BE49-F238E27FC236}">
                <a16:creationId xmlns:a16="http://schemas.microsoft.com/office/drawing/2014/main" id="{7F83B5FF-3616-4F17-9DF5-2ED0D5C38168}"/>
              </a:ext>
            </a:extLst>
          </p:cNvPr>
          <p:cNvSpPr>
            <a:spLocks xmlns:a="http://schemas.openxmlformats.org/drawingml/2006/main" noGrp="1"/>
          </p:cNvSpPr>
          <p:nvPr/>
        </p:nvSpPr>
        <p:spPr>
          <a:xfrm xmlns:a="http://schemas.openxmlformats.org/drawingml/2006/main">
            <a:off x="502920" y="5349240"/>
            <a:ext cx="17373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272626"/>
                </a:solidFill>
                <a:latin typeface="Noto Sans KR"/>
                <a:ea typeface="Noto Sans KR"/>
                <a:cs typeface="Noto Sans KR"/>
              </a:defRPr>
            </a:defPPr>
          </a:lstStyle>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완료 기준</a:t>
            </a:r>
            <a:endParaRPr sz="1300"/>
          </a:p>
        </p:txBody>
      </p:sp>
      <p:sp>
        <p:nvSpPr>
          <p:cNvPr id="34" name="Text 32">
            <a:extLst xmlns:a="http://schemas.openxmlformats.org/drawingml/2006/main">
              <a:ext uri="{FF2B5EF4-FFF2-40B4-BE49-F238E27FC236}">
                <a16:creationId xmlns:a16="http://schemas.microsoft.com/office/drawing/2014/main" id="{04146D93-0C7A-4045-9CFB-DB736DD2478A}"/>
              </a:ext>
            </a:extLst>
          </p:cNvPr>
          <p:cNvSpPr>
            <a:spLocks xmlns:a="http://schemas.openxmlformats.org/drawingml/2006/main" noGrp="1"/>
          </p:cNvSpPr>
          <p:nvPr/>
        </p:nvSpPr>
        <p:spPr>
          <a:xfrm xmlns:a="http://schemas.openxmlformats.org/drawingml/2006/main">
            <a:off x="2651760" y="5349240"/>
            <a:ext cx="3886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0">
                <a:solidFill>
                  <a:srgbClr val="5A5A5A"/>
                </a:solidFill>
                <a:latin typeface="Noto Sans KR"/>
                <a:ea typeface="Noto Sans KR"/>
                <a:cs typeface="Noto Sans KR"/>
              </a:defRPr>
            </a:defPPr>
          </a:lstStyle>
          <a:p xmlns:a="http://schemas.openxmlformats.org/drawingml/2006/main">
            <a:pPr marL="0" indent="0" algn="l">
              <a:buNone/>
              <a:defRPr sz="1300" b="0">
                <a:solidFill>
                  <a:srgbClr val="5A5A5A"/>
                </a:solidFill>
                <a:latin typeface="Noto Sans KR"/>
                <a:ea typeface="Noto Sans KR"/>
                <a:cs typeface="Noto Sans KR"/>
              </a:defRPr>
            </a:pPr>
            <a:r>
              <a:rPr sz="1300" b="0">
                <a:solidFill>
                  <a:srgbClr val="5A5A5A"/>
                </a:solidFill>
                <a:latin typeface="Noto Sans KR"/>
                <a:ea typeface="Noto Sans KR"/>
                <a:cs typeface="Noto Sans KR"/>
              </a:rPr>
              <a:t>목표 성능과 전체 동작 시나리오</a:t>
            </a:r>
            <a:endParaRPr sz="1300"/>
          </a:p>
        </p:txBody>
      </p:sp>
      <p:sp>
        <p:nvSpPr>
          <p:cNvPr id="35" name="Text 33">
            <a:extLst xmlns:a="http://schemas.openxmlformats.org/drawingml/2006/main">
              <a:ext uri="{FF2B5EF4-FFF2-40B4-BE49-F238E27FC236}">
                <a16:creationId xmlns:a16="http://schemas.microsoft.com/office/drawing/2014/main" id="{263DD852-77EA-4215-8BE9-215C8F54E2EC}"/>
              </a:ext>
            </a:extLst>
          </p:cNvPr>
          <p:cNvSpPr>
            <a:spLocks xmlns:a="http://schemas.openxmlformats.org/drawingml/2006/main" noGrp="1"/>
          </p:cNvSpPr>
          <p:nvPr/>
        </p:nvSpPr>
        <p:spPr>
          <a:xfrm xmlns:a="http://schemas.openxmlformats.org/drawingml/2006/main">
            <a:off x="7178040" y="5349240"/>
            <a:ext cx="423367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FFFFFF"/>
                </a:solidFill>
                <a:latin typeface="Noto Sans KR"/>
                <a:ea typeface="Noto Sans KR"/>
                <a:cs typeface="Noto Sans KR"/>
              </a:defRPr>
            </a:defPPr>
          </a:lstStyle>
          <a:p xmlns:a="http://schemas.openxmlformats.org/drawingml/2006/main">
            <a:pPr marL="0" indent="0" algn="l">
              <a:buNone/>
              <a:defRPr sz="1300" b="1">
                <a:solidFill>
                  <a:srgbClr val="FFFFFF"/>
                </a:solidFill>
                <a:latin typeface="Noto Sans KR"/>
                <a:ea typeface="Noto Sans KR"/>
                <a:cs typeface="Noto Sans KR"/>
              </a:defRPr>
            </a:pPr>
            <a:r>
              <a:rPr sz="1300" b="1">
                <a:solidFill>
                  <a:srgbClr val="FFFFFF"/>
                </a:solidFill>
                <a:latin typeface="Noto Sans KR"/>
                <a:ea typeface="Noto Sans KR"/>
                <a:cs typeface="Noto Sans KR"/>
              </a:rPr>
              <a:t>구현한 기능과 실제로 시험한 범위를 구분</a:t>
            </a:r>
            <a:endParaRPr sz="1300"/>
          </a:p>
        </p:txBody>
      </p:sp>
      <p:sp>
        <p:nvSpPr>
          <p:cNvPr id="36" name="Shape 34">
            <a:extLst xmlns:a="http://schemas.openxmlformats.org/drawingml/2006/main">
              <a:ext uri="{FF2B5EF4-FFF2-40B4-BE49-F238E27FC236}">
                <a16:creationId xmlns:a16="http://schemas.microsoft.com/office/drawing/2014/main" id="{E4897A34-A0C7-4BDB-8E00-7E17C5716A65}"/>
              </a:ext>
            </a:extLst>
          </p:cNvPr>
          <p:cNvSpPr>
            <a:spLocks xmlns:a="http://schemas.openxmlformats.org/drawingml/2006/main" noGrp="1"/>
          </p:cNvSpPr>
          <p:nvPr/>
        </p:nvSpPr>
        <p:spPr>
          <a:xfrm xmlns:a="http://schemas.openxmlformats.org/drawingml/2006/main">
            <a:off x="2651760" y="5349240"/>
            <a:ext cx="388620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txBody xmlns:a="http://schemas.openxmlformats.org/drawingml/2006/main">
          <a:bodyPr/>
          <a:p/>
        </p:txBody>
      </p:sp>
      <p:sp>
        <p:nvSpPr>
          <p:cNvPr id="37" name="Shape 35">
            <a:extLst xmlns:a="http://schemas.openxmlformats.org/drawingml/2006/main">
              <a:ext uri="{FF2B5EF4-FFF2-40B4-BE49-F238E27FC236}">
                <a16:creationId xmlns:a16="http://schemas.microsoft.com/office/drawing/2014/main" id="{F5A0B2D4-1096-4472-B5AA-D45C9DBB95B3}"/>
              </a:ext>
            </a:extLst>
          </p:cNvPr>
          <p:cNvSpPr>
            <a:spLocks xmlns:a="http://schemas.openxmlformats.org/drawingml/2006/main" noGrp="1"/>
          </p:cNvSpPr>
          <p:nvPr/>
        </p:nvSpPr>
        <p:spPr>
          <a:xfrm xmlns:a="http://schemas.openxmlformats.org/drawingml/2006/main">
            <a:off x="7178040" y="5349240"/>
            <a:ext cx="4233672" cy="0"/>
          </a:xfrm>
          <a:prstGeom xmlns:a="http://schemas.openxmlformats.org/drawingml/2006/main" prst="line">
            <a:avLst/>
          </a:prstGeom>
          <a:noFill xmlns:a="http://schemas.openxmlformats.org/drawingml/2006/main"/>
          <a:ln xmlns:a="http://schemas.openxmlformats.org/drawingml/2006/main" w="9525">
            <a:solidFill>
              <a:srgbClr val="4A4949"/>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E7014AA3-8D98-4E92-9E6C-75238958BACD}"/>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4 / 23</a:t>
            </a:r>
            <a:endParaRPr sz="900"/>
          </a:p>
        </p:txBody>
      </p:sp>
    </p:spTree>
    <p:extLst>
      <p:ext uri="{BB962C8B-B14F-4D97-AF65-F5344CB8AC3E}">
        <p14:creationId xmlns:p14="http://schemas.microsoft.com/office/powerpoint/2010/main" val="1171932368"/>
      </p:ext>
    </p:extLst>
  </p:cSld>
</p:sld>
</file>

<file path=ppt/slides/slide5.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E170D62-BCCC-4F9F-8AB1-F55E572D3A2F}"/>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A2A921CC-CCAB-4355-BF4E-5977E8721631}"/>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Noto Sans KR"/>
                <a:ea typeface="Noto Sans KR"/>
                <a:cs typeface="Noto Sans KR"/>
              </a:rPr>
              <a:t>02</a:t>
            </a:r>
            <a:endParaRPr sz="1000"/>
          </a:p>
        </p:txBody>
      </p:sp>
      <p:sp>
        <p:nvSpPr>
          <p:cNvPr id="4" name="Text 2">
            <a:extLst xmlns:a="http://schemas.openxmlformats.org/drawingml/2006/main">
              <a:ext uri="{FF2B5EF4-FFF2-40B4-BE49-F238E27FC236}">
                <a16:creationId xmlns:a16="http://schemas.microsoft.com/office/drawing/2014/main" id="{213D62E7-1EA0-4B12-8F8D-F1079B9E9BB6}"/>
              </a:ext>
            </a:extLst>
          </p:cNvPr>
          <p:cNvSpPr>
            <a:spLocks xmlns:a="http://schemas.openxmlformats.org/drawingml/2006/main" noGrp="1"/>
          </p:cNvSpPr>
          <p:nvPr/>
        </p:nvSpPr>
        <p:spPr>
          <a:xfrm xmlns:a="http://schemas.openxmlformats.org/drawingml/2006/main">
            <a:off x="1207008"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8A8A8A"/>
                </a:solidFill>
                <a:latin typeface="Noto Sans KR"/>
                <a:ea typeface="Noto Sans KR"/>
                <a:cs typeface="Noto Sans KR"/>
              </a:rPr>
              <a:t>프로젝트 개요</a:t>
            </a:r>
            <a:endParaRPr sz="1100"/>
          </a:p>
        </p:txBody>
      </p:sp>
      <p:sp>
        <p:nvSpPr>
          <p:cNvPr id="5" name="Text 3">
            <a:extLst xmlns:a="http://schemas.openxmlformats.org/drawingml/2006/main">
              <a:ext uri="{FF2B5EF4-FFF2-40B4-BE49-F238E27FC236}">
                <a16:creationId xmlns:a16="http://schemas.microsoft.com/office/drawing/2014/main" id="{83BF9AF3-C681-485F-92E1-81AF0C17AB7A}"/>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프로젝트 목표와 담당 역할</a:t>
            </a:r>
            <a:endParaRPr sz="2600"/>
          </a:p>
        </p:txBody>
      </p:sp>
      <p:sp>
        <p:nvSpPr>
          <p:cNvPr id="6" name="Shape 4">
            <a:extLst xmlns:a="http://schemas.openxmlformats.org/drawingml/2006/main">
              <a:ext uri="{FF2B5EF4-FFF2-40B4-BE49-F238E27FC236}">
                <a16:creationId xmlns:a16="http://schemas.microsoft.com/office/drawing/2014/main" id="{7B11C679-1AF6-427B-A764-E358C519152B}"/>
              </a:ext>
            </a:extLst>
          </p:cNvPr>
          <p:cNvSpPr>
            <a:spLocks xmlns:a="http://schemas.openxmlformats.org/drawingml/2006/main" noGrp="1"/>
          </p:cNvSpPr>
          <p:nvPr/>
        </p:nvSpPr>
        <p:spPr>
          <a:xfrm xmlns:a="http://schemas.openxmlformats.org/drawingml/2006/main">
            <a:off x="502920" y="1600200"/>
            <a:ext cx="5486400" cy="3611880"/>
          </a:xfrm>
          <a:prstGeom xmlns:a="http://schemas.openxmlformats.org/drawingml/2006/main" prst="roundRect">
            <a:avLst>
              <a:gd name="adj" fmla="val 2025"/>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61E602D1-4688-4774-B061-241CE6D48CF9}"/>
              </a:ext>
            </a:extLst>
          </p:cNvPr>
          <p:cNvSpPr>
            <a:spLocks xmlns:a="http://schemas.openxmlformats.org/drawingml/2006/main" noGrp="1"/>
          </p:cNvSpPr>
          <p:nvPr/>
        </p:nvSpPr>
        <p:spPr>
          <a:xfrm xmlns:a="http://schemas.openxmlformats.org/drawingml/2006/main">
            <a:off x="6199632" y="1600200"/>
            <a:ext cx="5486400" cy="3611880"/>
          </a:xfrm>
          <a:prstGeom xmlns:a="http://schemas.openxmlformats.org/drawingml/2006/main" prst="roundRect">
            <a:avLst>
              <a:gd name="adj" fmla="val 2025"/>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F5951FD3-4056-4494-A53A-221C43D266DA}"/>
              </a:ext>
            </a:extLst>
          </p:cNvPr>
          <p:cNvSpPr>
            <a:spLocks xmlns:a="http://schemas.openxmlformats.org/drawingml/2006/main" noGrp="1"/>
          </p:cNvSpPr>
          <p:nvPr/>
        </p:nvSpPr>
        <p:spPr>
          <a:xfrm xmlns:a="http://schemas.openxmlformats.org/drawingml/2006/main">
            <a:off x="777240" y="1828800"/>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400" b="1">
                <a:solidFill>
                  <a:srgbClr val="272626"/>
                </a:solidFill>
                <a:latin typeface="Noto Sans KR"/>
                <a:ea typeface="Noto Sans KR"/>
                <a:cs typeface="Noto Sans KR"/>
              </a:defRPr>
            </a:defPPr>
          </a:lstStyle>
          <a:p xmlns:a="http://schemas.openxmlformats.org/drawingml/2006/main">
            <a:pPr marL="0" indent="0" algn="l">
              <a:buNone/>
              <a:defRPr sz="1400" b="1">
                <a:solidFill>
                  <a:srgbClr val="272626"/>
                </a:solidFill>
                <a:latin typeface="Noto Sans KR"/>
                <a:ea typeface="Noto Sans KR"/>
                <a:cs typeface="Noto Sans KR"/>
              </a:defRPr>
            </a:pPr>
            <a:r>
              <a:rPr sz="1400" b="1">
                <a:solidFill>
                  <a:srgbClr val="272626"/>
                </a:solidFill>
                <a:latin typeface="Noto Sans KR"/>
                <a:ea typeface="Noto Sans KR"/>
                <a:cs typeface="Noto Sans KR"/>
              </a:rPr>
              <a:t>최종적으로 확인할 것</a:t>
            </a:r>
            <a:endParaRPr sz="1400"/>
          </a:p>
        </p:txBody>
      </p:sp>
      <p:sp>
        <p:nvSpPr>
          <p:cNvPr id="9" name="Text 7">
            <a:extLst xmlns:a="http://schemas.openxmlformats.org/drawingml/2006/main">
              <a:ext uri="{FF2B5EF4-FFF2-40B4-BE49-F238E27FC236}">
                <a16:creationId xmlns:a16="http://schemas.microsoft.com/office/drawing/2014/main" id="{47A3031E-49D5-459A-88D4-36DCE6F8B387}"/>
              </a:ext>
            </a:extLst>
          </p:cNvPr>
          <p:cNvSpPr>
            <a:spLocks xmlns:a="http://schemas.openxmlformats.org/drawingml/2006/main" noGrp="1"/>
          </p:cNvSpPr>
          <p:nvPr/>
        </p:nvSpPr>
        <p:spPr>
          <a:xfrm xmlns:a="http://schemas.openxmlformats.org/drawingml/2006/main">
            <a:off x="777240" y="228600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50" b="1">
                <a:solidFill>
                  <a:srgbClr val="272626"/>
                </a:solidFill>
                <a:latin typeface="Noto Sans KR"/>
                <a:ea typeface="Noto Sans KR"/>
                <a:cs typeface="Noto Sans KR"/>
              </a:defRPr>
            </a:defPPr>
          </a:lstStyle>
          <a:p xmlns:a="http://schemas.openxmlformats.org/drawingml/2006/main">
            <a:pPr marL="0" indent="0" algn="l">
              <a:buNone/>
              <a:defRPr sz="1250" b="1">
                <a:solidFill>
                  <a:srgbClr val="272626"/>
                </a:solidFill>
                <a:latin typeface="Noto Sans KR"/>
                <a:ea typeface="Noto Sans KR"/>
                <a:cs typeface="Noto Sans KR"/>
              </a:defRPr>
            </a:pPr>
            <a:r>
              <a:rPr sz="1250" b="1">
                <a:solidFill>
                  <a:srgbClr val="272626"/>
                </a:solidFill>
                <a:latin typeface="Noto Sans KR"/>
                <a:ea typeface="Noto Sans KR"/>
                <a:cs typeface="Noto Sans KR"/>
              </a:rPr>
              <a:t>외출 중 자동 관찰</a:t>
            </a:r>
            <a:endParaRPr sz="1250"/>
          </a:p>
        </p:txBody>
      </p:sp>
      <p:sp>
        <p:nvSpPr>
          <p:cNvPr id="10" name="Text 8">
            <a:extLst xmlns:a="http://schemas.openxmlformats.org/drawingml/2006/main">
              <a:ext uri="{FF2B5EF4-FFF2-40B4-BE49-F238E27FC236}">
                <a16:creationId xmlns:a16="http://schemas.microsoft.com/office/drawing/2014/main" id="{CAFAAE5D-5EED-4BC8-B83B-A1E59C264761}"/>
              </a:ext>
            </a:extLst>
          </p:cNvPr>
          <p:cNvSpPr>
            <a:spLocks xmlns:a="http://schemas.openxmlformats.org/drawingml/2006/main" noGrp="1"/>
          </p:cNvSpPr>
          <p:nvPr/>
        </p:nvSpPr>
        <p:spPr>
          <a:xfrm xmlns:a="http://schemas.openxmlformats.org/drawingml/2006/main">
            <a:off x="777240" y="2569464"/>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00" b="0">
                <a:solidFill>
                  <a:srgbClr val="8A8A8A"/>
                </a:solidFill>
                <a:latin typeface="Noto Sans KR"/>
                <a:ea typeface="Noto Sans KR"/>
                <a:cs typeface="Noto Sans KR"/>
              </a:defRPr>
            </a:defPPr>
          </a:lstStyle>
          <a:p xmlns:a="http://schemas.openxmlformats.org/drawingml/2006/main">
            <a:pPr marL="0" indent="0" algn="l">
              <a:buNone/>
              <a:defRPr sz="1000" b="0">
                <a:solidFill>
                  <a:srgbClr val="8A8A8A"/>
                </a:solidFill>
                <a:latin typeface="Noto Sans KR"/>
                <a:ea typeface="Noto Sans KR"/>
                <a:cs typeface="Noto Sans KR"/>
              </a:defRPr>
            </a:pPr>
            <a:r>
              <a:rPr sz="1000" b="0">
                <a:solidFill>
                  <a:srgbClr val="8A8A8A"/>
                </a:solidFill>
                <a:latin typeface="Noto Sans KR"/>
                <a:ea typeface="Noto Sans KR"/>
                <a:cs typeface="Noto Sans KR"/>
              </a:rPr>
              <a:t>외출 시작부터 귀가까지 자동 녹음</a:t>
            </a:r>
            <a:endParaRPr sz="1000"/>
          </a:p>
        </p:txBody>
      </p:sp>
      <p:sp>
        <p:nvSpPr>
          <p:cNvPr id="11" name="Text 9">
            <a:extLst xmlns:a="http://schemas.openxmlformats.org/drawingml/2006/main">
              <a:ext uri="{FF2B5EF4-FFF2-40B4-BE49-F238E27FC236}">
                <a16:creationId xmlns:a16="http://schemas.microsoft.com/office/drawing/2014/main" id="{CDB00509-963D-4A2C-98D5-ED5D2D811B39}"/>
              </a:ext>
            </a:extLst>
          </p:cNvPr>
          <p:cNvSpPr>
            <a:spLocks xmlns:a="http://schemas.openxmlformats.org/drawingml/2006/main" noGrp="1"/>
          </p:cNvSpPr>
          <p:nvPr/>
        </p:nvSpPr>
        <p:spPr>
          <a:xfrm xmlns:a="http://schemas.openxmlformats.org/drawingml/2006/main">
            <a:off x="3977640" y="2240280"/>
            <a:ext cx="17373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r">
              <a:defRPr sz="1800" b="1">
                <a:solidFill>
                  <a:srgbClr val="272626"/>
                </a:solidFill>
                <a:latin typeface="Noto Sans KR"/>
                <a:ea typeface="Noto Sans KR"/>
                <a:cs typeface="Noto Sans KR"/>
              </a:defRPr>
            </a:defPPr>
          </a:lstStyle>
          <a:p xmlns:a="http://schemas.openxmlformats.org/drawingml/2006/main">
            <a:pPr marL="0" indent="0" algn="r">
              <a:buNone/>
              <a:defRPr sz="1800" b="1">
                <a:solidFill>
                  <a:srgbClr val="272626"/>
                </a:solidFill>
                <a:latin typeface="Noto Sans KR"/>
                <a:ea typeface="Noto Sans KR"/>
                <a:cs typeface="Noto Sans KR"/>
              </a:defRPr>
            </a:pPr>
            <a:r>
              <a:rPr sz="1800" b="1">
                <a:solidFill>
                  <a:srgbClr val="272626"/>
                </a:solidFill>
                <a:latin typeface="Noto Sans KR"/>
                <a:ea typeface="Noto Sans KR"/>
                <a:cs typeface="Noto Sans KR"/>
              </a:rPr>
              <a:t>장비 연결</a:t>
            </a:r>
            <a:endParaRPr sz="1800"/>
          </a:p>
        </p:txBody>
      </p:sp>
      <p:sp>
        <p:nvSpPr>
          <p:cNvPr id="12" name="Shape 10">
            <a:extLst xmlns:a="http://schemas.openxmlformats.org/drawingml/2006/main">
              <a:ext uri="{FF2B5EF4-FFF2-40B4-BE49-F238E27FC236}">
                <a16:creationId xmlns:a16="http://schemas.microsoft.com/office/drawing/2014/main" id="{0BEFE40F-D56A-46DF-9AEF-10E1ACD80BB2}"/>
              </a:ext>
            </a:extLst>
          </p:cNvPr>
          <p:cNvSpPr>
            <a:spLocks xmlns:a="http://schemas.openxmlformats.org/drawingml/2006/main" noGrp="1"/>
          </p:cNvSpPr>
          <p:nvPr/>
        </p:nvSpPr>
        <p:spPr>
          <a:xfrm xmlns:a="http://schemas.openxmlformats.org/drawingml/2006/main">
            <a:off x="777240" y="2926080"/>
            <a:ext cx="493776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618D243A-77BF-4CCB-B611-409098611DB8}"/>
              </a:ext>
            </a:extLst>
          </p:cNvPr>
          <p:cNvSpPr>
            <a:spLocks xmlns:a="http://schemas.openxmlformats.org/drawingml/2006/main" noGrp="1"/>
          </p:cNvSpPr>
          <p:nvPr/>
        </p:nvSpPr>
        <p:spPr>
          <a:xfrm xmlns:a="http://schemas.openxmlformats.org/drawingml/2006/main">
            <a:off x="777240" y="301752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50" b="1">
                <a:solidFill>
                  <a:srgbClr val="272626"/>
                </a:solidFill>
                <a:latin typeface="Noto Sans KR"/>
                <a:ea typeface="Noto Sans KR"/>
                <a:cs typeface="Noto Sans KR"/>
              </a:defRPr>
            </a:defPPr>
          </a:lstStyle>
          <a:p xmlns:a="http://schemas.openxmlformats.org/drawingml/2006/main">
            <a:pPr marL="0" indent="0" algn="l">
              <a:buNone/>
              <a:defRPr sz="1250" b="1">
                <a:solidFill>
                  <a:srgbClr val="272626"/>
                </a:solidFill>
                <a:latin typeface="Noto Sans KR"/>
                <a:ea typeface="Noto Sans KR"/>
                <a:cs typeface="Noto Sans KR"/>
              </a:defRPr>
            </a:pPr>
            <a:r>
              <a:rPr sz="1250" b="1">
                <a:solidFill>
                  <a:srgbClr val="272626"/>
                </a:solidFill>
                <a:latin typeface="Noto Sans KR"/>
                <a:ea typeface="Noto Sans KR"/>
                <a:cs typeface="Noto Sans KR"/>
              </a:rPr>
              <a:t>짖음 분석 결과</a:t>
            </a:r>
            <a:endParaRPr sz="1250"/>
          </a:p>
        </p:txBody>
      </p:sp>
      <p:sp>
        <p:nvSpPr>
          <p:cNvPr id="14" name="Text 12">
            <a:extLst xmlns:a="http://schemas.openxmlformats.org/drawingml/2006/main">
              <a:ext uri="{FF2B5EF4-FFF2-40B4-BE49-F238E27FC236}">
                <a16:creationId xmlns:a16="http://schemas.microsoft.com/office/drawing/2014/main" id="{9E37D298-6908-464E-8756-BD466E244251}"/>
              </a:ext>
            </a:extLst>
          </p:cNvPr>
          <p:cNvSpPr>
            <a:spLocks xmlns:a="http://schemas.openxmlformats.org/drawingml/2006/main" noGrp="1"/>
          </p:cNvSpPr>
          <p:nvPr/>
        </p:nvSpPr>
        <p:spPr>
          <a:xfrm xmlns:a="http://schemas.openxmlformats.org/drawingml/2006/main">
            <a:off x="777240" y="3300984"/>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00" b="0">
                <a:solidFill>
                  <a:srgbClr val="8A8A8A"/>
                </a:solidFill>
                <a:latin typeface="Noto Sans KR"/>
                <a:ea typeface="Noto Sans KR"/>
                <a:cs typeface="Noto Sans KR"/>
              </a:defRPr>
            </a:defPPr>
          </a:lstStyle>
          <a:p xmlns:a="http://schemas.openxmlformats.org/drawingml/2006/main">
            <a:pPr marL="0" indent="0" algn="l">
              <a:buNone/>
              <a:defRPr sz="1000" b="0">
                <a:solidFill>
                  <a:srgbClr val="8A8A8A"/>
                </a:solidFill>
                <a:latin typeface="Noto Sans KR"/>
                <a:ea typeface="Noto Sans KR"/>
                <a:cs typeface="Noto Sans KR"/>
              </a:defRPr>
            </a:pPr>
            <a:r>
              <a:rPr sz="1000" b="0">
                <a:solidFill>
                  <a:srgbClr val="8A8A8A"/>
                </a:solidFill>
                <a:latin typeface="Noto Sans KR"/>
                <a:ea typeface="Noto Sans KR"/>
                <a:cs typeface="Noto Sans KR"/>
              </a:rPr>
              <a:t>놓친 소리와 잘못 잡은 소리를 함께 확인</a:t>
            </a:r>
            <a:endParaRPr sz="1000"/>
          </a:p>
        </p:txBody>
      </p:sp>
      <p:sp>
        <p:nvSpPr>
          <p:cNvPr id="15" name="Text 13">
            <a:extLst xmlns:a="http://schemas.openxmlformats.org/drawingml/2006/main">
              <a:ext uri="{FF2B5EF4-FFF2-40B4-BE49-F238E27FC236}">
                <a16:creationId xmlns:a16="http://schemas.microsoft.com/office/drawing/2014/main" id="{642288DF-FDC9-4638-9011-7E08D20C7CAA}"/>
              </a:ext>
            </a:extLst>
          </p:cNvPr>
          <p:cNvSpPr>
            <a:spLocks xmlns:a="http://schemas.openxmlformats.org/drawingml/2006/main" noGrp="1"/>
          </p:cNvSpPr>
          <p:nvPr/>
        </p:nvSpPr>
        <p:spPr>
          <a:xfrm xmlns:a="http://schemas.openxmlformats.org/drawingml/2006/main">
            <a:off x="3977640" y="2971800"/>
            <a:ext cx="17373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r">
              <a:defRPr sz="1800" b="1">
                <a:solidFill>
                  <a:srgbClr val="272626"/>
                </a:solidFill>
                <a:latin typeface="Noto Sans KR"/>
                <a:ea typeface="Noto Sans KR"/>
                <a:cs typeface="Noto Sans KR"/>
              </a:defRPr>
            </a:defPPr>
          </a:lstStyle>
          <a:p xmlns:a="http://schemas.openxmlformats.org/drawingml/2006/main">
            <a:pPr marL="0" indent="0" algn="r">
              <a:buNone/>
              <a:defRPr sz="1800" b="1">
                <a:solidFill>
                  <a:srgbClr val="272626"/>
                </a:solidFill>
                <a:latin typeface="Noto Sans KR"/>
                <a:ea typeface="Noto Sans KR"/>
                <a:cs typeface="Noto Sans KR"/>
              </a:defRPr>
            </a:pPr>
            <a:r>
              <a:rPr sz="1800" b="1">
                <a:solidFill>
                  <a:srgbClr val="272626"/>
                </a:solidFill>
                <a:latin typeface="Noto Sans KR"/>
                <a:ea typeface="Noto Sans KR"/>
                <a:cs typeface="Noto Sans KR"/>
              </a:rPr>
              <a:t>새 자료 시험</a:t>
            </a:r>
            <a:endParaRPr sz="1800"/>
          </a:p>
        </p:txBody>
      </p:sp>
      <p:sp>
        <p:nvSpPr>
          <p:cNvPr id="16" name="Shape 14">
            <a:extLst xmlns:a="http://schemas.openxmlformats.org/drawingml/2006/main">
              <a:ext uri="{FF2B5EF4-FFF2-40B4-BE49-F238E27FC236}">
                <a16:creationId xmlns:a16="http://schemas.microsoft.com/office/drawing/2014/main" id="{8EE56B5C-50A3-4BD1-8BBF-6448CBD304E1}"/>
              </a:ext>
            </a:extLst>
          </p:cNvPr>
          <p:cNvSpPr>
            <a:spLocks xmlns:a="http://schemas.openxmlformats.org/drawingml/2006/main" noGrp="1"/>
          </p:cNvSpPr>
          <p:nvPr/>
        </p:nvSpPr>
        <p:spPr>
          <a:xfrm xmlns:a="http://schemas.openxmlformats.org/drawingml/2006/main">
            <a:off x="777240" y="3657600"/>
            <a:ext cx="493776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0B1DB9FC-910A-4F2A-A6A0-B053A352F5B1}"/>
              </a:ext>
            </a:extLst>
          </p:cNvPr>
          <p:cNvSpPr>
            <a:spLocks xmlns:a="http://schemas.openxmlformats.org/drawingml/2006/main" noGrp="1"/>
          </p:cNvSpPr>
          <p:nvPr/>
        </p:nvSpPr>
        <p:spPr>
          <a:xfrm xmlns:a="http://schemas.openxmlformats.org/drawingml/2006/main">
            <a:off x="777240" y="374904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50" b="1">
                <a:solidFill>
                  <a:srgbClr val="272626"/>
                </a:solidFill>
                <a:latin typeface="Noto Sans KR"/>
                <a:ea typeface="Noto Sans KR"/>
                <a:cs typeface="Noto Sans KR"/>
              </a:defRPr>
            </a:defPPr>
          </a:lstStyle>
          <a:p xmlns:a="http://schemas.openxmlformats.org/drawingml/2006/main">
            <a:pPr marL="0" indent="0" algn="l">
              <a:buNone/>
              <a:defRPr sz="1250" b="1">
                <a:solidFill>
                  <a:srgbClr val="272626"/>
                </a:solidFill>
                <a:latin typeface="Noto Sans KR"/>
                <a:ea typeface="Noto Sans KR"/>
                <a:cs typeface="Noto Sans KR"/>
              </a:defRPr>
            </a:pPr>
            <a:r>
              <a:rPr sz="1250" b="1">
                <a:solidFill>
                  <a:srgbClr val="272626"/>
                </a:solidFill>
                <a:latin typeface="Noto Sans KR"/>
                <a:ea typeface="Noto Sans KR"/>
                <a:cs typeface="Noto Sans KR"/>
              </a:rPr>
              <a:t>기록을 이용한 설명</a:t>
            </a:r>
            <a:endParaRPr sz="1250"/>
          </a:p>
        </p:txBody>
      </p:sp>
      <p:sp>
        <p:nvSpPr>
          <p:cNvPr id="18" name="Text 16">
            <a:extLst xmlns:a="http://schemas.openxmlformats.org/drawingml/2006/main">
              <a:ext uri="{FF2B5EF4-FFF2-40B4-BE49-F238E27FC236}">
                <a16:creationId xmlns:a16="http://schemas.microsoft.com/office/drawing/2014/main" id="{83ADFB03-2633-42A3-AE06-975A14C9F9D2}"/>
              </a:ext>
            </a:extLst>
          </p:cNvPr>
          <p:cNvSpPr>
            <a:spLocks xmlns:a="http://schemas.openxmlformats.org/drawingml/2006/main" noGrp="1"/>
          </p:cNvSpPr>
          <p:nvPr/>
        </p:nvSpPr>
        <p:spPr>
          <a:xfrm xmlns:a="http://schemas.openxmlformats.org/drawingml/2006/main">
            <a:off x="777240" y="4032504"/>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00" b="0">
                <a:solidFill>
                  <a:srgbClr val="8A8A8A"/>
                </a:solidFill>
                <a:latin typeface="Noto Sans KR"/>
                <a:ea typeface="Noto Sans KR"/>
                <a:cs typeface="Noto Sans KR"/>
              </a:defRPr>
            </a:defPPr>
          </a:lstStyle>
          <a:p xmlns:a="http://schemas.openxmlformats.org/drawingml/2006/main">
            <a:pPr marL="0" indent="0" algn="l">
              <a:buNone/>
              <a:defRPr sz="1000" b="0">
                <a:solidFill>
                  <a:srgbClr val="8A8A8A"/>
                </a:solidFill>
                <a:latin typeface="Noto Sans KR"/>
                <a:ea typeface="Noto Sans KR"/>
                <a:cs typeface="Noto Sans KR"/>
              </a:defRPr>
            </a:pPr>
            <a:r>
              <a:rPr sz="1000" b="0">
                <a:solidFill>
                  <a:srgbClr val="8A8A8A"/>
                </a:solidFill>
                <a:latin typeface="Noto Sans KR"/>
                <a:ea typeface="Noto Sans KR"/>
                <a:cs typeface="Noto Sans KR"/>
              </a:rPr>
              <a:t>설명이 실제 수치와 원본에 맞는지 확인</a:t>
            </a:r>
            <a:endParaRPr sz="1000"/>
          </a:p>
        </p:txBody>
      </p:sp>
      <p:sp>
        <p:nvSpPr>
          <p:cNvPr id="19" name="Text 17">
            <a:extLst xmlns:a="http://schemas.openxmlformats.org/drawingml/2006/main">
              <a:ext uri="{FF2B5EF4-FFF2-40B4-BE49-F238E27FC236}">
                <a16:creationId xmlns:a16="http://schemas.microsoft.com/office/drawing/2014/main" id="{342FA68E-BE82-4065-88E2-B3256FC2AD25}"/>
              </a:ext>
            </a:extLst>
          </p:cNvPr>
          <p:cNvSpPr>
            <a:spLocks xmlns:a="http://schemas.openxmlformats.org/drawingml/2006/main" noGrp="1"/>
          </p:cNvSpPr>
          <p:nvPr/>
        </p:nvSpPr>
        <p:spPr>
          <a:xfrm xmlns:a="http://schemas.openxmlformats.org/drawingml/2006/main">
            <a:off x="3977640" y="3703320"/>
            <a:ext cx="17373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r">
              <a:defRPr sz="1800" b="1">
                <a:solidFill>
                  <a:srgbClr val="272626"/>
                </a:solidFill>
                <a:latin typeface="Noto Sans KR"/>
                <a:ea typeface="Noto Sans KR"/>
                <a:cs typeface="Noto Sans KR"/>
              </a:defRPr>
            </a:defPPr>
          </a:lstStyle>
          <a:p xmlns:a="http://schemas.openxmlformats.org/drawingml/2006/main">
            <a:pPr marL="0" indent="0" algn="r">
              <a:buNone/>
              <a:defRPr sz="1800" b="1">
                <a:solidFill>
                  <a:srgbClr val="272626"/>
                </a:solidFill>
                <a:latin typeface="Noto Sans KR"/>
                <a:ea typeface="Noto Sans KR"/>
                <a:cs typeface="Noto Sans KR"/>
              </a:defRPr>
            </a:pPr>
            <a:r>
              <a:rPr sz="1800" b="1">
                <a:solidFill>
                  <a:srgbClr val="272626"/>
                </a:solidFill>
                <a:latin typeface="Noto Sans KR"/>
                <a:ea typeface="Noto Sans KR"/>
                <a:cs typeface="Noto Sans KR"/>
              </a:rPr>
              <a:t>근거 대조</a:t>
            </a:r>
            <a:endParaRPr sz="1800"/>
          </a:p>
        </p:txBody>
      </p:sp>
      <p:sp>
        <p:nvSpPr>
          <p:cNvPr id="20" name="Shape 18">
            <a:extLst xmlns:a="http://schemas.openxmlformats.org/drawingml/2006/main">
              <a:ext uri="{FF2B5EF4-FFF2-40B4-BE49-F238E27FC236}">
                <a16:creationId xmlns:a16="http://schemas.microsoft.com/office/drawing/2014/main" id="{D6E86FD4-2C20-4EFF-B039-69863C952C75}"/>
              </a:ext>
            </a:extLst>
          </p:cNvPr>
          <p:cNvSpPr>
            <a:spLocks xmlns:a="http://schemas.openxmlformats.org/drawingml/2006/main" noGrp="1"/>
          </p:cNvSpPr>
          <p:nvPr/>
        </p:nvSpPr>
        <p:spPr>
          <a:xfrm xmlns:a="http://schemas.openxmlformats.org/drawingml/2006/main">
            <a:off x="777240" y="4389120"/>
            <a:ext cx="493776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C6796C1E-BE91-4E2D-9B1B-16062D7A37DB}"/>
              </a:ext>
            </a:extLst>
          </p:cNvPr>
          <p:cNvSpPr>
            <a:spLocks xmlns:a="http://schemas.openxmlformats.org/drawingml/2006/main" noGrp="1"/>
          </p:cNvSpPr>
          <p:nvPr/>
        </p:nvSpPr>
        <p:spPr>
          <a:xfrm xmlns:a="http://schemas.openxmlformats.org/drawingml/2006/main">
            <a:off x="777240" y="448056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50" b="1">
                <a:solidFill>
                  <a:srgbClr val="272626"/>
                </a:solidFill>
                <a:latin typeface="Noto Sans KR"/>
                <a:ea typeface="Noto Sans KR"/>
                <a:cs typeface="Noto Sans KR"/>
              </a:defRPr>
            </a:defPPr>
          </a:lstStyle>
          <a:p xmlns:a="http://schemas.openxmlformats.org/drawingml/2006/main">
            <a:pPr marL="0" indent="0" algn="l">
              <a:buNone/>
              <a:defRPr sz="1250" b="1">
                <a:solidFill>
                  <a:srgbClr val="272626"/>
                </a:solidFill>
                <a:latin typeface="Noto Sans KR"/>
                <a:ea typeface="Noto Sans KR"/>
                <a:cs typeface="Noto Sans KR"/>
              </a:defRPr>
            </a:pPr>
            <a:r>
              <a:rPr sz="1250" b="1">
                <a:solidFill>
                  <a:srgbClr val="272626"/>
                </a:solidFill>
                <a:latin typeface="Noto Sans KR"/>
                <a:ea typeface="Noto Sans KR"/>
                <a:cs typeface="Noto Sans KR"/>
              </a:rPr>
              <a:t>오류와 기록 관리</a:t>
            </a:r>
            <a:endParaRPr sz="1250"/>
          </a:p>
        </p:txBody>
      </p:sp>
      <p:sp>
        <p:nvSpPr>
          <p:cNvPr id="22" name="Text 20">
            <a:extLst xmlns:a="http://schemas.openxmlformats.org/drawingml/2006/main">
              <a:ext uri="{FF2B5EF4-FFF2-40B4-BE49-F238E27FC236}">
                <a16:creationId xmlns:a16="http://schemas.microsoft.com/office/drawing/2014/main" id="{94879360-21EF-44EC-8F10-CD321DAFC737}"/>
              </a:ext>
            </a:extLst>
          </p:cNvPr>
          <p:cNvSpPr>
            <a:spLocks xmlns:a="http://schemas.openxmlformats.org/drawingml/2006/main" noGrp="1"/>
          </p:cNvSpPr>
          <p:nvPr/>
        </p:nvSpPr>
        <p:spPr>
          <a:xfrm xmlns:a="http://schemas.openxmlformats.org/drawingml/2006/main">
            <a:off x="777240" y="4764024"/>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00" b="0">
                <a:solidFill>
                  <a:srgbClr val="8A8A8A"/>
                </a:solidFill>
                <a:latin typeface="Noto Sans KR"/>
                <a:ea typeface="Noto Sans KR"/>
                <a:cs typeface="Noto Sans KR"/>
              </a:defRPr>
            </a:defPPr>
          </a:lstStyle>
          <a:p xmlns:a="http://schemas.openxmlformats.org/drawingml/2006/main">
            <a:pPr marL="0" indent="0" algn="l">
              <a:buNone/>
              <a:defRPr sz="1000" b="0">
                <a:solidFill>
                  <a:srgbClr val="8A8A8A"/>
                </a:solidFill>
                <a:latin typeface="Noto Sans KR"/>
                <a:ea typeface="Noto Sans KR"/>
                <a:cs typeface="Noto Sans KR"/>
              </a:defRPr>
            </a:pPr>
            <a:r>
              <a:rPr sz="1000" b="0">
                <a:solidFill>
                  <a:srgbClr val="8A8A8A"/>
                </a:solidFill>
                <a:latin typeface="Noto Sans KR"/>
                <a:ea typeface="Noto Sans KR"/>
                <a:cs typeface="Noto Sans KR"/>
              </a:rPr>
              <a:t>연결 끊김, 수집 종료와 파일 삭제 확인</a:t>
            </a:r>
            <a:endParaRPr sz="1000"/>
          </a:p>
        </p:txBody>
      </p:sp>
      <p:sp>
        <p:nvSpPr>
          <p:cNvPr id="23" name="Text 21">
            <a:extLst xmlns:a="http://schemas.openxmlformats.org/drawingml/2006/main">
              <a:ext uri="{FF2B5EF4-FFF2-40B4-BE49-F238E27FC236}">
                <a16:creationId xmlns:a16="http://schemas.microsoft.com/office/drawing/2014/main" id="{601D9164-0F0E-43E3-B935-97DAC73B5D3D}"/>
              </a:ext>
            </a:extLst>
          </p:cNvPr>
          <p:cNvSpPr>
            <a:spLocks xmlns:a="http://schemas.openxmlformats.org/drawingml/2006/main" noGrp="1"/>
          </p:cNvSpPr>
          <p:nvPr/>
        </p:nvSpPr>
        <p:spPr>
          <a:xfrm xmlns:a="http://schemas.openxmlformats.org/drawingml/2006/main">
            <a:off x="3977640" y="4434840"/>
            <a:ext cx="17373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r">
              <a:defRPr sz="1800" b="1">
                <a:solidFill>
                  <a:srgbClr val="272626"/>
                </a:solidFill>
                <a:latin typeface="Noto Sans KR"/>
                <a:ea typeface="Noto Sans KR"/>
                <a:cs typeface="Noto Sans KR"/>
              </a:defRPr>
            </a:defPPr>
          </a:lstStyle>
          <a:p xmlns:a="http://schemas.openxmlformats.org/drawingml/2006/main">
            <a:pPr marL="0" indent="0" algn="r">
              <a:buNone/>
              <a:defRPr sz="1800" b="1">
                <a:solidFill>
                  <a:srgbClr val="272626"/>
                </a:solidFill>
                <a:latin typeface="Noto Sans KR"/>
                <a:ea typeface="Noto Sans KR"/>
                <a:cs typeface="Noto Sans KR"/>
              </a:defRPr>
            </a:pPr>
            <a:r>
              <a:rPr sz="1800" b="1">
                <a:solidFill>
                  <a:srgbClr val="272626"/>
                </a:solidFill>
                <a:latin typeface="Noto Sans KR"/>
                <a:ea typeface="Noto Sans KR"/>
                <a:cs typeface="Noto Sans KR"/>
              </a:rPr>
              <a:t>복구 확인</a:t>
            </a:r>
            <a:endParaRPr sz="1800"/>
          </a:p>
        </p:txBody>
      </p:sp>
      <p:sp>
        <p:nvSpPr>
          <p:cNvPr id="24" name="Text 22">
            <a:extLst xmlns:a="http://schemas.openxmlformats.org/drawingml/2006/main">
              <a:ext uri="{FF2B5EF4-FFF2-40B4-BE49-F238E27FC236}">
                <a16:creationId xmlns:a16="http://schemas.microsoft.com/office/drawing/2014/main" id="{4FA3C03B-BA20-49EF-95E4-BA84C2A1EDE1}"/>
              </a:ext>
            </a:extLst>
          </p:cNvPr>
          <p:cNvSpPr>
            <a:spLocks xmlns:a="http://schemas.openxmlformats.org/drawingml/2006/main" noGrp="1"/>
          </p:cNvSpPr>
          <p:nvPr/>
        </p:nvSpPr>
        <p:spPr>
          <a:xfrm xmlns:a="http://schemas.openxmlformats.org/drawingml/2006/main">
            <a:off x="6473952" y="1828800"/>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400" b="1">
                <a:solidFill>
                  <a:srgbClr val="272626"/>
                </a:solidFill>
                <a:latin typeface="Noto Sans KR"/>
                <a:ea typeface="Noto Sans KR"/>
                <a:cs typeface="Noto Sans KR"/>
              </a:defRPr>
            </a:defPPr>
          </a:lstStyle>
          <a:p xmlns:a="http://schemas.openxmlformats.org/drawingml/2006/main">
            <a:pPr marL="0" indent="0" algn="l">
              <a:buNone/>
              <a:defRPr sz="1400" b="1">
                <a:solidFill>
                  <a:srgbClr val="272626"/>
                </a:solidFill>
                <a:latin typeface="Noto Sans KR"/>
                <a:ea typeface="Noto Sans KR"/>
                <a:cs typeface="Noto Sans KR"/>
              </a:defRPr>
            </a:pPr>
            <a:r>
              <a:rPr sz="1400" b="1">
                <a:solidFill>
                  <a:srgbClr val="272626"/>
                </a:solidFill>
                <a:latin typeface="Noto Sans KR"/>
                <a:ea typeface="Noto Sans KR"/>
                <a:cs typeface="Noto Sans KR"/>
              </a:rPr>
              <a:t>기존 역할에 맞춘 작업 제안</a:t>
            </a:r>
            <a:endParaRPr sz="1400"/>
          </a:p>
        </p:txBody>
      </p:sp>
      <p:sp>
        <p:nvSpPr>
          <p:cNvPr id="25" name="Text 23">
            <a:extLst xmlns:a="http://schemas.openxmlformats.org/drawingml/2006/main">
              <a:ext uri="{FF2B5EF4-FFF2-40B4-BE49-F238E27FC236}">
                <a16:creationId xmlns:a16="http://schemas.microsoft.com/office/drawing/2014/main" id="{2700F7F5-DA87-48E8-B87D-9C957F13025A}"/>
              </a:ext>
            </a:extLst>
          </p:cNvPr>
          <p:cNvSpPr>
            <a:spLocks xmlns:a="http://schemas.openxmlformats.org/drawingml/2006/main" noGrp="1"/>
          </p:cNvSpPr>
          <p:nvPr/>
        </p:nvSpPr>
        <p:spPr>
          <a:xfrm xmlns:a="http://schemas.openxmlformats.org/drawingml/2006/main">
            <a:off x="6473952" y="2286000"/>
            <a:ext cx="2286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72626"/>
                </a:solidFill>
                <a:latin typeface="Noto Sans KR"/>
                <a:ea typeface="Noto Sans KR"/>
                <a:cs typeface="Noto Sans KR"/>
              </a:rPr>
              <a:t>김재준 (팀장)</a:t>
            </a:r>
            <a:endParaRPr sz="1300"/>
          </a:p>
        </p:txBody>
      </p:sp>
      <p:sp>
        <p:nvSpPr>
          <p:cNvPr id="26" name="Shape 24">
            <a:extLst xmlns:a="http://schemas.openxmlformats.org/drawingml/2006/main">
              <a:ext uri="{FF2B5EF4-FFF2-40B4-BE49-F238E27FC236}">
                <a16:creationId xmlns:a16="http://schemas.microsoft.com/office/drawing/2014/main" id="{1D7ABA8B-79C8-4B50-A745-51FFF9B37564}"/>
              </a:ext>
            </a:extLst>
          </p:cNvPr>
          <p:cNvSpPr>
            <a:spLocks xmlns:a="http://schemas.openxmlformats.org/drawingml/2006/main" noGrp="1"/>
          </p:cNvSpPr>
          <p:nvPr/>
        </p:nvSpPr>
        <p:spPr>
          <a:xfrm xmlns:a="http://schemas.openxmlformats.org/drawingml/2006/main">
            <a:off x="9765792" y="2304288"/>
            <a:ext cx="1645920" cy="256032"/>
          </a:xfrm>
          <a:prstGeom xmlns:a="http://schemas.openxmlformats.org/drawingml/2006/main" prst="roundRect">
            <a:avLst>
              <a:gd name="adj" fmla="val 50000"/>
            </a:avLst>
          </a:prstGeom>
          <a:solidFill xmlns:a="http://schemas.openxmlformats.org/drawingml/2006/main">
            <a:srgbClr val="E3E3E3"/>
          </a:solidFill>
          <a:ln xmlns:a="http://schemas.openxmlformats.org/drawingml/2006/main" w="12700">
            <a:solidFill>
              <a:srgbClr val="E3E3E3"/>
            </a:solidFill>
            <a:prstDash val="solid"/>
          </a:ln>
        </p:spPr>
        <p:txBody xmlns:a="http://schemas.openxmlformats.org/drawingml/2006/main">
          <a:bodyPr/>
          <a:p/>
        </p:txBody>
      </p:sp>
      <p:sp>
        <p:nvSpPr>
          <p:cNvPr id="27" name="Text 25">
            <a:extLst xmlns:a="http://schemas.openxmlformats.org/drawingml/2006/main">
              <a:ext uri="{FF2B5EF4-FFF2-40B4-BE49-F238E27FC236}">
                <a16:creationId xmlns:a16="http://schemas.microsoft.com/office/drawing/2014/main" id="{18675095-D1D0-493E-8E41-295E439A3ECF}"/>
              </a:ext>
            </a:extLst>
          </p:cNvPr>
          <p:cNvSpPr>
            <a:spLocks xmlns:a="http://schemas.openxmlformats.org/drawingml/2006/main" noGrp="1"/>
          </p:cNvSpPr>
          <p:nvPr/>
        </p:nvSpPr>
        <p:spPr>
          <a:xfrm xmlns:a="http://schemas.openxmlformats.org/drawingml/2006/main">
            <a:off x="9765792" y="2304288"/>
            <a:ext cx="1645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5A5A5A"/>
                </a:solidFill>
                <a:latin typeface="Noto Sans KR"/>
                <a:ea typeface="Noto Sans KR"/>
                <a:cs typeface="Noto Sans KR"/>
              </a:rPr>
              <a:t>하드웨어 · 백엔드</a:t>
            </a:r>
            <a:endParaRPr sz="900"/>
          </a:p>
        </p:txBody>
      </p:sp>
      <p:sp>
        <p:nvSpPr>
          <p:cNvPr id="28" name="Text 26">
            <a:extLst xmlns:a="http://schemas.openxmlformats.org/drawingml/2006/main">
              <a:ext uri="{FF2B5EF4-FFF2-40B4-BE49-F238E27FC236}">
                <a16:creationId xmlns:a16="http://schemas.microsoft.com/office/drawing/2014/main" id="{1E7F7971-51DF-4818-BB45-6ED640E7D470}"/>
              </a:ext>
            </a:extLst>
          </p:cNvPr>
          <p:cNvSpPr>
            <a:spLocks xmlns:a="http://schemas.openxmlformats.org/drawingml/2006/main" noGrp="1"/>
          </p:cNvSpPr>
          <p:nvPr/>
        </p:nvSpPr>
        <p:spPr>
          <a:xfrm xmlns:a="http://schemas.openxmlformats.org/drawingml/2006/main">
            <a:off x="6473952" y="2651760"/>
            <a:ext cx="4937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5A5A5A"/>
                </a:solidFill>
                <a:latin typeface="Noto Sans KR"/>
                <a:ea typeface="Noto Sans KR"/>
                <a:cs typeface="Noto Sans KR"/>
              </a:defRPr>
            </a:defPPr>
          </a:lstStyle>
          <a:p xmlns:a="http://schemas.openxmlformats.org/drawingml/2006/main">
            <a:pPr marL="0" indent="0" algn="l">
              <a:buNone/>
              <a:defRPr sz="1100" b="0">
                <a:solidFill>
                  <a:srgbClr val="5A5A5A"/>
                </a:solidFill>
                <a:latin typeface="Noto Sans KR"/>
                <a:ea typeface="Noto Sans KR"/>
                <a:cs typeface="Noto Sans KR"/>
              </a:defRPr>
            </a:pPr>
            <a:r>
              <a:rPr sz="1100" b="0">
                <a:solidFill>
                  <a:srgbClr val="5A5A5A"/>
                </a:solidFill>
                <a:latin typeface="Noto Sans KR"/>
                <a:ea typeface="Noto Sans KR"/>
                <a:cs typeface="Noto Sans KR"/>
              </a:rPr>
              <a:t>노트북 장비 연결, 서버 개발과 기록 저장</a:t>
            </a:r>
            <a:endParaRPr sz="1100"/>
          </a:p>
        </p:txBody>
      </p:sp>
      <p:sp>
        <p:nvSpPr>
          <p:cNvPr id="29" name="Shape 27">
            <a:extLst xmlns:a="http://schemas.openxmlformats.org/drawingml/2006/main">
              <a:ext uri="{FF2B5EF4-FFF2-40B4-BE49-F238E27FC236}">
                <a16:creationId xmlns:a16="http://schemas.microsoft.com/office/drawing/2014/main" id="{AF3417DB-655F-4AB9-AF53-D26F865AE42B}"/>
              </a:ext>
            </a:extLst>
          </p:cNvPr>
          <p:cNvSpPr>
            <a:spLocks xmlns:a="http://schemas.openxmlformats.org/drawingml/2006/main" noGrp="1"/>
          </p:cNvSpPr>
          <p:nvPr/>
        </p:nvSpPr>
        <p:spPr>
          <a:xfrm xmlns:a="http://schemas.openxmlformats.org/drawingml/2006/main">
            <a:off x="6473952" y="3127248"/>
            <a:ext cx="493776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BDADAB81-657B-4BBA-9A81-C1222592BD27}"/>
              </a:ext>
            </a:extLst>
          </p:cNvPr>
          <p:cNvSpPr>
            <a:spLocks xmlns:a="http://schemas.openxmlformats.org/drawingml/2006/main" noGrp="1"/>
          </p:cNvSpPr>
          <p:nvPr/>
        </p:nvSpPr>
        <p:spPr>
          <a:xfrm xmlns:a="http://schemas.openxmlformats.org/drawingml/2006/main">
            <a:off x="6473952" y="3218688"/>
            <a:ext cx="2286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72626"/>
                </a:solidFill>
                <a:latin typeface="Noto Sans KR"/>
                <a:ea typeface="Noto Sans KR"/>
                <a:cs typeface="Noto Sans KR"/>
              </a:rPr>
              <a:t>유민형</a:t>
            </a:r>
            <a:endParaRPr sz="1300"/>
          </a:p>
        </p:txBody>
      </p:sp>
      <p:sp>
        <p:nvSpPr>
          <p:cNvPr id="31" name="Shape 29">
            <a:extLst xmlns:a="http://schemas.openxmlformats.org/drawingml/2006/main">
              <a:ext uri="{FF2B5EF4-FFF2-40B4-BE49-F238E27FC236}">
                <a16:creationId xmlns:a16="http://schemas.microsoft.com/office/drawing/2014/main" id="{1616CF91-09D8-4CA4-B986-56740E07118B}"/>
              </a:ext>
            </a:extLst>
          </p:cNvPr>
          <p:cNvSpPr>
            <a:spLocks xmlns:a="http://schemas.openxmlformats.org/drawingml/2006/main" noGrp="1"/>
          </p:cNvSpPr>
          <p:nvPr/>
        </p:nvSpPr>
        <p:spPr>
          <a:xfrm xmlns:a="http://schemas.openxmlformats.org/drawingml/2006/main">
            <a:off x="9765792" y="3236976"/>
            <a:ext cx="1645920" cy="256032"/>
          </a:xfrm>
          <a:prstGeom xmlns:a="http://schemas.openxmlformats.org/drawingml/2006/main" prst="roundRect">
            <a:avLst>
              <a:gd name="adj" fmla="val 50000"/>
            </a:avLst>
          </a:prstGeom>
          <a:solidFill xmlns:a="http://schemas.openxmlformats.org/drawingml/2006/main">
            <a:srgbClr val="E3E3E3"/>
          </a:solidFill>
          <a:ln xmlns:a="http://schemas.openxmlformats.org/drawingml/2006/main" w="12700">
            <a:solidFill>
              <a:srgbClr val="E3E3E3"/>
            </a:solidFill>
            <a:prstDash val="solid"/>
          </a:ln>
        </p:spPr>
        <p:txBody xmlns:a="http://schemas.openxmlformats.org/drawingml/2006/main">
          <a:bodyPr/>
          <a:p/>
        </p:txBody>
      </p:sp>
      <p:sp>
        <p:nvSpPr>
          <p:cNvPr id="32" name="Text 30">
            <a:extLst xmlns:a="http://schemas.openxmlformats.org/drawingml/2006/main">
              <a:ext uri="{FF2B5EF4-FFF2-40B4-BE49-F238E27FC236}">
                <a16:creationId xmlns:a16="http://schemas.microsoft.com/office/drawing/2014/main" id="{D8E0EBD6-73AB-4BE3-94DA-4AD1DD59FA21}"/>
              </a:ext>
            </a:extLst>
          </p:cNvPr>
          <p:cNvSpPr>
            <a:spLocks xmlns:a="http://schemas.openxmlformats.org/drawingml/2006/main" noGrp="1"/>
          </p:cNvSpPr>
          <p:nvPr/>
        </p:nvSpPr>
        <p:spPr>
          <a:xfrm xmlns:a="http://schemas.openxmlformats.org/drawingml/2006/main">
            <a:off x="9765792" y="3236976"/>
            <a:ext cx="1645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5A5A5A"/>
                </a:solidFill>
                <a:latin typeface="Noto Sans KR"/>
                <a:ea typeface="Noto Sans KR"/>
                <a:cs typeface="Noto Sans KR"/>
              </a:rPr>
              <a:t>AI · LLM</a:t>
            </a:r>
            <a:endParaRPr sz="900"/>
          </a:p>
        </p:txBody>
      </p:sp>
      <p:sp>
        <p:nvSpPr>
          <p:cNvPr id="33" name="Text 31">
            <a:extLst xmlns:a="http://schemas.openxmlformats.org/drawingml/2006/main">
              <a:ext uri="{FF2B5EF4-FFF2-40B4-BE49-F238E27FC236}">
                <a16:creationId xmlns:a16="http://schemas.microsoft.com/office/drawing/2014/main" id="{1ECEDFB6-8FE8-4129-8046-41E937014A60}"/>
              </a:ext>
            </a:extLst>
          </p:cNvPr>
          <p:cNvSpPr>
            <a:spLocks xmlns:a="http://schemas.openxmlformats.org/drawingml/2006/main" noGrp="1"/>
          </p:cNvSpPr>
          <p:nvPr/>
        </p:nvSpPr>
        <p:spPr>
          <a:xfrm xmlns:a="http://schemas.openxmlformats.org/drawingml/2006/main">
            <a:off x="6473952" y="3584448"/>
            <a:ext cx="4937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5A5A5A"/>
                </a:solidFill>
                <a:latin typeface="Noto Sans KR"/>
                <a:ea typeface="Noto Sans KR"/>
                <a:cs typeface="Noto Sans KR"/>
              </a:defRPr>
            </a:defPPr>
          </a:lstStyle>
          <a:p xmlns:a="http://schemas.openxmlformats.org/drawingml/2006/main">
            <a:pPr marL="0" indent="0" algn="l">
              <a:buNone/>
              <a:defRPr sz="1100" b="0">
                <a:solidFill>
                  <a:srgbClr val="5A5A5A"/>
                </a:solidFill>
                <a:latin typeface="Noto Sans KR"/>
                <a:ea typeface="Noto Sans KR"/>
                <a:cs typeface="Noto Sans KR"/>
              </a:defRPr>
            </a:pPr>
            <a:r>
              <a:rPr sz="1100" b="0">
                <a:solidFill>
                  <a:srgbClr val="5A5A5A"/>
                </a:solidFill>
                <a:latin typeface="Noto Sans KR"/>
                <a:ea typeface="Noto Sans KR"/>
                <a:cs typeface="Noto Sans KR"/>
              </a:rPr>
              <a:t>짖음 분석 AI 개선, 기록 검색과 설명 확인</a:t>
            </a:r>
            <a:endParaRPr sz="1100"/>
          </a:p>
        </p:txBody>
      </p:sp>
      <p:sp>
        <p:nvSpPr>
          <p:cNvPr id="34" name="Shape 32">
            <a:extLst xmlns:a="http://schemas.openxmlformats.org/drawingml/2006/main">
              <a:ext uri="{FF2B5EF4-FFF2-40B4-BE49-F238E27FC236}">
                <a16:creationId xmlns:a16="http://schemas.microsoft.com/office/drawing/2014/main" id="{E9537AC9-BE8E-45E6-8E37-368077107574}"/>
              </a:ext>
            </a:extLst>
          </p:cNvPr>
          <p:cNvSpPr>
            <a:spLocks xmlns:a="http://schemas.openxmlformats.org/drawingml/2006/main" noGrp="1"/>
          </p:cNvSpPr>
          <p:nvPr/>
        </p:nvSpPr>
        <p:spPr>
          <a:xfrm xmlns:a="http://schemas.openxmlformats.org/drawingml/2006/main">
            <a:off x="6473952" y="4059936"/>
            <a:ext cx="493776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txBody xmlns:a="http://schemas.openxmlformats.org/drawingml/2006/main">
          <a:bodyPr/>
          <a:p/>
        </p:txBody>
      </p:sp>
      <p:sp>
        <p:nvSpPr>
          <p:cNvPr id="35" name="Text 33">
            <a:extLst xmlns:a="http://schemas.openxmlformats.org/drawingml/2006/main">
              <a:ext uri="{FF2B5EF4-FFF2-40B4-BE49-F238E27FC236}">
                <a16:creationId xmlns:a16="http://schemas.microsoft.com/office/drawing/2014/main" id="{72B8C2C4-8943-4A90-B85E-18744946ADDA}"/>
              </a:ext>
            </a:extLst>
          </p:cNvPr>
          <p:cNvSpPr>
            <a:spLocks xmlns:a="http://schemas.openxmlformats.org/drawingml/2006/main" noGrp="1"/>
          </p:cNvSpPr>
          <p:nvPr/>
        </p:nvSpPr>
        <p:spPr>
          <a:xfrm xmlns:a="http://schemas.openxmlformats.org/drawingml/2006/main">
            <a:off x="6473952" y="4151376"/>
            <a:ext cx="2286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72626"/>
                </a:solidFill>
                <a:latin typeface="Noto Sans KR"/>
                <a:ea typeface="Noto Sans KR"/>
                <a:cs typeface="Noto Sans KR"/>
              </a:rPr>
              <a:t>임성배</a:t>
            </a:r>
            <a:endParaRPr sz="1300"/>
          </a:p>
        </p:txBody>
      </p:sp>
      <p:sp>
        <p:nvSpPr>
          <p:cNvPr id="36" name="Shape 34">
            <a:extLst xmlns:a="http://schemas.openxmlformats.org/drawingml/2006/main">
              <a:ext uri="{FF2B5EF4-FFF2-40B4-BE49-F238E27FC236}">
                <a16:creationId xmlns:a16="http://schemas.microsoft.com/office/drawing/2014/main" id="{76DBCA2B-88A2-441F-86E3-69571C6DB4CA}"/>
              </a:ext>
            </a:extLst>
          </p:cNvPr>
          <p:cNvSpPr>
            <a:spLocks xmlns:a="http://schemas.openxmlformats.org/drawingml/2006/main" noGrp="1"/>
          </p:cNvSpPr>
          <p:nvPr/>
        </p:nvSpPr>
        <p:spPr>
          <a:xfrm xmlns:a="http://schemas.openxmlformats.org/drawingml/2006/main">
            <a:off x="9765792" y="4169664"/>
            <a:ext cx="1645920" cy="256032"/>
          </a:xfrm>
          <a:prstGeom xmlns:a="http://schemas.openxmlformats.org/drawingml/2006/main" prst="roundRect">
            <a:avLst>
              <a:gd name="adj" fmla="val 50000"/>
            </a:avLst>
          </a:prstGeom>
          <a:solidFill xmlns:a="http://schemas.openxmlformats.org/drawingml/2006/main">
            <a:srgbClr val="E3E3E3"/>
          </a:solidFill>
          <a:ln xmlns:a="http://schemas.openxmlformats.org/drawingml/2006/main" w="12700">
            <a:solidFill>
              <a:srgbClr val="E3E3E3"/>
            </a:solidFill>
            <a:prstDash val="solid"/>
          </a:ln>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DD27CE2E-99A2-4F81-86B6-25C677E7DE9D}"/>
              </a:ext>
            </a:extLst>
          </p:cNvPr>
          <p:cNvSpPr>
            <a:spLocks xmlns:a="http://schemas.openxmlformats.org/drawingml/2006/main" noGrp="1"/>
          </p:cNvSpPr>
          <p:nvPr/>
        </p:nvSpPr>
        <p:spPr>
          <a:xfrm xmlns:a="http://schemas.openxmlformats.org/drawingml/2006/main">
            <a:off x="9765792" y="4169664"/>
            <a:ext cx="1645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5A5A5A"/>
                </a:solidFill>
                <a:latin typeface="Noto Sans KR"/>
                <a:ea typeface="Noto Sans KR"/>
                <a:cs typeface="Noto Sans KR"/>
              </a:rPr>
              <a:t>프론트엔드</a:t>
            </a:r>
            <a:endParaRPr sz="900"/>
          </a:p>
        </p:txBody>
      </p:sp>
      <p:sp>
        <p:nvSpPr>
          <p:cNvPr id="38" name="Text 36">
            <a:extLst xmlns:a="http://schemas.openxmlformats.org/drawingml/2006/main">
              <a:ext uri="{FF2B5EF4-FFF2-40B4-BE49-F238E27FC236}">
                <a16:creationId xmlns:a16="http://schemas.microsoft.com/office/drawing/2014/main" id="{172A423C-79B0-45AF-B869-6B3F877C1E59}"/>
              </a:ext>
            </a:extLst>
          </p:cNvPr>
          <p:cNvSpPr>
            <a:spLocks xmlns:a="http://schemas.openxmlformats.org/drawingml/2006/main" noGrp="1"/>
          </p:cNvSpPr>
          <p:nvPr/>
        </p:nvSpPr>
        <p:spPr>
          <a:xfrm xmlns:a="http://schemas.openxmlformats.org/drawingml/2006/main">
            <a:off x="6473952" y="4517136"/>
            <a:ext cx="4937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5A5A5A"/>
                </a:solidFill>
                <a:latin typeface="Noto Sans KR"/>
                <a:ea typeface="Noto Sans KR"/>
                <a:cs typeface="Noto Sans KR"/>
              </a:defRPr>
            </a:defPPr>
          </a:lstStyle>
          <a:p xmlns:a="http://schemas.openxmlformats.org/drawingml/2006/main">
            <a:pPr marL="0" indent="0" algn="l">
              <a:buNone/>
              <a:defRPr sz="1100" b="0">
                <a:solidFill>
                  <a:srgbClr val="5A5A5A"/>
                </a:solidFill>
                <a:latin typeface="Noto Sans KR"/>
                <a:ea typeface="Noto Sans KR"/>
                <a:cs typeface="Noto Sans KR"/>
              </a:defRPr>
            </a:pPr>
            <a:r>
              <a:rPr sz="1100" b="0">
                <a:solidFill>
                  <a:srgbClr val="5A5A5A"/>
                </a:solidFill>
                <a:latin typeface="Noto Sans KR"/>
                <a:ea typeface="Noto Sans KR"/>
                <a:cs typeface="Noto Sans KR"/>
              </a:rPr>
              <a:t>외출 화면, 원본 재생과 보호자 의견 입력</a:t>
            </a:r>
            <a:endParaRPr sz="1100"/>
          </a:p>
        </p:txBody>
      </p:sp>
      <p:sp>
        <p:nvSpPr>
          <p:cNvPr id="39" name="Shape 37">
            <a:extLst xmlns:a="http://schemas.openxmlformats.org/drawingml/2006/main">
              <a:ext uri="{FF2B5EF4-FFF2-40B4-BE49-F238E27FC236}">
                <a16:creationId xmlns:a16="http://schemas.microsoft.com/office/drawing/2014/main" id="{083FA725-FFC4-452E-81E5-09A5B7034B8D}"/>
              </a:ext>
            </a:extLst>
          </p:cNvPr>
          <p:cNvSpPr>
            <a:spLocks xmlns:a="http://schemas.openxmlformats.org/drawingml/2006/main" noGrp="1"/>
          </p:cNvSpPr>
          <p:nvPr/>
        </p:nvSpPr>
        <p:spPr>
          <a:xfrm xmlns:a="http://schemas.openxmlformats.org/drawingml/2006/main">
            <a:off x="502920" y="5440680"/>
            <a:ext cx="11183112" cy="566928"/>
          </a:xfrm>
          <a:prstGeom xmlns:a="http://schemas.openxmlformats.org/drawingml/2006/main" prst="roundRect">
            <a:avLst>
              <a:gd name="adj" fmla="val 12903"/>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40" name="Text 38">
            <a:extLst xmlns:a="http://schemas.openxmlformats.org/drawingml/2006/main">
              <a:ext uri="{FF2B5EF4-FFF2-40B4-BE49-F238E27FC236}">
                <a16:creationId xmlns:a16="http://schemas.microsoft.com/office/drawing/2014/main" id="{740EFDCD-36C6-46EF-96B7-B71474BEFD36}"/>
              </a:ext>
            </a:extLst>
          </p:cNvPr>
          <p:cNvSpPr>
            <a:spLocks xmlns:a="http://schemas.openxmlformats.org/drawingml/2006/main" noGrp="1"/>
          </p:cNvSpPr>
          <p:nvPr/>
        </p:nvSpPr>
        <p:spPr>
          <a:xfrm xmlns:a="http://schemas.openxmlformats.org/drawingml/2006/main">
            <a:off x="822960" y="5440680"/>
            <a:ext cx="1054303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FFFFFF"/>
                </a:solidFill>
                <a:latin typeface="Noto Sans KR"/>
                <a:ea typeface="Noto Sans KR"/>
                <a:cs typeface="Noto Sans KR"/>
              </a:defRPr>
            </a:defPPr>
          </a:lstStyle>
          <a:p xmlns:a="http://schemas.openxmlformats.org/drawingml/2006/main">
            <a:pPr marL="0" indent="0" algn="l">
              <a:buNone/>
              <a:defRPr sz="1300" b="1">
                <a:solidFill>
                  <a:srgbClr val="FFFFFF"/>
                </a:solidFill>
                <a:latin typeface="Noto Sans KR"/>
                <a:ea typeface="Noto Sans KR"/>
                <a:cs typeface="Noto Sans KR"/>
              </a:defRPr>
            </a:pPr>
            <a:r>
              <a:rPr sz="1300" b="1">
                <a:solidFill>
                  <a:srgbClr val="FFFFFF"/>
                </a:solidFill>
                <a:latin typeface="Noto Sans KR"/>
                <a:ea typeface="Noto Sans KR"/>
                <a:cs typeface="Noto Sans KR"/>
              </a:rPr>
              <a:t>최종 목표  실제 장비로 외출 중 기록, 원본 확인과 귀가 요약까지 이어서 시연</a:t>
            </a:r>
            <a:endParaRPr sz="1300"/>
          </a:p>
        </p:txBody>
      </p:sp>
      <p:sp>
        <p:nvSpPr>
          <p:cNvPr id="41" name="Text 39">
            <a:extLst xmlns:a="http://schemas.openxmlformats.org/drawingml/2006/main">
              <a:ext uri="{FF2B5EF4-FFF2-40B4-BE49-F238E27FC236}">
                <a16:creationId xmlns:a16="http://schemas.microsoft.com/office/drawing/2014/main" id="{9E829435-51D7-40AB-A169-415E6BD8100E}"/>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5 / 23</a:t>
            </a:r>
            <a:endParaRPr sz="900"/>
          </a:p>
        </p:txBody>
      </p:sp>
    </p:spTree>
    <p:extLst>
      <p:ext uri="{BB962C8B-B14F-4D97-AF65-F5344CB8AC3E}">
        <p14:creationId xmlns:p14="http://schemas.microsoft.com/office/powerpoint/2010/main" val="1352702419"/>
      </p:ext>
    </p:extLst>
  </p:cSld>
</p:sld>
</file>

<file path=ppt/slides/slide6.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77A95BC-E099-462D-A226-76E3D5DA34F4}"/>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FFA54FBD-C19B-4893-A62A-8050F418ED45}"/>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Noto Sans KR"/>
                <a:ea typeface="Noto Sans KR"/>
                <a:cs typeface="Noto Sans KR"/>
              </a:rPr>
              <a:t>03</a:t>
            </a:r>
            <a:endParaRPr sz="1000"/>
          </a:p>
        </p:txBody>
      </p:sp>
      <p:sp>
        <p:nvSpPr>
          <p:cNvPr id="4" name="Text 2">
            <a:extLst xmlns:a="http://schemas.openxmlformats.org/drawingml/2006/main">
              <a:ext uri="{FF2B5EF4-FFF2-40B4-BE49-F238E27FC236}">
                <a16:creationId xmlns:a16="http://schemas.microsoft.com/office/drawing/2014/main" id="{7937EC82-D417-44AB-8D17-8357946EA519}"/>
              </a:ext>
            </a:extLst>
          </p:cNvPr>
          <p:cNvSpPr>
            <a:spLocks xmlns:a="http://schemas.openxmlformats.org/drawingml/2006/main" noGrp="1"/>
          </p:cNvSpPr>
          <p:nvPr/>
        </p:nvSpPr>
        <p:spPr>
          <a:xfrm xmlns:a="http://schemas.openxmlformats.org/drawingml/2006/main">
            <a:off x="1207008"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8A8A8A"/>
                </a:solidFill>
                <a:latin typeface="Noto Sans KR"/>
                <a:ea typeface="Noto Sans KR"/>
                <a:cs typeface="Noto Sans KR"/>
              </a:rPr>
              <a:t>시스템 블록도</a:t>
            </a:r>
            <a:endParaRPr sz="1100"/>
          </a:p>
        </p:txBody>
      </p:sp>
      <p:sp>
        <p:nvSpPr>
          <p:cNvPr id="5" name="Text 3">
            <a:extLst xmlns:a="http://schemas.openxmlformats.org/drawingml/2006/main">
              <a:ext uri="{FF2B5EF4-FFF2-40B4-BE49-F238E27FC236}">
                <a16:creationId xmlns:a16="http://schemas.microsoft.com/office/drawing/2014/main" id="{B26BE775-B907-42A9-A6E6-52C178F24202}"/>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HTML로 보는 전체 시스템</a:t>
            </a:r>
            <a:endParaRPr sz="2600"/>
          </a:p>
        </p:txBody>
      </p:sp>
      <p:sp>
        <p:nvSpPr>
          <p:cNvPr id="39" name="Text 37">
            <a:extLst xmlns:a="http://schemas.openxmlformats.org/drawingml/2006/main">
              <a:ext uri="{FF2B5EF4-FFF2-40B4-BE49-F238E27FC236}">
                <a16:creationId xmlns:a16="http://schemas.microsoft.com/office/drawing/2014/main" id="{3F8B48B1-32AC-44ED-9808-3B52D4A25F5B}"/>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6 / 23</a:t>
            </a:r>
            <a:endParaRPr sz="900"/>
          </a:p>
        </p:txBody>
      </p:sp>
      <p:sp>
        <p:nvSpPr>
          <p:cNvPr id="40" name="open-html">
            <a:extLst xmlns:a="http://schemas.openxmlformats.org/drawingml/2006/main">
              <a:ext uri="{FF2B5EF4-FFF2-40B4-BE49-F238E27FC236}">
                <a16:creationId xmlns:a16="http://schemas.microsoft.com/office/drawing/2014/main" id="{783FB0DC-77DD-41F5-90E8-DF84A4C5EA65}"/>
              </a:ext>
            </a:extLst>
          </p:cNvPr>
          <p:cNvSpPr>
            <a:spLocks xmlns:a="http://schemas.openxmlformats.org/drawingml/2006/main" noGrp="1"/>
          </p:cNvSpPr>
          <p:nvPr/>
        </p:nvSpPr>
        <p:spPr>
          <a:xfrm xmlns:a="http://schemas.openxmlformats.org/drawingml/2006/main">
            <a:off x="790575" y="19716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850" b="1">
                <a:solidFill>
                  <a:srgbClr val="272626"/>
                </a:solidFill>
                <a:latin typeface="Noto Sans KR"/>
                <a:ea typeface="Noto Sans KR"/>
                <a:cs typeface="Noto Sans KR"/>
              </a:defRPr>
            </a:defPPr>
          </a:lstStyle>
          <a:p xmlns:a="http://schemas.openxmlformats.org/drawingml/2006/main">
            <a:pPr>
              <a:buNone/>
              <a:defRPr sz="2850" b="1">
                <a:solidFill>
                  <a:srgbClr val="272626"/>
                </a:solidFill>
                <a:latin typeface="Noto Sans KR"/>
                <a:ea typeface="Noto Sans KR"/>
                <a:cs typeface="Noto Sans KR"/>
              </a:defRPr>
            </a:pPr>
            <a:r>
              <a:rPr sz="2850" b="1" u="sng">
                <a:solidFill>
                  <a:srgbClr val="272626"/>
                </a:solidFill>
                <a:latin typeface="Noto Sans KR"/>
                <a:ea typeface="Noto Sans KR"/>
                <a:cs typeface="Noto Sans KR"/>
                <a:hlinkClick xmlns:r="http://schemas.openxmlformats.org/officeDocument/2006/relationships" r:id="R4d612b6063844516"/>
              </a:rPr>
              <a:t>전체·모듈별 블록도 열기</a:t>
            </a:r>
          </a:p>
        </p:txBody>
      </p:sp>
      <p:sp>
        <p:nvSpPr>
          <p:cNvPr id="41" name="html-summary">
            <a:extLst xmlns:a="http://schemas.openxmlformats.org/drawingml/2006/main">
              <a:ext uri="{FF2B5EF4-FFF2-40B4-BE49-F238E27FC236}">
                <a16:creationId xmlns:a16="http://schemas.microsoft.com/office/drawing/2014/main" id="{F26EA0EB-2C60-4DC1-BDBE-841010E5B56A}"/>
              </a:ext>
            </a:extLst>
          </p:cNvPr>
          <p:cNvSpPr>
            <a:spLocks xmlns:a="http://schemas.openxmlformats.org/drawingml/2006/main" noGrp="1"/>
          </p:cNvSpPr>
          <p:nvPr/>
        </p:nvSpPr>
        <p:spPr>
          <a:xfrm xmlns:a="http://schemas.openxmlformats.org/drawingml/2006/main">
            <a:off x="790575" y="27051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5A5A5A"/>
                </a:solidFill>
                <a:latin typeface="Noto Sans KR"/>
                <a:ea typeface="Noto Sans KR"/>
                <a:cs typeface="Noto Sans KR"/>
              </a:defRPr>
            </a:defPPr>
          </a:lstStyle>
          <a:p xmlns:a="http://schemas.openxmlformats.org/drawingml/2006/main">
            <a:pPr>
              <a:buNone/>
              <a:defRPr sz="1725" b="0">
                <a:solidFill>
                  <a:srgbClr val="5A5A5A"/>
                </a:solidFill>
                <a:latin typeface="Noto Sans KR"/>
                <a:ea typeface="Noto Sans KR"/>
                <a:cs typeface="Noto Sans KR"/>
              </a:defRPr>
            </a:pPr>
            <a:r>
              <a:rPr sz="1725" b="0">
                <a:solidFill>
                  <a:srgbClr val="5A5A5A"/>
                </a:solidFill>
                <a:latin typeface="Noto Sans KR"/>
                <a:ea typeface="Noto Sans KR"/>
                <a:cs typeface="Noto Sans KR"/>
              </a:rPr>
              <a:t>실제 장비와 프로그램이 연결되는 과정, 각 부분의 역할과 구현 파일</a:t>
            </a:r>
          </a:p>
        </p:txBody>
      </p:sp>
      <p:sp>
        <p:nvSpPr>
          <p:cNvPr id="42" name="html-pi">
            <a:extLst xmlns:a="http://schemas.openxmlformats.org/drawingml/2006/main">
              <a:ext uri="{FF2B5EF4-FFF2-40B4-BE49-F238E27FC236}">
                <a16:creationId xmlns:a16="http://schemas.microsoft.com/office/drawing/2014/main" id="{EE2A4958-8DDA-40EC-8631-B4F667237146}"/>
              </a:ext>
            </a:extLst>
          </p:cNvPr>
          <p:cNvSpPr>
            <a:spLocks xmlns:a="http://schemas.openxmlformats.org/drawingml/2006/main" noGrp="1"/>
          </p:cNvSpPr>
          <p:nvPr/>
        </p:nvSpPr>
        <p:spPr>
          <a:xfrm xmlns:a="http://schemas.openxmlformats.org/drawingml/2006/main">
            <a:off x="790575" y="35052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72626"/>
                </a:solidFill>
                <a:latin typeface="Noto Sans KR"/>
                <a:ea typeface="Noto Sans KR"/>
                <a:cs typeface="Noto Sans KR"/>
              </a:defRPr>
            </a:defPPr>
          </a:lstStyle>
          <a:p xmlns:a="http://schemas.openxmlformats.org/drawingml/2006/main">
            <a:pPr>
              <a:buNone/>
              <a:defRPr sz="1725" b="0">
                <a:solidFill>
                  <a:srgbClr val="272626"/>
                </a:solidFill>
                <a:latin typeface="Noto Sans KR"/>
                <a:ea typeface="Noto Sans KR"/>
                <a:cs typeface="Noto Sans KR"/>
              </a:defRPr>
            </a:pPr>
            <a:r>
              <a:rPr sz="1725" b="0">
                <a:solidFill>
                  <a:srgbClr val="272626"/>
                </a:solidFill>
                <a:latin typeface="Noto Sans KR"/>
                <a:ea typeface="Noto Sans KR"/>
                <a:cs typeface="Noto Sans KR"/>
              </a:rPr>
              <a:t>수집 프로그램   노트북 마이크·웹캠으로 소리와 영상을 녹음·촬영</a:t>
            </a:r>
          </a:p>
        </p:txBody>
      </p:sp>
      <p:sp>
        <p:nvSpPr>
          <p:cNvPr id="43" name="html-pc">
            <a:extLst xmlns:a="http://schemas.openxmlformats.org/drawingml/2006/main">
              <a:ext uri="{FF2B5EF4-FFF2-40B4-BE49-F238E27FC236}">
                <a16:creationId xmlns:a16="http://schemas.microsoft.com/office/drawing/2014/main" id="{AD18C4B2-5EBD-46A3-B9DB-D48D13CAF553}"/>
              </a:ext>
            </a:extLst>
          </p:cNvPr>
          <p:cNvSpPr>
            <a:spLocks xmlns:a="http://schemas.openxmlformats.org/drawingml/2006/main" noGrp="1"/>
          </p:cNvSpPr>
          <p:nvPr/>
        </p:nvSpPr>
        <p:spPr>
          <a:xfrm xmlns:a="http://schemas.openxmlformats.org/drawingml/2006/main">
            <a:off x="790575" y="41243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72626"/>
                </a:solidFill>
                <a:latin typeface="Noto Sans KR"/>
                <a:ea typeface="Noto Sans KR"/>
                <a:cs typeface="Noto Sans KR"/>
              </a:defRPr>
            </a:defPPr>
          </a:lstStyle>
          <a:p xmlns:a="http://schemas.openxmlformats.org/drawingml/2006/main">
            <a:pPr>
              <a:buNone/>
              <a:defRPr sz="1725" b="0">
                <a:solidFill>
                  <a:srgbClr val="272626"/>
                </a:solidFill>
                <a:latin typeface="Noto Sans KR"/>
                <a:ea typeface="Noto Sans KR"/>
                <a:cs typeface="Noto Sans KR"/>
              </a:defRPr>
            </a:pPr>
            <a:r>
              <a:rPr sz="1725" b="0">
                <a:solidFill>
                  <a:srgbClr val="272626"/>
                </a:solidFill>
                <a:latin typeface="Noto Sans KR"/>
                <a:ea typeface="Noto Sans KR"/>
                <a:cs typeface="Noto Sans KR"/>
              </a:rPr>
              <a:t>PC 프로그램   소리 분석, 기록 보관과 과거 기록을 이용한 설명</a:t>
            </a:r>
          </a:p>
        </p:txBody>
      </p:sp>
      <p:sp>
        <p:nvSpPr>
          <p:cNvPr id="44" name="html-ui">
            <a:extLst xmlns:a="http://schemas.openxmlformats.org/drawingml/2006/main">
              <a:ext uri="{FF2B5EF4-FFF2-40B4-BE49-F238E27FC236}">
                <a16:creationId xmlns:a16="http://schemas.microsoft.com/office/drawing/2014/main" id="{3C83C2D1-5A8A-499A-A4CC-82C8BE167AA1}"/>
              </a:ext>
            </a:extLst>
          </p:cNvPr>
          <p:cNvSpPr>
            <a:spLocks xmlns:a="http://schemas.openxmlformats.org/drawingml/2006/main" noGrp="1"/>
          </p:cNvSpPr>
          <p:nvPr/>
        </p:nvSpPr>
        <p:spPr>
          <a:xfrm xmlns:a="http://schemas.openxmlformats.org/drawingml/2006/main">
            <a:off x="790575" y="47434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72626"/>
                </a:solidFill>
                <a:latin typeface="Noto Sans KR"/>
                <a:ea typeface="Noto Sans KR"/>
                <a:cs typeface="Noto Sans KR"/>
              </a:defRPr>
            </a:defPPr>
          </a:lstStyle>
          <a:p xmlns:a="http://schemas.openxmlformats.org/drawingml/2006/main">
            <a:pPr>
              <a:buNone/>
              <a:defRPr sz="1725" b="0">
                <a:solidFill>
                  <a:srgbClr val="272626"/>
                </a:solidFill>
                <a:latin typeface="Noto Sans KR"/>
                <a:ea typeface="Noto Sans KR"/>
                <a:cs typeface="Noto Sans KR"/>
              </a:defRPr>
            </a:pPr>
            <a:r>
              <a:rPr sz="1725" b="0">
                <a:solidFill>
                  <a:srgbClr val="272626"/>
                </a:solidFill>
                <a:latin typeface="Noto Sans KR"/>
                <a:ea typeface="Noto Sans KR"/>
                <a:cs typeface="Noto Sans KR"/>
              </a:rPr>
              <a:t>보호자 화면   최근 장면, 녹음·영상 재생과 귀가 요약 확인</a:t>
            </a:r>
          </a:p>
        </p:txBody>
      </p:sp>
      <p:sp>
        <p:nvSpPr>
          <p:cNvPr id="45" name="html-status">
            <a:extLst xmlns:a="http://schemas.openxmlformats.org/drawingml/2006/main">
              <a:ext uri="{FF2B5EF4-FFF2-40B4-BE49-F238E27FC236}">
                <a16:creationId xmlns:a16="http://schemas.microsoft.com/office/drawing/2014/main" id="{18F50C02-FFF2-418C-B862-5A4D36947EB8}"/>
              </a:ext>
            </a:extLst>
          </p:cNvPr>
          <p:cNvSpPr>
            <a:spLocks xmlns:a="http://schemas.openxmlformats.org/drawingml/2006/main" noGrp="1"/>
          </p:cNvSpPr>
          <p:nvPr/>
        </p:nvSpPr>
        <p:spPr>
          <a:xfrm xmlns:a="http://schemas.openxmlformats.org/drawingml/2006/main">
            <a:off x="790575" y="56388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27272"/>
                </a:solidFill>
                <a:latin typeface="Noto Sans KR"/>
                <a:ea typeface="Noto Sans KR"/>
                <a:cs typeface="Noto Sans KR"/>
              </a:defRPr>
            </a:defPPr>
          </a:lstStyle>
          <a:p xmlns:a="http://schemas.openxmlformats.org/drawingml/2006/main">
            <a:pPr>
              <a:buNone/>
              <a:defRPr sz="1350" b="0">
                <a:solidFill>
                  <a:srgbClr val="727272"/>
                </a:solidFill>
                <a:latin typeface="Noto Sans KR"/>
                <a:ea typeface="Noto Sans KR"/>
                <a:cs typeface="Noto Sans KR"/>
              </a:defRPr>
            </a:pPr>
            <a:r>
              <a:rPr sz="1350" b="0">
                <a:solidFill>
                  <a:srgbClr val="727272"/>
                </a:solidFill>
                <a:latin typeface="Noto Sans KR"/>
                <a:ea typeface="Noto Sans KR"/>
                <a:cs typeface="Noto Sans KR"/>
              </a:rPr>
              <a:t>HTML은 현재 운영 구조. YAMNet과 결합 LSTM은 별도 실험이며 아직 미적용</a:t>
            </a:r>
          </a:p>
        </p:txBody>
      </p:sp>
    </p:spTree>
    <p:extLst>
      <p:ext uri="{BB962C8B-B14F-4D97-AF65-F5344CB8AC3E}">
        <p14:creationId xmlns:p14="http://schemas.microsoft.com/office/powerpoint/2010/main" val="813056585"/>
      </p:ext>
    </p:extLst>
  </p:cSld>
</p:sld>
</file>

<file path=ppt/slides/slide7.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8C7F5E1-0EC2-4B82-9359-B4D590B49F33}"/>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324159A4-9917-48EC-BF9F-82E3F12B95DD}"/>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1000" b="1" i="0" u="none" strike="noStrike" cap="none" spc="0" baseline="0">
                <a:ln>
                  <a:noFill/>
                </a:ln>
                <a:solidFill>
                  <a:srgbClr val="FFFFFF"/>
                </a:solidFill>
                <a:latin typeface="Noto Sans KR"/>
                <a:ea typeface="Noto Sans KR"/>
                <a:cs typeface="Noto Sans KR"/>
              </a:rPr>
              <a:t>03</a:t>
            </a:r>
            <a:endParaRPr sz="1000" b="0" i="0" u="none" strike="noStrike" kern="1200" cap="none" spc="0" baseline="0">
              <a:ln>
                <a:noFill/>
              </a:ln>
              <a:solidFill>
                <a:prstClr val="black"/>
              </a:solidFill>
              <a:latin typeface="Calibri"/>
              <a:ea typeface="Calibri"/>
              <a:cs typeface="Calibri"/>
            </a:endParaRPr>
          </a:p>
        </p:txBody>
      </p:sp>
      <p:sp>
        <p:nvSpPr>
          <p:cNvPr id="4" name="Text 2">
            <a:extLst xmlns:a="http://schemas.openxmlformats.org/drawingml/2006/main">
              <a:ext uri="{FF2B5EF4-FFF2-40B4-BE49-F238E27FC236}">
                <a16:creationId xmlns:a16="http://schemas.microsoft.com/office/drawing/2014/main" id="{E6908092-7388-433B-96BC-69453D745E4A}"/>
              </a:ext>
            </a:extLst>
          </p:cNvPr>
          <p:cNvSpPr>
            <a:spLocks xmlns:a="http://schemas.openxmlformats.org/drawingml/2006/main" noGrp="1"/>
          </p:cNvSpPr>
          <p:nvPr/>
        </p:nvSpPr>
        <p:spPr>
          <a:xfrm xmlns:a="http://schemas.openxmlformats.org/drawingml/2006/main">
            <a:off x="1207008"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marR="0" lvl="0" indent="0" algn="l" defTabSz="914400">
              <a:lnSpc>
                <a:spcPct val="100000"/>
              </a:lnSpc>
              <a:spcBef>
                <a:spcPts val="0"/>
              </a:spcBef>
              <a:spcAft>
                <a:spcPts val="0"/>
              </a:spcAft>
              <a:buClrTx/>
              <a:buSzTx/>
              <a:buFontTx/>
              <a:buNone/>
              <a:defRPr sz="1100" b="0">
                <a:solidFill>
                  <a:srgbClr val="8A8A8A"/>
                </a:solidFill>
                <a:latin typeface="Noto Sans KR"/>
                <a:ea typeface="Noto Sans KR"/>
                <a:cs typeface="Noto Sans KR"/>
              </a:defRPr>
            </a:pPr>
            <a:r>
              <a:rPr sz="1100" b="0" i="0" u="none" strike="noStrike" cap="none" spc="0" baseline="0">
                <a:ln>
                  <a:noFill/>
                </a:ln>
                <a:solidFill>
                  <a:srgbClr val="8A8A8A"/>
                </a:solidFill>
                <a:latin typeface="Noto Sans KR"/>
                <a:ea typeface="Noto Sans KR"/>
                <a:cs typeface="Noto Sans KR"/>
              </a:rPr>
              <a:t>자동 녹음과 분석</a:t>
            </a:r>
            <a:endParaRPr sz="1100" b="0" i="0" u="none" strike="noStrike" kern="1200" cap="none" spc="0" baseline="0">
              <a:ln>
                <a:noFill/>
              </a:ln>
              <a:solidFill>
                <a:prstClr val="black"/>
              </a:solidFill>
              <a:latin typeface="Calibri"/>
              <a:ea typeface="Calibri"/>
              <a:cs typeface="Calibri"/>
            </a:endParaRPr>
          </a:p>
        </p:txBody>
      </p:sp>
      <p:sp>
        <p:nvSpPr>
          <p:cNvPr id="5" name="Text 3">
            <a:extLst xmlns:a="http://schemas.openxmlformats.org/drawingml/2006/main">
              <a:ext uri="{FF2B5EF4-FFF2-40B4-BE49-F238E27FC236}">
                <a16:creationId xmlns:a16="http://schemas.microsoft.com/office/drawing/2014/main" id="{53AEEB47-EA15-47B8-A8E5-47334BEE9303}"/>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marR="0" lvl="0" indent="0" algn="l" defTabSz="914400">
              <a:lnSpc>
                <a:spcPct val="100000"/>
              </a:lnSpc>
              <a:spcBef>
                <a:spcPts val="0"/>
              </a:spcBef>
              <a:spcAft>
                <a:spcPts val="0"/>
              </a:spcAft>
              <a:buClrTx/>
              <a:buSzTx/>
              <a:buFontTx/>
              <a:buNone/>
              <a:defRPr sz="2600" b="1">
                <a:solidFill>
                  <a:srgbClr val="272626"/>
                </a:solidFill>
                <a:latin typeface="Noto Sans KR"/>
                <a:ea typeface="Noto Sans KR"/>
                <a:cs typeface="Noto Sans KR"/>
              </a:defRPr>
            </a:pPr>
            <a:r>
              <a:rPr sz="2600" b="1" i="0" u="none" strike="noStrike" cap="none" spc="0" baseline="0">
                <a:ln>
                  <a:noFill/>
                </a:ln>
                <a:solidFill>
                  <a:srgbClr val="272626"/>
                </a:solidFill>
                <a:latin typeface="Noto Sans KR"/>
                <a:ea typeface="Noto Sans KR"/>
                <a:cs typeface="Noto Sans KR"/>
              </a:rPr>
              <a:t>외출 모드를 켜면 자동으로 기록</a:t>
            </a:r>
            <a:endParaRPr sz="2600" b="0" i="0" u="none" strike="noStrike" kern="1200" cap="none" spc="0" baseline="0">
              <a:ln>
                <a:noFill/>
              </a:ln>
              <a:solidFill>
                <a:prstClr val="black"/>
              </a:solidFill>
              <a:latin typeface="Calibri"/>
              <a:ea typeface="Calibri"/>
              <a:cs typeface="Calibri"/>
            </a:endParaRPr>
          </a:p>
        </p:txBody>
      </p:sp>
      <p:sp>
        <p:nvSpPr>
          <p:cNvPr id="63" name="Text 61">
            <a:extLst xmlns:a="http://schemas.openxmlformats.org/drawingml/2006/main">
              <a:ext uri="{FF2B5EF4-FFF2-40B4-BE49-F238E27FC236}">
                <a16:creationId xmlns:a16="http://schemas.microsoft.com/office/drawing/2014/main" id="{CA51E666-84CC-4CC0-84E4-D3980204C6D6}"/>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marR="0" lvl="0" indent="0" algn="r" defTabSz="914400">
              <a:lnSpc>
                <a:spcPct val="100000"/>
              </a:lnSpc>
              <a:spcBef>
                <a:spcPts val="0"/>
              </a:spcBef>
              <a:spcAft>
                <a:spcPts val="0"/>
              </a:spcAft>
              <a:buClrTx/>
              <a:buSzTx/>
              <a:buFontTx/>
              <a:buNone/>
              <a:defRPr sz="900">
                <a:solidFill>
                  <a:srgbClr val="8A8A8A"/>
                </a:solidFill>
                <a:latin typeface="Noto Sans KR"/>
                <a:ea typeface="Noto Sans KR"/>
                <a:cs typeface="Noto Sans KR"/>
              </a:defRPr>
            </a:pPr>
            <a:r>
              <a:rPr sz="900" b="0" i="0" u="none" strike="noStrike" cap="none" spc="0" baseline="0">
                <a:ln>
                  <a:noFill/>
                </a:ln>
                <a:solidFill>
                  <a:srgbClr val="8A8A8A"/>
                </a:solidFill>
                <a:latin typeface="Noto Sans KR"/>
                <a:ea typeface="Noto Sans KR"/>
                <a:cs typeface="Noto Sans KR"/>
              </a:rPr>
              <a:t>7 / 23</a:t>
            </a:r>
            <a:endParaRPr sz="900" b="0" i="0" u="none" strike="noStrike" kern="1200" cap="none" spc="0" baseline="0">
              <a:ln>
                <a:noFill/>
              </a:ln>
              <a:solidFill>
                <a:prstClr val="black"/>
              </a:solidFill>
              <a:latin typeface="Calibri"/>
              <a:ea typeface="Calibri"/>
              <a:cs typeface="Calibri"/>
            </a:endParaRPr>
          </a:p>
        </p:txBody>
      </p:sp>
      <p:graphicFrame>
        <p:nvGraphicFramePr>
          <p:cNvPr id="64" name="">
            <a:extLst xmlns:a="http://schemas.openxmlformats.org/drawingml/2006/main">
              <a:ext uri="{FF2B5EF4-FFF2-40B4-BE49-F238E27FC236}">
                <a16:creationId xmlns:a16="http://schemas.microsoft.com/office/drawing/2014/main" id="{58255328-F7AA-4A6D-82FE-0CBC3B458A6D}"/>
              </a:ext>
            </a:extLst>
          </p:cNvPr>
          <p:cNvGraphicFramePr/>
          <p:nvPr/>
        </p:nvGraphicFramePr>
        <p:xfrm>
          <a:off xmlns:a="http://schemas.openxmlformats.org/drawingml/2006/main" x="504825" y="1762125"/>
          <a:ext xmlns:a="http://schemas.openxmlformats.org/drawingml/2006/main" cx="11182350" cy="3381375"/>
        </p:xfrm>
        <a:graphic xmlns:a="http://schemas.openxmlformats.org/drawingml/2006/main">
          <a:graphicData uri="http://schemas.openxmlformats.org/drawingml/2006/table">
            <a:tbl>
              <a:tblPr/>
              <a:tblGrid>
                <a:gridCol w="1762125"/>
                <a:gridCol w="5667375"/>
                <a:gridCol w="3752850"/>
              </a:tblGrid>
              <a:tr h="676275">
                <a:tc>
                  <a:txBody>
                    <a:bodyPr lIns="114300" tIns="114300" rIns="114300" bIns="114300">
                      <a:noAutofit/>
                    </a:bodyPr>
                    <a:lstStyle/>
                    <a:p>
                      <a:pPr algn="l">
                        <a:buNone/>
                      </a:pPr>
                      <a:r>
                        <a:rPr sz="1500" b="1">
                          <a:solidFill>
                            <a:srgbClr val="FFFFFF"/>
                          </a:solidFill>
                          <a:latin typeface="Noto Sans KR"/>
                          <a:ea typeface="Noto Sans KR"/>
                          <a:cs typeface="Noto Sans KR"/>
                        </a:rPr>
                        <a:t>단계</a:t>
                      </a:r>
                    </a:p>
                  </a:txBody>
                  <a:tcPr marL="152400" marR="133350" marT="114300" marB="114300" anchor="ctr">
                    <a:lnL w="9525">
                      <a:solidFill>
                        <a:srgbClr val="D3D3D3"/>
                      </a:solidFill>
                      <a:prstDash val="solid"/>
                    </a:lnL>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114300" tIns="114300" rIns="114300" bIns="114300">
                      <a:noAutofit/>
                    </a:bodyPr>
                    <a:lstStyle/>
                    <a:p>
                      <a:pPr algn="l">
                        <a:buNone/>
                      </a:pPr>
                      <a:r>
                        <a:rPr sz="1500" b="1">
                          <a:solidFill>
                            <a:srgbClr val="FFFFFF"/>
                          </a:solidFill>
                          <a:latin typeface="Noto Sans KR"/>
                          <a:ea typeface="Noto Sans KR"/>
                          <a:cs typeface="Noto Sans KR"/>
                        </a:rPr>
                        <a:t>프로그램이 하는 일</a:t>
                      </a:r>
                    </a:p>
                  </a:txBody>
                  <a:tcPr marL="152400" marR="133350" marT="114300" marB="1143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114300" tIns="114300" rIns="114300" bIns="114300">
                      <a:noAutofit/>
                    </a:bodyPr>
                    <a:lstStyle/>
                    <a:p>
                      <a:pPr algn="l">
                        <a:buNone/>
                      </a:pPr>
                      <a:r>
                        <a:rPr sz="1500" b="1">
                          <a:solidFill>
                            <a:srgbClr val="FFFFFF"/>
                          </a:solidFill>
                          <a:latin typeface="Noto Sans KR"/>
                          <a:ea typeface="Noto Sans KR"/>
                          <a:cs typeface="Noto Sans KR"/>
                        </a:rPr>
                        <a:t>현재 확인한 범위</a:t>
                      </a:r>
                    </a:p>
                  </a:txBody>
                  <a:tcPr marL="152400" marR="133350" marT="114300" marB="1143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r>
              <a:tr h="676275">
                <a:tc>
                  <a:txBody>
                    <a:bodyPr lIns="114300" tIns="114300" rIns="114300" bIns="114300">
                      <a:noAutofit/>
                    </a:bodyPr>
                    <a:lstStyle/>
                    <a:p>
                      <a:pPr algn="l">
                        <a:buNone/>
                      </a:pPr>
                      <a:r>
                        <a:rPr sz="1500" b="0">
                          <a:solidFill>
                            <a:srgbClr val="272626"/>
                          </a:solidFill>
                          <a:latin typeface="Noto Sans KR"/>
                          <a:ea typeface="Noto Sans KR"/>
                          <a:cs typeface="Noto Sans KR"/>
                        </a:rPr>
                        <a:t>외출 시작</a:t>
                      </a:r>
                    </a:p>
                  </a:txBody>
                  <a:tcPr marL="152400" marR="133350" marT="114300" marB="1143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저장 동의를 받고 새 외출 기록 시작</a:t>
                      </a:r>
                    </a:p>
                  </a:txBody>
                  <a:tcPr marL="152400" marR="133350" marT="114300" marB="114300" anchor="ctr">
                    <a:lnR w="9525">
                      <a:solidFill>
                        <a:srgbClr val="D3D3D3"/>
                      </a:solidFill>
                      <a:prstDash val="solid"/>
                    </a:lnR>
                    <a:lnB w="9525">
                      <a:solidFill>
                        <a:srgbClr val="D3D3D3"/>
                      </a:solidFill>
                      <a:prstDash val="solid"/>
                    </a:lnB>
                    <a:solidFill>
                      <a:srgbClr val="FAFAFA"/>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화면과 서버 동작 확인</a:t>
                      </a:r>
                    </a:p>
                  </a:txBody>
                  <a:tcPr marL="152400" marR="133350" marT="114300" marB="114300" anchor="ctr">
                    <a:lnR w="9525">
                      <a:solidFill>
                        <a:srgbClr val="D3D3D3"/>
                      </a:solidFill>
                      <a:prstDash val="solid"/>
                    </a:lnR>
                    <a:lnB w="9525">
                      <a:solidFill>
                        <a:srgbClr val="D3D3D3"/>
                      </a:solidFill>
                      <a:prstDash val="solid"/>
                    </a:lnB>
                    <a:solidFill>
                      <a:srgbClr val="FAFAFA"/>
                    </a:solidFill>
                  </a:tcPr>
                </a:tc>
              </a:tr>
              <a:tr h="676275">
                <a:tc>
                  <a:txBody>
                    <a:bodyPr lIns="114300" tIns="114300" rIns="114300" bIns="114300">
                      <a:noAutofit/>
                    </a:bodyPr>
                    <a:lstStyle/>
                    <a:p>
                      <a:pPr algn="l">
                        <a:buNone/>
                      </a:pPr>
                      <a:r>
                        <a:rPr sz="1500" b="0">
                          <a:solidFill>
                            <a:srgbClr val="272626"/>
                          </a:solidFill>
                          <a:latin typeface="Noto Sans KR"/>
                          <a:ea typeface="Noto Sans KR"/>
                          <a:cs typeface="Noto Sans KR"/>
                        </a:rPr>
                        <a:t>녹음·촬영</a:t>
                      </a:r>
                    </a:p>
                  </a:txBody>
                  <a:tcPr marL="152400" marR="133350" marT="114300" marB="1143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수집 프로그램이 소리와 영상을 짧게 나눠 수집</a:t>
                      </a:r>
                    </a:p>
                  </a:txBody>
                  <a:tcPr marL="152400" marR="133350" marT="114300" marB="114300" anchor="ctr">
                    <a:lnR w="9525">
                      <a:solidFill>
                        <a:srgbClr val="D3D3D3"/>
                      </a:solidFill>
                      <a:prstDash val="solid"/>
                    </a:lnR>
                    <a:lnB w="9525">
                      <a:solidFill>
                        <a:srgbClr val="D3D3D3"/>
                      </a:solidFill>
                      <a:prstDash val="solid"/>
                    </a:lnB>
                    <a:solidFill>
                      <a:srgbClr val="E3E3E3"/>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구현 완료, 실제 장비 테스트 예정</a:t>
                      </a:r>
                    </a:p>
                  </a:txBody>
                  <a:tcPr marL="152400" marR="133350" marT="114300" marB="114300" anchor="ctr">
                    <a:lnR w="9525">
                      <a:solidFill>
                        <a:srgbClr val="D3D3D3"/>
                      </a:solidFill>
                      <a:prstDash val="solid"/>
                    </a:lnR>
                    <a:lnB w="9525">
                      <a:solidFill>
                        <a:srgbClr val="D3D3D3"/>
                      </a:solidFill>
                      <a:prstDash val="solid"/>
                    </a:lnB>
                    <a:solidFill>
                      <a:srgbClr val="E3E3E3"/>
                    </a:solidFill>
                  </a:tcPr>
                </a:tc>
              </a:tr>
              <a:tr h="676275">
                <a:tc>
                  <a:txBody>
                    <a:bodyPr lIns="114300" tIns="114300" rIns="114300" bIns="114300">
                      <a:noAutofit/>
                    </a:bodyPr>
                    <a:lstStyle/>
                    <a:p>
                      <a:pPr algn="l">
                        <a:buNone/>
                      </a:pPr>
                      <a:r>
                        <a:rPr sz="1500" b="0">
                          <a:solidFill>
                            <a:srgbClr val="272626"/>
                          </a:solidFill>
                          <a:latin typeface="Noto Sans KR"/>
                          <a:ea typeface="Noto Sans KR"/>
                          <a:cs typeface="Noto Sans KR"/>
                        </a:rPr>
                        <a:t>분석·보관</a:t>
                      </a:r>
                    </a:p>
                  </a:txBody>
                  <a:tcPr marL="152400" marR="133350" marT="114300" marB="1143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녹음 분석 후 소리가 난 전후 영상 연결</a:t>
                      </a:r>
                    </a:p>
                  </a:txBody>
                  <a:tcPr marL="152400" marR="133350" marT="114300" marB="114300" anchor="ctr">
                    <a:lnR w="9525">
                      <a:solidFill>
                        <a:srgbClr val="D3D3D3"/>
                      </a:solidFill>
                      <a:prstDash val="solid"/>
                    </a:lnR>
                    <a:lnB w="9525">
                      <a:solidFill>
                        <a:srgbClr val="D3D3D3"/>
                      </a:solidFill>
                      <a:prstDash val="solid"/>
                    </a:lnB>
                    <a:solidFill>
                      <a:srgbClr val="FAFAFA"/>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준비한 파일로 동작 확인</a:t>
                      </a:r>
                    </a:p>
                  </a:txBody>
                  <a:tcPr marL="152400" marR="133350" marT="114300" marB="114300" anchor="ctr">
                    <a:lnR w="9525">
                      <a:solidFill>
                        <a:srgbClr val="D3D3D3"/>
                      </a:solidFill>
                      <a:prstDash val="solid"/>
                    </a:lnR>
                    <a:lnB w="9525">
                      <a:solidFill>
                        <a:srgbClr val="D3D3D3"/>
                      </a:solidFill>
                      <a:prstDash val="solid"/>
                    </a:lnB>
                    <a:solidFill>
                      <a:srgbClr val="FAFAFA"/>
                    </a:solidFill>
                  </a:tcPr>
                </a:tc>
              </a:tr>
              <a:tr h="676275">
                <a:tc>
                  <a:txBody>
                    <a:bodyPr lIns="114300" tIns="114300" rIns="114300" bIns="114300">
                      <a:noAutofit/>
                    </a:bodyPr>
                    <a:lstStyle/>
                    <a:p>
                      <a:pPr algn="l">
                        <a:buNone/>
                      </a:pPr>
                      <a:r>
                        <a:rPr sz="1500" b="0">
                          <a:solidFill>
                            <a:srgbClr val="272626"/>
                          </a:solidFill>
                          <a:latin typeface="Noto Sans KR"/>
                          <a:ea typeface="Noto Sans KR"/>
                          <a:cs typeface="Noto Sans KR"/>
                        </a:rPr>
                        <a:t>귀가</a:t>
                      </a:r>
                    </a:p>
                  </a:txBody>
                  <a:tcPr marL="152400" marR="133350" marT="114300" marB="1143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남은 구간 저장 후 녹음을 끝내고 요약</a:t>
                      </a:r>
                    </a:p>
                  </a:txBody>
                  <a:tcPr marL="152400" marR="133350" marT="114300" marB="114300" anchor="ctr">
                    <a:lnR w="9525">
                      <a:solidFill>
                        <a:srgbClr val="D3D3D3"/>
                      </a:solidFill>
                      <a:prstDash val="solid"/>
                    </a:lnR>
                    <a:lnB w="9525">
                      <a:solidFill>
                        <a:srgbClr val="D3D3D3"/>
                      </a:solidFill>
                      <a:prstDash val="solid"/>
                    </a:lnB>
                    <a:solidFill>
                      <a:srgbClr val="E3E3E3"/>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시작·종료 과정 자동 테스트</a:t>
                      </a:r>
                    </a:p>
                  </a:txBody>
                  <a:tcPr marL="152400" marR="133350" marT="114300" marB="114300" anchor="ctr">
                    <a:lnR w="9525">
                      <a:solidFill>
                        <a:srgbClr val="D3D3D3"/>
                      </a:solidFill>
                      <a:prstDash val="solid"/>
                    </a:lnR>
                    <a:lnB w="9525">
                      <a:solidFill>
                        <a:srgbClr val="D3D3D3"/>
                      </a:solidFill>
                      <a:prstDash val="solid"/>
                    </a:lnB>
                    <a:solidFill>
                      <a:srgbClr val="E3E3E3"/>
                    </a:solidFill>
                  </a:tcPr>
                </a:tc>
              </a:tr>
            </a:tbl>
          </a:graphicData>
        </a:graphic>
      </p:graphicFrame>
      <p:sp>
        <p:nvSpPr>
          <p:cNvPr id="65" name="auto-status">
            <a:extLst xmlns:a="http://schemas.openxmlformats.org/drawingml/2006/main">
              <a:ext uri="{FF2B5EF4-FFF2-40B4-BE49-F238E27FC236}">
                <a16:creationId xmlns:a16="http://schemas.microsoft.com/office/drawing/2014/main" id="{2CE94D24-CD4B-49AC-AF8F-B1452091F704}"/>
              </a:ext>
            </a:extLst>
          </p:cNvPr>
          <p:cNvSpPr>
            <a:spLocks xmlns:a="http://schemas.openxmlformats.org/drawingml/2006/main" noGrp="1"/>
          </p:cNvSpPr>
          <p:nvPr/>
        </p:nvSpPr>
        <p:spPr>
          <a:xfrm xmlns:a="http://schemas.openxmlformats.org/drawingml/2006/main">
            <a:off x="504825" y="5400675"/>
            <a:ext cx="11182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1">
                <a:solidFill>
                  <a:srgbClr val="272626"/>
                </a:solidFill>
                <a:latin typeface="Noto Sans KR"/>
                <a:ea typeface="Noto Sans KR"/>
                <a:cs typeface="Noto Sans KR"/>
              </a:defRPr>
            </a:defPPr>
          </a:lstStyle>
          <a:p xmlns:a="http://schemas.openxmlformats.org/drawingml/2006/main">
            <a:pPr>
              <a:buNone/>
              <a:defRPr sz="1725" b="1">
                <a:solidFill>
                  <a:srgbClr val="272626"/>
                </a:solidFill>
                <a:latin typeface="Noto Sans KR"/>
                <a:ea typeface="Noto Sans KR"/>
                <a:cs typeface="Noto Sans KR"/>
              </a:defRPr>
            </a:pPr>
            <a:r>
              <a:rPr sz="1725" b="1">
                <a:solidFill>
                  <a:srgbClr val="272626"/>
                </a:solidFill>
                <a:latin typeface="Noto Sans KR"/>
                <a:ea typeface="Noto Sans KR"/>
                <a:cs typeface="Noto Sans KR"/>
              </a:rPr>
              <a:t>연결 대기, 분석 중, 종료 중, 연결 끊김을 화면에 표시</a:t>
            </a:r>
          </a:p>
        </p:txBody>
      </p:sp>
      <p:sp>
        <p:nvSpPr>
          <p:cNvPr id="66" name="auto-limit">
            <a:extLst xmlns:a="http://schemas.openxmlformats.org/drawingml/2006/main">
              <a:ext uri="{FF2B5EF4-FFF2-40B4-BE49-F238E27FC236}">
                <a16:creationId xmlns:a16="http://schemas.microsoft.com/office/drawing/2014/main" id="{FECC3C0C-18C6-4629-8E11-EAC06DA7E71C}"/>
              </a:ext>
            </a:extLst>
          </p:cNvPr>
          <p:cNvSpPr>
            <a:spLocks xmlns:a="http://schemas.openxmlformats.org/drawingml/2006/main" noGrp="1"/>
          </p:cNvSpPr>
          <p:nvPr/>
        </p:nvSpPr>
        <p:spPr>
          <a:xfrm xmlns:a="http://schemas.openxmlformats.org/drawingml/2006/main">
            <a:off x="504825" y="5857875"/>
            <a:ext cx="11182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27272"/>
                </a:solidFill>
                <a:latin typeface="Noto Sans KR"/>
                <a:ea typeface="Noto Sans KR"/>
                <a:cs typeface="Noto Sans KR"/>
              </a:defRPr>
            </a:defPPr>
          </a:lstStyle>
          <a:p xmlns:a="http://schemas.openxmlformats.org/drawingml/2006/main">
            <a:pPr>
              <a:buNone/>
              <a:defRPr sz="1350" b="0">
                <a:solidFill>
                  <a:srgbClr val="727272"/>
                </a:solidFill>
                <a:latin typeface="Noto Sans KR"/>
                <a:ea typeface="Noto Sans KR"/>
                <a:cs typeface="Noto Sans KR"/>
              </a:defRPr>
            </a:pPr>
            <a:r>
              <a:rPr sz="1350" b="0">
                <a:solidFill>
                  <a:srgbClr val="727272"/>
                </a:solidFill>
                <a:latin typeface="Noto Sans KR"/>
                <a:ea typeface="Noto Sans KR"/>
                <a:cs typeface="Noto Sans KR"/>
              </a:rPr>
              <a:t>실제 마이크·카메라 연결과 장시간 녹음은 앞으로 확인할 작업</a:t>
            </a:r>
          </a:p>
        </p:txBody>
      </p:sp>
    </p:spTree>
    <p:extLst>
      <p:ext uri="{BB962C8B-B14F-4D97-AF65-F5344CB8AC3E}">
        <p14:creationId xmlns:p14="http://schemas.microsoft.com/office/powerpoint/2010/main" val="3686213346"/>
      </p:ext>
    </p:extLst>
  </p:cSld>
</p:sld>
</file>

<file path=ppt/slides/slide8.xml><?xml version="1.0" encoding="utf-8"?>
<p:sld xmlns:p="http://schemas.openxmlformats.org/presentationml/2006/main">
  <p:cSld>
    <p:bg>
      <p:bgPr>
        <a:solidFill xmlns:a="http://schemas.openxmlformats.org/drawingml/2006/main">
          <a:srgbClr val="272626"/>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D2D69C4-6D27-438B-AB77-5E6A54D059A4}"/>
              </a:ext>
            </a:extLst>
          </p:cNvPr>
          <p:cNvSpPr>
            <a:spLocks xmlns:a="http://schemas.openxmlformats.org/drawingml/2006/main" noGrp="1"/>
          </p:cNvSpPr>
          <p:nvPr/>
        </p:nvSpPr>
        <p:spPr>
          <a:xfrm xmlns:a="http://schemas.openxmlformats.org/drawingml/2006/main">
            <a:off x="5730088" y="2331720"/>
            <a:ext cx="731520" cy="329184"/>
          </a:xfrm>
          <a:prstGeom xmlns:a="http://schemas.openxmlformats.org/drawingml/2006/main" prst="roundRect">
            <a:avLst>
              <a:gd name="adj" fmla="val 50000"/>
            </a:avLst>
          </a:prstGeom>
          <a:solidFill xmlns:a="http://schemas.openxmlformats.org/drawingml/2006/main">
            <a:srgbClr val="3A3939"/>
          </a:solidFill>
          <a:ln xmlns:a="http://schemas.openxmlformats.org/drawingml/2006/main" w="12700">
            <a:solidFill>
              <a:srgbClr val="3A3939"/>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E79B78B6-A5C0-4030-A4BF-B4652529C35F}"/>
              </a:ext>
            </a:extLst>
          </p:cNvPr>
          <p:cNvSpPr>
            <a:spLocks xmlns:a="http://schemas.openxmlformats.org/drawingml/2006/main" noGrp="1"/>
          </p:cNvSpPr>
          <p:nvPr/>
        </p:nvSpPr>
        <p:spPr>
          <a:xfrm xmlns:a="http://schemas.openxmlformats.org/drawingml/2006/main">
            <a:off x="5730088" y="2331720"/>
            <a:ext cx="7315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Noto Sans KR"/>
                <a:ea typeface="Noto Sans KR"/>
                <a:cs typeface="Noto Sans KR"/>
              </a:rPr>
              <a:t>04</a:t>
            </a:r>
            <a:endParaRPr sz="1100"/>
          </a:p>
        </p:txBody>
      </p:sp>
      <p:sp>
        <p:nvSpPr>
          <p:cNvPr id="4" name="Text 2">
            <a:extLst xmlns:a="http://schemas.openxmlformats.org/drawingml/2006/main">
              <a:ext uri="{FF2B5EF4-FFF2-40B4-BE49-F238E27FC236}">
                <a16:creationId xmlns:a16="http://schemas.microsoft.com/office/drawing/2014/main" id="{B7139321-7537-4FBD-AAD8-10F495C7B0DF}"/>
              </a:ext>
            </a:extLst>
          </p:cNvPr>
          <p:cNvSpPr>
            <a:spLocks xmlns:a="http://schemas.openxmlformats.org/drawingml/2006/main" noGrp="1"/>
          </p:cNvSpPr>
          <p:nvPr/>
        </p:nvSpPr>
        <p:spPr>
          <a:xfrm xmlns:a="http://schemas.openxmlformats.org/drawingml/2006/main">
            <a:off x="457200" y="2788920"/>
            <a:ext cx="11277295"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3000" b="1">
                <a:solidFill>
                  <a:srgbClr val="FFFFFF"/>
                </a:solidFill>
                <a:latin typeface="Noto Sans KR"/>
                <a:ea typeface="Noto Sans KR"/>
                <a:cs typeface="Noto Sans KR"/>
              </a:defRPr>
            </a:defPPr>
          </a:lstStyle>
          <a:p xmlns:a="http://schemas.openxmlformats.org/drawingml/2006/main">
            <a:pPr marL="0" indent="0" algn="ctr">
              <a:buNone/>
              <a:defRPr sz="3000" b="1">
                <a:solidFill>
                  <a:srgbClr val="FFFFFF"/>
                </a:solidFill>
                <a:latin typeface="Noto Sans KR"/>
                <a:ea typeface="Noto Sans KR"/>
                <a:cs typeface="Noto Sans KR"/>
              </a:defRPr>
            </a:pPr>
            <a:r>
              <a:rPr sz="3000" b="1">
                <a:solidFill>
                  <a:srgbClr val="FFFFFF"/>
                </a:solidFill>
                <a:latin typeface="Noto Sans KR"/>
                <a:ea typeface="Noto Sans KR"/>
                <a:cs typeface="Noto Sans KR"/>
              </a:rPr>
              <a:t>소리 분석과 과거 기록 활용</a:t>
            </a:r>
            <a:endParaRPr sz="3000"/>
          </a:p>
        </p:txBody>
      </p:sp>
      <p:sp>
        <p:nvSpPr>
          <p:cNvPr id="5" name="Text 3">
            <a:extLst xmlns:a="http://schemas.openxmlformats.org/drawingml/2006/main">
              <a:ext uri="{FF2B5EF4-FFF2-40B4-BE49-F238E27FC236}">
                <a16:creationId xmlns:a16="http://schemas.microsoft.com/office/drawing/2014/main" id="{83061C91-798F-467A-82E9-66574C639254}"/>
              </a:ext>
            </a:extLst>
          </p:cNvPr>
          <p:cNvSpPr>
            <a:spLocks xmlns:a="http://schemas.openxmlformats.org/drawingml/2006/main" noGrp="1"/>
          </p:cNvSpPr>
          <p:nvPr/>
        </p:nvSpPr>
        <p:spPr>
          <a:xfrm xmlns:a="http://schemas.openxmlformats.org/drawingml/2006/main">
            <a:off x="914400" y="3520440"/>
            <a:ext cx="1036289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0">
                <a:solidFill>
                  <a:srgbClr val="8A8A8A"/>
                </a:solidFill>
                <a:latin typeface="Noto Sans KR"/>
                <a:ea typeface="Noto Sans KR"/>
                <a:cs typeface="Noto Sans KR"/>
              </a:defRPr>
            </a:defPPr>
          </a:lstStyle>
          <a:p xmlns:a="http://schemas.openxmlformats.org/drawingml/2006/main">
            <a:pPr marL="0" indent="0" algn="ctr">
              <a:buNone/>
              <a:defRPr sz="1300" b="0">
                <a:solidFill>
                  <a:srgbClr val="8A8A8A"/>
                </a:solidFill>
                <a:latin typeface="Noto Sans KR"/>
                <a:ea typeface="Noto Sans KR"/>
                <a:cs typeface="Noto Sans KR"/>
              </a:defRPr>
            </a:pPr>
            <a:r>
              <a:rPr sz="1300" b="0">
                <a:solidFill>
                  <a:srgbClr val="8A8A8A"/>
                </a:solidFill>
                <a:latin typeface="Noto Sans KR"/>
                <a:ea typeface="Noto Sans KR"/>
                <a:cs typeface="Noto Sans KR"/>
              </a:rPr>
              <a:t>짖음 소리 후보를 찾고 원본 장면을 연결한 뒤, 과거 기록을 바탕으로 설명</a:t>
            </a:r>
            <a:endParaRPr sz="1300"/>
          </a:p>
        </p:txBody>
      </p:sp>
      <p:sp>
        <p:nvSpPr>
          <p:cNvPr id="6" name="Text 4">
            <a:extLst xmlns:a="http://schemas.openxmlformats.org/drawingml/2006/main">
              <a:ext uri="{FF2B5EF4-FFF2-40B4-BE49-F238E27FC236}">
                <a16:creationId xmlns:a16="http://schemas.microsoft.com/office/drawing/2014/main" id="{017FA5E2-24E6-4E41-B78F-75CB62AC22F6}"/>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8 / 23</a:t>
            </a:r>
            <a:endParaRPr sz="900"/>
          </a:p>
        </p:txBody>
      </p:sp>
    </p:spTree>
    <p:extLst>
      <p:ext uri="{BB962C8B-B14F-4D97-AF65-F5344CB8AC3E}">
        <p14:creationId xmlns:p14="http://schemas.microsoft.com/office/powerpoint/2010/main" val="895796650"/>
      </p:ext>
    </p:extLst>
  </p:cSld>
</p:sld>
</file>

<file path=ppt/slides/slide9.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DCEE497-68B2-4E56-83FB-439EB088BDAE}"/>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254D8542-B5D4-4796-8560-FAE165FAA806}"/>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5884C1AB-DB93-4C59-B731-CF024008E291}"/>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핵심 기능과 검증</a:t>
            </a:r>
            <a:endParaRPr sz="1100"/>
          </a:p>
        </p:txBody>
      </p:sp>
      <p:sp>
        <p:nvSpPr>
          <p:cNvPr id="5" name="Text 3">
            <a:extLst xmlns:a="http://schemas.openxmlformats.org/drawingml/2006/main">
              <a:ext uri="{FF2B5EF4-FFF2-40B4-BE49-F238E27FC236}">
                <a16:creationId xmlns:a16="http://schemas.microsoft.com/office/drawing/2014/main" id="{B9C88B0F-0BEB-4D05-A4B2-8F113CF46CD6}"/>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음역대와 시간 변화를 이용한 짖음 분석</a:t>
            </a:r>
            <a:endParaRPr sz="2600"/>
          </a:p>
        </p:txBody>
      </p:sp>
      <p:sp>
        <p:nvSpPr>
          <p:cNvPr id="6" name="Shape 4">
            <a:extLst xmlns:a="http://schemas.openxmlformats.org/drawingml/2006/main">
              <a:ext uri="{FF2B5EF4-FFF2-40B4-BE49-F238E27FC236}">
                <a16:creationId xmlns:a16="http://schemas.microsoft.com/office/drawing/2014/main" id="{2407ADE9-470D-43FE-BCB7-31E82334A70D}"/>
              </a:ext>
            </a:extLst>
          </p:cNvPr>
          <p:cNvSpPr>
            <a:spLocks xmlns:a="http://schemas.openxmlformats.org/drawingml/2006/main" noGrp="1"/>
          </p:cNvSpPr>
          <p:nvPr/>
        </p:nvSpPr>
        <p:spPr>
          <a:xfrm xmlns:a="http://schemas.openxmlformats.org/drawingml/2006/main">
            <a:off x="502920" y="1444752"/>
            <a:ext cx="285750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81E43DC6-9800-475C-BF87-F051052806C8}"/>
              </a:ext>
            </a:extLst>
          </p:cNvPr>
          <p:cNvSpPr>
            <a:spLocks xmlns:a="http://schemas.openxmlformats.org/drawingml/2006/main" noGrp="1"/>
          </p:cNvSpPr>
          <p:nvPr/>
        </p:nvSpPr>
        <p:spPr>
          <a:xfrm xmlns:a="http://schemas.openxmlformats.org/drawingml/2006/main">
            <a:off x="502920" y="1444752"/>
            <a:ext cx="28575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950" b="1">
                <a:solidFill>
                  <a:srgbClr val="FFFFFF"/>
                </a:solidFill>
                <a:latin typeface="Noto Sans KR"/>
                <a:ea typeface="Noto Sans KR"/>
                <a:cs typeface="Noto Sans KR"/>
              </a:defRPr>
            </a:defPPr>
          </a:lstStyle>
          <a:p xmlns:a="http://schemas.openxmlformats.org/drawingml/2006/main">
            <a:pPr marL="0" indent="0" algn="ctr">
              <a:buNone/>
              <a:defRPr sz="950" b="1">
                <a:solidFill>
                  <a:srgbClr val="FFFFFF"/>
                </a:solidFill>
                <a:latin typeface="Noto Sans KR"/>
                <a:ea typeface="Noto Sans KR"/>
                <a:cs typeface="Noto Sans KR"/>
              </a:defRPr>
            </a:pPr>
            <a:r>
              <a:rPr sz="950" b="1">
                <a:solidFill>
                  <a:srgbClr val="FFFFFF"/>
                </a:solidFill>
                <a:latin typeface="Noto Sans KR"/>
                <a:ea typeface="Noto Sans KR"/>
                <a:cs typeface="Noto Sans KR"/>
              </a:rPr>
              <a:t>현재 운영 모델 / 비교 실험은 별도</a:t>
            </a:r>
            <a:endParaRPr sz="950"/>
          </a:p>
        </p:txBody>
      </p:sp>
      <p:sp>
        <p:nvSpPr>
          <p:cNvPr id="8" name="Shape 6">
            <a:extLst xmlns:a="http://schemas.openxmlformats.org/drawingml/2006/main">
              <a:ext uri="{FF2B5EF4-FFF2-40B4-BE49-F238E27FC236}">
                <a16:creationId xmlns:a16="http://schemas.microsoft.com/office/drawing/2014/main" id="{3DD40F0F-6163-4B9F-9A4C-3F00B3ED3470}"/>
              </a:ext>
            </a:extLst>
          </p:cNvPr>
          <p:cNvSpPr>
            <a:spLocks xmlns:a="http://schemas.openxmlformats.org/drawingml/2006/main" noGrp="1"/>
          </p:cNvSpPr>
          <p:nvPr/>
        </p:nvSpPr>
        <p:spPr>
          <a:xfrm xmlns:a="http://schemas.openxmlformats.org/drawingml/2006/main">
            <a:off x="502920" y="1965960"/>
            <a:ext cx="11183112" cy="3246120"/>
          </a:xfrm>
          <a:prstGeom xmlns:a="http://schemas.openxmlformats.org/drawingml/2006/main" prst="roundRect">
            <a:avLst>
              <a:gd name="adj" fmla="val 2254"/>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3FBF0BBA-93C0-4306-BADF-F5E1765FCED1}"/>
              </a:ext>
            </a:extLst>
          </p:cNvPr>
          <p:cNvSpPr>
            <a:spLocks xmlns:a="http://schemas.openxmlformats.org/drawingml/2006/main" noGrp="1"/>
          </p:cNvSpPr>
          <p:nvPr/>
        </p:nvSpPr>
        <p:spPr>
          <a:xfrm xmlns:a="http://schemas.openxmlformats.org/drawingml/2006/main">
            <a:off x="822960" y="217627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0">
                <a:solidFill>
                  <a:srgbClr val="8A8A8A"/>
                </a:solidFill>
                <a:latin typeface="Noto Sans KR"/>
                <a:ea typeface="Noto Sans KR"/>
                <a:cs typeface="Noto Sans KR"/>
              </a:defRPr>
            </a:defPPr>
          </a:lstStyle>
          <a:p xmlns:a="http://schemas.openxmlformats.org/drawingml/2006/main">
            <a:pPr marL="0" indent="0" algn="l">
              <a:buNone/>
              <a:defRPr sz="1200" b="0">
                <a:solidFill>
                  <a:srgbClr val="8A8A8A"/>
                </a:solidFill>
                <a:latin typeface="Noto Sans KR"/>
                <a:ea typeface="Noto Sans KR"/>
                <a:cs typeface="Noto Sans KR"/>
              </a:defRPr>
            </a:pPr>
            <a:r>
              <a:rPr sz="1200" b="0">
                <a:solidFill>
                  <a:srgbClr val="8A8A8A"/>
                </a:solidFill>
                <a:latin typeface="Noto Sans KR"/>
                <a:ea typeface="Noto Sans KR"/>
                <a:cs typeface="Noto Sans KR"/>
              </a:rPr>
              <a:t>소리 크기와 AI의 짖음 후보 판정은 따로 기록</a:t>
            </a:r>
            <a:endParaRPr sz="1200"/>
          </a:p>
        </p:txBody>
      </p:sp>
      <p:sp>
        <p:nvSpPr>
          <p:cNvPr id="10" name="Shape 8">
            <a:extLst xmlns:a="http://schemas.openxmlformats.org/drawingml/2006/main">
              <a:ext uri="{FF2B5EF4-FFF2-40B4-BE49-F238E27FC236}">
                <a16:creationId xmlns:a16="http://schemas.microsoft.com/office/drawing/2014/main" id="{C19C93A8-DF1E-4141-BA7E-5AE9645661D3}"/>
              </a:ext>
            </a:extLst>
          </p:cNvPr>
          <p:cNvSpPr>
            <a:spLocks xmlns:a="http://schemas.openxmlformats.org/drawingml/2006/main" noGrp="1"/>
          </p:cNvSpPr>
          <p:nvPr/>
        </p:nvSpPr>
        <p:spPr>
          <a:xfrm xmlns:a="http://schemas.openxmlformats.org/drawingml/2006/main">
            <a:off x="868680" y="2788920"/>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DFD72789-7F36-4E48-A750-4FFB8FC18266}"/>
              </a:ext>
            </a:extLst>
          </p:cNvPr>
          <p:cNvSpPr>
            <a:spLocks xmlns:a="http://schemas.openxmlformats.org/drawingml/2006/main" noGrp="1"/>
          </p:cNvSpPr>
          <p:nvPr/>
        </p:nvSpPr>
        <p:spPr>
          <a:xfrm xmlns:a="http://schemas.openxmlformats.org/drawingml/2006/main">
            <a:off x="1069848" y="2633472"/>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준비</a:t>
            </a:r>
            <a:r>
              <a:rPr sz="1500" b="0">
                <a:solidFill>
                  <a:srgbClr val="5A5A5A"/>
                </a:solidFill>
                <a:latin typeface="Noto Sans KR"/>
                <a:ea typeface="Noto Sans KR"/>
                <a:cs typeface="Noto Sans KR"/>
              </a:rPr>
              <a:t>  녹음 파일의 형식을 통일하고 5초씩 나누어 분석</a:t>
            </a:r>
            <a:endParaRPr sz="1500"/>
          </a:p>
        </p:txBody>
      </p:sp>
      <p:sp>
        <p:nvSpPr>
          <p:cNvPr id="12" name="Shape 10">
            <a:extLst xmlns:a="http://schemas.openxmlformats.org/drawingml/2006/main">
              <a:ext uri="{FF2B5EF4-FFF2-40B4-BE49-F238E27FC236}">
                <a16:creationId xmlns:a16="http://schemas.microsoft.com/office/drawing/2014/main" id="{E5243FFB-E168-4A24-B553-F6A3023F511C}"/>
              </a:ext>
            </a:extLst>
          </p:cNvPr>
          <p:cNvSpPr>
            <a:spLocks xmlns:a="http://schemas.openxmlformats.org/drawingml/2006/main" noGrp="1"/>
          </p:cNvSpPr>
          <p:nvPr/>
        </p:nvSpPr>
        <p:spPr>
          <a:xfrm xmlns:a="http://schemas.openxmlformats.org/drawingml/2006/main">
            <a:off x="868680" y="3374136"/>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E92AE682-B279-4442-8E7C-9FD07FDE8EBF}"/>
              </a:ext>
            </a:extLst>
          </p:cNvPr>
          <p:cNvSpPr>
            <a:spLocks xmlns:a="http://schemas.openxmlformats.org/drawingml/2006/main" noGrp="1"/>
          </p:cNvSpPr>
          <p:nvPr/>
        </p:nvSpPr>
        <p:spPr>
          <a:xfrm xmlns:a="http://schemas.openxmlformats.org/drawingml/2006/main">
            <a:off x="1069848" y="3218688"/>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음역대</a:t>
            </a:r>
            <a:r>
              <a:rPr sz="1500" b="0">
                <a:solidFill>
                  <a:srgbClr val="5A5A5A"/>
                </a:solidFill>
                <a:latin typeface="Noto Sans KR"/>
                <a:ea typeface="Noto Sans KR"/>
                <a:cs typeface="Noto Sans KR"/>
              </a:rPr>
              <a:t>  낮은음부터 높은음까지 40개 대역으로 나누어 소리의 세기 확인</a:t>
            </a:r>
            <a:endParaRPr sz="1500"/>
          </a:p>
        </p:txBody>
      </p:sp>
      <p:sp>
        <p:nvSpPr>
          <p:cNvPr id="14" name="Shape 12">
            <a:extLst xmlns:a="http://schemas.openxmlformats.org/drawingml/2006/main">
              <a:ext uri="{FF2B5EF4-FFF2-40B4-BE49-F238E27FC236}">
                <a16:creationId xmlns:a16="http://schemas.microsoft.com/office/drawing/2014/main" id="{70930F69-73BA-4434-A06B-426EF50C8A02}"/>
              </a:ext>
            </a:extLst>
          </p:cNvPr>
          <p:cNvSpPr>
            <a:spLocks xmlns:a="http://schemas.openxmlformats.org/drawingml/2006/main" noGrp="1"/>
          </p:cNvSpPr>
          <p:nvPr/>
        </p:nvSpPr>
        <p:spPr>
          <a:xfrm xmlns:a="http://schemas.openxmlformats.org/drawingml/2006/main">
            <a:off x="868680" y="3959352"/>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59D1811D-4543-49AA-BD94-B3F4456951D6}"/>
              </a:ext>
            </a:extLst>
          </p:cNvPr>
          <p:cNvSpPr>
            <a:spLocks xmlns:a="http://schemas.openxmlformats.org/drawingml/2006/main" noGrp="1"/>
          </p:cNvSpPr>
          <p:nvPr/>
        </p:nvSpPr>
        <p:spPr>
          <a:xfrm xmlns:a="http://schemas.openxmlformats.org/drawingml/2006/main">
            <a:off x="1069848" y="3803904"/>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LSTM</a:t>
            </a:r>
            <a:r>
              <a:rPr sz="1500" b="0">
                <a:solidFill>
                  <a:srgbClr val="5A5A5A"/>
                </a:solidFill>
                <a:latin typeface="Noto Sans KR"/>
                <a:ea typeface="Noto Sans KR"/>
                <a:cs typeface="Noto Sans KR"/>
              </a:rPr>
              <a:t>  시간에 따라 달라지는 소리의 특징을 읽고 개 짖음 소리 후보 판정</a:t>
            </a:r>
            <a:endParaRPr sz="1500"/>
          </a:p>
        </p:txBody>
      </p:sp>
      <p:sp>
        <p:nvSpPr>
          <p:cNvPr id="16" name="Shape 14">
            <a:extLst xmlns:a="http://schemas.openxmlformats.org/drawingml/2006/main">
              <a:ext uri="{FF2B5EF4-FFF2-40B4-BE49-F238E27FC236}">
                <a16:creationId xmlns:a16="http://schemas.microsoft.com/office/drawing/2014/main" id="{16F8F9BB-0C36-4FBE-B64F-1799E0323AC8}"/>
              </a:ext>
            </a:extLst>
          </p:cNvPr>
          <p:cNvSpPr>
            <a:spLocks xmlns:a="http://schemas.openxmlformats.org/drawingml/2006/main" noGrp="1"/>
          </p:cNvSpPr>
          <p:nvPr/>
        </p:nvSpPr>
        <p:spPr>
          <a:xfrm xmlns:a="http://schemas.openxmlformats.org/drawingml/2006/main">
            <a:off x="868680" y="4544568"/>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15E1770E-6936-4D11-95C4-3B2B899DD395}"/>
              </a:ext>
            </a:extLst>
          </p:cNvPr>
          <p:cNvSpPr>
            <a:spLocks xmlns:a="http://schemas.openxmlformats.org/drawingml/2006/main" noGrp="1"/>
          </p:cNvSpPr>
          <p:nvPr/>
        </p:nvSpPr>
        <p:spPr>
          <a:xfrm xmlns:a="http://schemas.openxmlformats.org/drawingml/2006/main">
            <a:off x="1069848" y="4389120"/>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기록</a:t>
            </a:r>
            <a:r>
              <a:rPr sz="1500" b="0">
                <a:solidFill>
                  <a:srgbClr val="5A5A5A"/>
                </a:solidFill>
                <a:latin typeface="Noto Sans KR"/>
                <a:ea typeface="Noto Sans KR"/>
                <a:cs typeface="Noto Sans KR"/>
              </a:rPr>
              <a:t>  소리가 커진 횟수와 AI가 짖음 후보로 판정한 5초 구간 수를 따로 저장</a:t>
            </a:r>
            <a:endParaRPr sz="1500"/>
          </a:p>
        </p:txBody>
      </p:sp>
      <p:sp>
        <p:nvSpPr>
          <p:cNvPr id="18" name="Shape 16">
            <a:extLst xmlns:a="http://schemas.openxmlformats.org/drawingml/2006/main">
              <a:ext uri="{FF2B5EF4-FFF2-40B4-BE49-F238E27FC236}">
                <a16:creationId xmlns:a16="http://schemas.microsoft.com/office/drawing/2014/main" id="{237831BF-C0E2-4FFF-A930-17C9C7CA72C1}"/>
              </a:ext>
            </a:extLst>
          </p:cNvPr>
          <p:cNvSpPr>
            <a:spLocks xmlns:a="http://schemas.openxmlformats.org/drawingml/2006/main" noGrp="1"/>
          </p:cNvSpPr>
          <p:nvPr/>
        </p:nvSpPr>
        <p:spPr>
          <a:xfrm xmlns:a="http://schemas.openxmlformats.org/drawingml/2006/main">
            <a:off x="502920"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BAAD0279-53B5-4A40-AF24-319229DB17E4}"/>
              </a:ext>
            </a:extLst>
          </p:cNvPr>
          <p:cNvSpPr>
            <a:spLocks xmlns:a="http://schemas.openxmlformats.org/drawingml/2006/main" noGrp="1"/>
          </p:cNvSpPr>
          <p:nvPr/>
        </p:nvSpPr>
        <p:spPr>
          <a:xfrm xmlns:a="http://schemas.openxmlformats.org/drawingml/2006/main">
            <a:off x="502920"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2F82ED91-ADFF-4841-839E-7DDA240E395B}"/>
              </a:ext>
            </a:extLst>
          </p:cNvPr>
          <p:cNvSpPr>
            <a:spLocks xmlns:a="http://schemas.openxmlformats.org/drawingml/2006/main" noGrp="1"/>
          </p:cNvSpPr>
          <p:nvPr/>
        </p:nvSpPr>
        <p:spPr>
          <a:xfrm xmlns:a="http://schemas.openxmlformats.org/drawingml/2006/main">
            <a:off x="594360" y="5440680"/>
            <a:ext cx="32705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녹음을 5초씩 나누기</a:t>
            </a:r>
            <a:endParaRPr sz="1150"/>
          </a:p>
        </p:txBody>
      </p:sp>
      <p:sp>
        <p:nvSpPr>
          <p:cNvPr id="21" name="Text 19">
            <a:extLst xmlns:a="http://schemas.openxmlformats.org/drawingml/2006/main">
              <a:ext uri="{FF2B5EF4-FFF2-40B4-BE49-F238E27FC236}">
                <a16:creationId xmlns:a16="http://schemas.microsoft.com/office/drawing/2014/main" id="{D8AFF9A2-BF9F-4300-8551-05E2DC30D983}"/>
              </a:ext>
            </a:extLst>
          </p:cNvPr>
          <p:cNvSpPr>
            <a:spLocks xmlns:a="http://schemas.openxmlformats.org/drawingml/2006/main" noGrp="1"/>
          </p:cNvSpPr>
          <p:nvPr/>
        </p:nvSpPr>
        <p:spPr>
          <a:xfrm xmlns:a="http://schemas.openxmlformats.org/drawingml/2006/main">
            <a:off x="3956304" y="5440680"/>
            <a:ext cx="4114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8A8A8A"/>
                </a:solidFill>
                <a:latin typeface="Noto Sans KR"/>
                <a:ea typeface="Noto Sans KR"/>
                <a:cs typeface="Noto Sans KR"/>
              </a:rPr>
              <a:t>→</a:t>
            </a:r>
            <a:endParaRPr sz="1400"/>
          </a:p>
        </p:txBody>
      </p:sp>
      <p:sp>
        <p:nvSpPr>
          <p:cNvPr id="22" name="Shape 20">
            <a:extLst xmlns:a="http://schemas.openxmlformats.org/drawingml/2006/main">
              <a:ext uri="{FF2B5EF4-FFF2-40B4-BE49-F238E27FC236}">
                <a16:creationId xmlns:a16="http://schemas.microsoft.com/office/drawing/2014/main" id="{AC42BA85-47BF-48FC-9321-F813E3DC3837}"/>
              </a:ext>
            </a:extLst>
          </p:cNvPr>
          <p:cNvSpPr>
            <a:spLocks xmlns:a="http://schemas.openxmlformats.org/drawingml/2006/main" noGrp="1"/>
          </p:cNvSpPr>
          <p:nvPr/>
        </p:nvSpPr>
        <p:spPr>
          <a:xfrm xmlns:a="http://schemas.openxmlformats.org/drawingml/2006/main">
            <a:off x="4367784"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23" name="Shape 21">
            <a:extLst xmlns:a="http://schemas.openxmlformats.org/drawingml/2006/main">
              <a:ext uri="{FF2B5EF4-FFF2-40B4-BE49-F238E27FC236}">
                <a16:creationId xmlns:a16="http://schemas.microsoft.com/office/drawing/2014/main" id="{99E1BA41-AA61-4DC9-AA9C-C9C3140E1D4A}"/>
              </a:ext>
            </a:extLst>
          </p:cNvPr>
          <p:cNvSpPr>
            <a:spLocks xmlns:a="http://schemas.openxmlformats.org/drawingml/2006/main" noGrp="1"/>
          </p:cNvSpPr>
          <p:nvPr/>
        </p:nvSpPr>
        <p:spPr>
          <a:xfrm xmlns:a="http://schemas.openxmlformats.org/drawingml/2006/main">
            <a:off x="4367784"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9FAA695F-101F-4428-B916-F2CC6DE499A3}"/>
              </a:ext>
            </a:extLst>
          </p:cNvPr>
          <p:cNvSpPr>
            <a:spLocks xmlns:a="http://schemas.openxmlformats.org/drawingml/2006/main" noGrp="1"/>
          </p:cNvSpPr>
          <p:nvPr/>
        </p:nvSpPr>
        <p:spPr>
          <a:xfrm xmlns:a="http://schemas.openxmlformats.org/drawingml/2006/main">
            <a:off x="4459224" y="5440680"/>
            <a:ext cx="32705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음역대별 변화 살피기</a:t>
            </a:r>
            <a:endParaRPr sz="1150"/>
          </a:p>
        </p:txBody>
      </p:sp>
      <p:sp>
        <p:nvSpPr>
          <p:cNvPr id="25" name="Text 23">
            <a:extLst xmlns:a="http://schemas.openxmlformats.org/drawingml/2006/main">
              <a:ext uri="{FF2B5EF4-FFF2-40B4-BE49-F238E27FC236}">
                <a16:creationId xmlns:a16="http://schemas.microsoft.com/office/drawing/2014/main" id="{640EF4FD-2D22-45C6-9B07-3903D9E80519}"/>
              </a:ext>
            </a:extLst>
          </p:cNvPr>
          <p:cNvSpPr>
            <a:spLocks xmlns:a="http://schemas.openxmlformats.org/drawingml/2006/main" noGrp="1"/>
          </p:cNvSpPr>
          <p:nvPr/>
        </p:nvSpPr>
        <p:spPr>
          <a:xfrm xmlns:a="http://schemas.openxmlformats.org/drawingml/2006/main">
            <a:off x="7821168" y="5440680"/>
            <a:ext cx="4114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8A8A8A"/>
                </a:solidFill>
                <a:latin typeface="Noto Sans KR"/>
                <a:ea typeface="Noto Sans KR"/>
                <a:cs typeface="Noto Sans KR"/>
              </a:rPr>
              <a:t>→</a:t>
            </a:r>
            <a:endParaRPr sz="1400"/>
          </a:p>
        </p:txBody>
      </p:sp>
      <p:sp>
        <p:nvSpPr>
          <p:cNvPr id="26" name="Shape 24">
            <a:extLst xmlns:a="http://schemas.openxmlformats.org/drawingml/2006/main">
              <a:ext uri="{FF2B5EF4-FFF2-40B4-BE49-F238E27FC236}">
                <a16:creationId xmlns:a16="http://schemas.microsoft.com/office/drawing/2014/main" id="{126CEA70-AD6F-41AE-ACE6-6961546BD526}"/>
              </a:ext>
            </a:extLst>
          </p:cNvPr>
          <p:cNvSpPr>
            <a:spLocks xmlns:a="http://schemas.openxmlformats.org/drawingml/2006/main" noGrp="1"/>
          </p:cNvSpPr>
          <p:nvPr/>
        </p:nvSpPr>
        <p:spPr>
          <a:xfrm xmlns:a="http://schemas.openxmlformats.org/drawingml/2006/main">
            <a:off x="8232648"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27" name="Shape 25">
            <a:extLst xmlns:a="http://schemas.openxmlformats.org/drawingml/2006/main">
              <a:ext uri="{FF2B5EF4-FFF2-40B4-BE49-F238E27FC236}">
                <a16:creationId xmlns:a16="http://schemas.microsoft.com/office/drawing/2014/main" id="{501FDC1B-E45F-4A40-A169-CEC3A49844AD}"/>
              </a:ext>
            </a:extLst>
          </p:cNvPr>
          <p:cNvSpPr>
            <a:spLocks xmlns:a="http://schemas.openxmlformats.org/drawingml/2006/main" noGrp="1"/>
          </p:cNvSpPr>
          <p:nvPr/>
        </p:nvSpPr>
        <p:spPr>
          <a:xfrm xmlns:a="http://schemas.openxmlformats.org/drawingml/2006/main">
            <a:off x="8232648"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01A2C728-581B-4942-A7C7-ADBF363A8047}"/>
              </a:ext>
            </a:extLst>
          </p:cNvPr>
          <p:cNvSpPr>
            <a:spLocks xmlns:a="http://schemas.openxmlformats.org/drawingml/2006/main" noGrp="1"/>
          </p:cNvSpPr>
          <p:nvPr/>
        </p:nvSpPr>
        <p:spPr>
          <a:xfrm xmlns:a="http://schemas.openxmlformats.org/drawingml/2006/main">
            <a:off x="8324088" y="5440680"/>
            <a:ext cx="32705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짖음 후보 판정과 원본 확인</a:t>
            </a:r>
            <a:endParaRPr sz="1150"/>
          </a:p>
        </p:txBody>
      </p:sp>
      <p:sp>
        <p:nvSpPr>
          <p:cNvPr id="29" name="Text 27">
            <a:extLst xmlns:a="http://schemas.openxmlformats.org/drawingml/2006/main">
              <a:ext uri="{FF2B5EF4-FFF2-40B4-BE49-F238E27FC236}">
                <a16:creationId xmlns:a16="http://schemas.microsoft.com/office/drawing/2014/main" id="{8F1477DD-F78C-4814-A930-5E6489006489}"/>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9 / 23</a:t>
            </a:r>
            <a:endParaRPr sz="900"/>
          </a:p>
        </p:txBody>
      </p:sp>
      <p:sp>
        <p:nvSpPr>
          <p:cNvPr id="30" name="easy-audio-limit">
            <a:extLst xmlns:a="http://schemas.openxmlformats.org/drawingml/2006/main">
              <a:ext uri="{FF2B5EF4-FFF2-40B4-BE49-F238E27FC236}">
                <a16:creationId xmlns:a16="http://schemas.microsoft.com/office/drawing/2014/main" id="{371D9766-822C-4841-829E-A321EE06EB76}"/>
              </a:ext>
            </a:extLst>
          </p:cNvPr>
          <p:cNvSpPr>
            <a:spLocks xmlns:a="http://schemas.openxmlformats.org/drawingml/2006/main" noGrp="1"/>
          </p:cNvSpPr>
          <p:nvPr/>
        </p:nvSpPr>
        <p:spPr>
          <a:xfrm xmlns:a="http://schemas.openxmlformats.org/drawingml/2006/main">
            <a:off x="819150" y="610552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050" b="0">
                <a:solidFill>
                  <a:srgbClr val="727272"/>
                </a:solidFill>
                <a:latin typeface="Noto Sans KR"/>
                <a:ea typeface="Noto Sans KR"/>
                <a:cs typeface="Noto Sans KR"/>
              </a:defRPr>
            </a:defPPr>
          </a:lstStyle>
          <a:p xmlns:a="http://schemas.openxmlformats.org/drawingml/2006/main">
            <a:pPr>
              <a:buNone/>
              <a:defRPr sz="1050" b="0">
                <a:solidFill>
                  <a:srgbClr val="727272"/>
                </a:solidFill>
                <a:latin typeface="Noto Sans KR"/>
                <a:ea typeface="Noto Sans KR"/>
                <a:cs typeface="Noto Sans KR"/>
              </a:defRPr>
            </a:pPr>
            <a:r>
              <a:rPr sz="1050" b="0">
                <a:solidFill>
                  <a:srgbClr val="727272"/>
                </a:solidFill>
                <a:latin typeface="Noto Sans KR"/>
                <a:ea typeface="Noto Sans KR"/>
                <a:cs typeface="Noto Sans KR"/>
              </a:rPr>
              <a:t>현재 모델은 짖음만을 구분하도록 검증되지 않았으며, 다른 개 발성도 후보로 잡힐 수 있습니다.</a:t>
            </a:r>
          </a:p>
        </p:txBody>
      </p:sp>
    </p:spTree>
    <p:extLst>
      <p:ext uri="{BB962C8B-B14F-4D97-AF65-F5344CB8AC3E}">
        <p14:creationId xmlns:p14="http://schemas.microsoft.com/office/powerpoint/2010/main" val="453639996"/>
      </p:ext>
    </p:extLst>
  </p:cSld>
</p:sld>
</file>

<file path=ppt/slides/slide10.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289C1E-99AD-4E6C-8DF9-35705F86164E}"/>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341D240C-22CC-4AC2-83B6-8DBD656C2542}"/>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CCFDC6F7-F93F-4352-87D1-4EF43BBE8653}"/>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주요 기능과 확인한 결과</a:t>
            </a:r>
            <a:endParaRPr sz="1100"/>
          </a:p>
        </p:txBody>
      </p:sp>
      <p:sp>
        <p:nvSpPr>
          <p:cNvPr id="5" name="Text 3">
            <a:extLst xmlns:a="http://schemas.openxmlformats.org/drawingml/2006/main">
              <a:ext uri="{FF2B5EF4-FFF2-40B4-BE49-F238E27FC236}">
                <a16:creationId xmlns:a16="http://schemas.microsoft.com/office/drawing/2014/main" id="{774D45A9-F58C-47AD-84BC-112F75C0F475}"/>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YAMNet과 LSTM을 어떻게 비교했는가</a:t>
            </a:r>
            <a:endParaRPr sz="2600"/>
          </a:p>
        </p:txBody>
      </p:sp>
      <p:sp>
        <p:nvSpPr>
          <p:cNvPr id="29" name="Text 27">
            <a:extLst xmlns:a="http://schemas.openxmlformats.org/drawingml/2006/main">
              <a:ext uri="{FF2B5EF4-FFF2-40B4-BE49-F238E27FC236}">
                <a16:creationId xmlns:a16="http://schemas.microsoft.com/office/drawing/2014/main" id="{B6625806-1698-423B-B419-8819E1580911}"/>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10 / 23</a:t>
            </a:r>
            <a:endParaRPr sz="900"/>
          </a:p>
        </p:txBody>
      </p:sp>
      <p:graphicFrame>
        <p:nvGraphicFramePr>
          <p:cNvPr id="30" name="">
            <a:extLst xmlns:a="http://schemas.openxmlformats.org/drawingml/2006/main">
              <a:ext uri="{FF2B5EF4-FFF2-40B4-BE49-F238E27FC236}">
                <a16:creationId xmlns:a16="http://schemas.microsoft.com/office/drawing/2014/main" id="{52C62263-2F7A-41F8-B5D8-AC48547ADCC3}"/>
              </a:ext>
            </a:extLst>
          </p:cNvPr>
          <p:cNvGraphicFramePr/>
          <p:nvPr/>
        </p:nvGraphicFramePr>
        <p:xfrm>
          <a:off xmlns:a="http://schemas.openxmlformats.org/drawingml/2006/main" x="504825" y="1857375"/>
          <a:ext xmlns:a="http://schemas.openxmlformats.org/drawingml/2006/main" cx="11182350" cy="3143250"/>
        </p:xfrm>
        <a:graphic xmlns:a="http://schemas.openxmlformats.org/drawingml/2006/main">
          <a:graphicData uri="http://schemas.openxmlformats.org/drawingml/2006/table">
            <a:tbl>
              <a:tblPr/>
              <a:tblGrid>
                <a:gridCol w="2381250"/>
                <a:gridCol w="5524500"/>
                <a:gridCol w="3276600"/>
              </a:tblGrid>
              <a:tr h="628650">
                <a:tc>
                  <a:txBody>
                    <a:bodyPr lIns="95250" tIns="95250" rIns="95250" bIns="95250">
                      <a:noAutofit/>
                    </a:bodyPr>
                    <a:lstStyle/>
                    <a:p>
                      <a:pPr algn="l">
                        <a:buNone/>
                      </a:pPr>
                      <a:r>
                        <a:rPr sz="1575" b="1">
                          <a:solidFill>
                            <a:srgbClr val="FFFFFF"/>
                          </a:solidFill>
                          <a:latin typeface="Noto Sans KR"/>
                          <a:ea typeface="Noto Sans KR"/>
                          <a:cs typeface="Noto Sans KR"/>
                        </a:rPr>
                        <a:t>방법</a:t>
                      </a:r>
                    </a:p>
                  </a:txBody>
                  <a:tcPr marL="133350" marR="95250" marT="76200" marB="76200" anchor="ctr">
                    <a:lnL w="9525">
                      <a:solidFill>
                        <a:srgbClr val="D3D3D3"/>
                      </a:solidFill>
                      <a:prstDash val="solid"/>
                    </a:lnL>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입력과 역할</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확인하려는 것</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r>
              <a:tr h="628650">
                <a:tc>
                  <a:txBody>
                    <a:bodyPr lIns="95250" tIns="95250" rIns="95250" bIns="95250">
                      <a:noAutofit/>
                    </a:bodyPr>
                    <a:lstStyle/>
                    <a:p>
                      <a:pPr algn="l">
                        <a:buNone/>
                      </a:pPr>
                      <a:r>
                        <a:rPr sz="1575" b="0">
                          <a:solidFill>
                            <a:srgbClr val="272626"/>
                          </a:solidFill>
                          <a:latin typeface="Noto Sans KR"/>
                          <a:ea typeface="Noto Sans KR"/>
                          <a:cs typeface="Noto Sans KR"/>
                        </a:rPr>
                        <a:t>기존 LSTM</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음역대별 세기 변화를 시간순으로 학습</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기존 구현의 기준 성능</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628650">
                <a:tc>
                  <a:txBody>
                    <a:bodyPr lIns="95250" tIns="95250" rIns="95250" bIns="95250">
                      <a:noAutofit/>
                    </a:bodyPr>
                    <a:lstStyle/>
                    <a:p>
                      <a:pPr algn="l">
                        <a:buNone/>
                      </a:pPr>
                      <a:r>
                        <a:rPr sz="1575" b="0">
                          <a:solidFill>
                            <a:srgbClr val="272626"/>
                          </a:solidFill>
                          <a:latin typeface="Noto Sans KR"/>
                          <a:ea typeface="Noto Sans KR"/>
                          <a:cs typeface="Noto Sans KR"/>
                        </a:rPr>
                        <a:t>YAMNet 단독</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사전학습 모델의 Bark 점수 사용</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추가 학습 없는 비교 기준</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r h="628650">
                <a:tc>
                  <a:txBody>
                    <a:bodyPr lIns="95250" tIns="95250" rIns="95250" bIns="95250">
                      <a:noAutofit/>
                    </a:bodyPr>
                    <a:lstStyle/>
                    <a:p>
                      <a:pPr algn="l">
                        <a:buNone/>
                      </a:pPr>
                      <a:r>
                        <a:rPr sz="1575" b="0">
                          <a:solidFill>
                            <a:srgbClr val="272626"/>
                          </a:solidFill>
                          <a:latin typeface="Noto Sans KR"/>
                          <a:ea typeface="Noto Sans KR"/>
                          <a:cs typeface="Noto Sans KR"/>
                        </a:rPr>
                        <a:t>YAMNet 특징 + LSTM</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짧은 구간의 소리 특징을 순서대로 학습</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시간 흐름이 감지에 도움이 되는가</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628650">
                <a:tc>
                  <a:txBody>
                    <a:bodyPr lIns="95250" tIns="95250" rIns="95250" bIns="95250">
                      <a:noAutofit/>
                    </a:bodyPr>
                    <a:lstStyle/>
                    <a:p>
                      <a:pPr algn="l">
                        <a:buNone/>
                      </a:pPr>
                      <a:r>
                        <a:rPr sz="1575" b="0">
                          <a:solidFill>
                            <a:srgbClr val="272626"/>
                          </a:solidFill>
                          <a:latin typeface="Noto Sans KR"/>
                          <a:ea typeface="Noto Sans KR"/>
                          <a:cs typeface="Noto Sans KR"/>
                        </a:rPr>
                        <a:t>평균 특징·OR 결합</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특징 평균 또는 두 모델 중 하나가 감지</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더 단순한 방법과 차이가 있는가</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bl>
          </a:graphicData>
        </a:graphic>
      </p:graphicFrame>
      <p:sp>
        <p:nvSpPr>
          <p:cNvPr id="31" name="decision">
            <a:extLst xmlns:a="http://schemas.openxmlformats.org/drawingml/2006/main">
              <a:ext uri="{FF2B5EF4-FFF2-40B4-BE49-F238E27FC236}">
                <a16:creationId xmlns:a16="http://schemas.microsoft.com/office/drawing/2014/main" id="{CDE71FBF-DC77-4C05-92E2-77B251A034D2}"/>
              </a:ext>
            </a:extLst>
          </p:cNvPr>
          <p:cNvSpPr>
            <a:spLocks xmlns:a="http://schemas.openxmlformats.org/drawingml/2006/main" noGrp="1"/>
          </p:cNvSpPr>
          <p:nvPr/>
        </p:nvSpPr>
        <p:spPr>
          <a:xfrm xmlns:a="http://schemas.openxmlformats.org/drawingml/2006/main">
            <a:off x="504825" y="5295900"/>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1">
                <a:solidFill>
                  <a:srgbClr val="272626"/>
                </a:solidFill>
                <a:latin typeface="Noto Sans KR"/>
                <a:ea typeface="Noto Sans KR"/>
                <a:cs typeface="Noto Sans KR"/>
              </a:defRPr>
            </a:defPPr>
          </a:lstStyle>
          <a:p xmlns:a="http://schemas.openxmlformats.org/drawingml/2006/main">
            <a:pPr>
              <a:buNone/>
              <a:defRPr sz="1725" b="1">
                <a:solidFill>
                  <a:srgbClr val="272626"/>
                </a:solidFill>
                <a:latin typeface="Noto Sans KR"/>
                <a:ea typeface="Noto Sans KR"/>
                <a:cs typeface="Noto Sans KR"/>
              </a:defRPr>
            </a:pPr>
            <a:r>
              <a:rPr sz="1725" b="1">
                <a:solidFill>
                  <a:srgbClr val="272626"/>
                </a:solidFill>
                <a:latin typeface="Noto Sans KR"/>
                <a:ea typeface="Noto Sans KR"/>
                <a:cs typeface="Noto Sans KR"/>
              </a:rPr>
              <a:t>임베딩은 소리 특징을 숫자로 표현한 것. 두 모델의 점수 평균과는 다른 구조.</a:t>
            </a:r>
          </a:p>
        </p:txBody>
      </p:sp>
      <p:sp>
        <p:nvSpPr>
          <p:cNvPr id="32" name="limit">
            <a:extLst xmlns:a="http://schemas.openxmlformats.org/drawingml/2006/main">
              <a:ext uri="{FF2B5EF4-FFF2-40B4-BE49-F238E27FC236}">
                <a16:creationId xmlns:a16="http://schemas.microsoft.com/office/drawing/2014/main" id="{EEAC5C20-C02C-43CF-B645-4AD31D0ACB29}"/>
              </a:ext>
            </a:extLst>
          </p:cNvPr>
          <p:cNvSpPr>
            <a:spLocks xmlns:a="http://schemas.openxmlformats.org/drawingml/2006/main" noGrp="1"/>
          </p:cNvSpPr>
          <p:nvPr/>
        </p:nvSpPr>
        <p:spPr>
          <a:xfrm xmlns:a="http://schemas.openxmlformats.org/drawingml/2006/main">
            <a:off x="504825" y="583882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727272"/>
                </a:solidFill>
                <a:latin typeface="Noto Sans KR"/>
                <a:ea typeface="Noto Sans KR"/>
                <a:cs typeface="Noto Sans KR"/>
              </a:defRPr>
            </a:defPPr>
          </a:lstStyle>
          <a:p xmlns:a="http://schemas.openxmlformats.org/drawingml/2006/main">
            <a:pPr>
              <a:buNone/>
              <a:defRPr sz="1200" b="0">
                <a:solidFill>
                  <a:srgbClr val="727272"/>
                </a:solidFill>
                <a:latin typeface="Noto Sans KR"/>
                <a:ea typeface="Noto Sans KR"/>
                <a:cs typeface="Noto Sans KR"/>
              </a:defRPr>
            </a:pPr>
            <a:r>
              <a:rPr sz="1200" b="0">
                <a:solidFill>
                  <a:srgbClr val="727272"/>
                </a:solidFill>
                <a:latin typeface="Noto Sans KR"/>
                <a:ea typeface="Noto Sans KR"/>
                <a:cs typeface="Noto Sans KR"/>
              </a:rPr>
              <a:t>비교 후보는 별도 환경에서 실행했습니다. 실제 웹 서비스의 기본 모델은 유지했습니다.</a:t>
            </a:r>
          </a:p>
        </p:txBody>
      </p:sp>
    </p:spTree>
    <p:extLst>
      <p:ext uri="{BB962C8B-B14F-4D97-AF65-F5344CB8AC3E}">
        <p14:creationId xmlns:p14="http://schemas.microsoft.com/office/powerpoint/2010/main" val="1799597961"/>
      </p:ext>
    </p:extLst>
  </p:cSld>
</p:sld>
</file>

<file path=ppt/slides/slide11.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289C1E-99AD-4E6C-8DF9-35705F86164E}"/>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341D240C-22CC-4AC2-83B6-8DBD656C2542}"/>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CCFDC6F7-F93F-4352-87D1-4EF43BBE8653}"/>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주요 기능과 확인한 결과</a:t>
            </a:r>
            <a:endParaRPr sz="1100"/>
          </a:p>
        </p:txBody>
      </p:sp>
      <p:sp>
        <p:nvSpPr>
          <p:cNvPr id="5" name="Text 3">
            <a:extLst xmlns:a="http://schemas.openxmlformats.org/drawingml/2006/main">
              <a:ext uri="{FF2B5EF4-FFF2-40B4-BE49-F238E27FC236}">
                <a16:creationId xmlns:a16="http://schemas.microsoft.com/office/drawing/2014/main" id="{774D45A9-F58C-47AD-84BC-112F75C0F475}"/>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같은 음원 182개에서 비교한 감지 성능</a:t>
            </a:r>
            <a:endParaRPr sz="2600"/>
          </a:p>
        </p:txBody>
      </p:sp>
      <p:sp>
        <p:nvSpPr>
          <p:cNvPr id="29" name="Text 27">
            <a:extLst xmlns:a="http://schemas.openxmlformats.org/drawingml/2006/main">
              <a:ext uri="{FF2B5EF4-FFF2-40B4-BE49-F238E27FC236}">
                <a16:creationId xmlns:a16="http://schemas.microsoft.com/office/drawing/2014/main" id="{B6625806-1698-423B-B419-8819E1580911}"/>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11 / 23</a:t>
            </a:r>
            <a:endParaRPr sz="900"/>
          </a:p>
        </p:txBody>
      </p:sp>
      <p:graphicFrame>
        <p:nvGraphicFramePr>
          <p:cNvPr id="30" name="">
            <a:extLst xmlns:a="http://schemas.openxmlformats.org/drawingml/2006/main">
              <a:ext uri="{FF2B5EF4-FFF2-40B4-BE49-F238E27FC236}">
                <a16:creationId xmlns:a16="http://schemas.microsoft.com/office/drawing/2014/main" id="{DBAFDFF8-3430-4DC6-9F5A-E9F56CAB2150}"/>
              </a:ext>
            </a:extLst>
          </p:cNvPr>
          <p:cNvGraphicFramePr/>
          <p:nvPr/>
        </p:nvGraphicFramePr>
        <p:xfrm>
          <a:off xmlns:a="http://schemas.openxmlformats.org/drawingml/2006/main" x="504825" y="1781175"/>
          <a:ext xmlns:a="http://schemas.openxmlformats.org/drawingml/2006/main" cx="11182350" cy="3086100"/>
        </p:xfrm>
        <a:graphic xmlns:a="http://schemas.openxmlformats.org/drawingml/2006/main">
          <a:graphicData uri="http://schemas.openxmlformats.org/drawingml/2006/table">
            <a:tbl>
              <a:tblPr/>
              <a:tblGrid>
                <a:gridCol w="3752850"/>
                <a:gridCol w="1619250"/>
                <a:gridCol w="1619250"/>
                <a:gridCol w="1524000"/>
                <a:gridCol w="1333500"/>
                <a:gridCol w="1333500"/>
              </a:tblGrid>
              <a:tr h="514350">
                <a:tc>
                  <a:txBody>
                    <a:bodyPr lIns="95250" tIns="95250" rIns="95250" bIns="95250">
                      <a:noAutofit/>
                    </a:bodyPr>
                    <a:lstStyle/>
                    <a:p>
                      <a:pPr algn="l">
                        <a:buNone/>
                      </a:pPr>
                      <a:r>
                        <a:rPr sz="1575" b="1">
                          <a:solidFill>
                            <a:srgbClr val="FFFFFF"/>
                          </a:solidFill>
                          <a:latin typeface="Noto Sans KR"/>
                          <a:ea typeface="Noto Sans KR"/>
                          <a:cs typeface="Noto Sans KR"/>
                        </a:rPr>
                        <a:t>모델</a:t>
                      </a:r>
                    </a:p>
                  </a:txBody>
                  <a:tcPr marL="133350" marR="95250" marT="76200" marB="76200" anchor="ctr">
                    <a:lnL w="9525">
                      <a:solidFill>
                        <a:srgbClr val="D3D3D3"/>
                      </a:solidFill>
                      <a:prstDash val="solid"/>
                    </a:lnL>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정밀도</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재현율</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F1</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오탐</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놓침</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r>
              <a:tr h="514350">
                <a:tc>
                  <a:txBody>
                    <a:bodyPr lIns="95250" tIns="95250" rIns="95250" bIns="95250">
                      <a:noAutofit/>
                    </a:bodyPr>
                    <a:lstStyle/>
                    <a:p>
                      <a:pPr algn="l">
                        <a:buNone/>
                      </a:pPr>
                      <a:r>
                        <a:rPr sz="1575" b="0">
                          <a:solidFill>
                            <a:srgbClr val="272626"/>
                          </a:solidFill>
                          <a:latin typeface="Noto Sans KR"/>
                          <a:ea typeface="Noto Sans KR"/>
                          <a:cs typeface="Noto Sans KR"/>
                        </a:rPr>
                        <a:t>기존 음성 LSTM</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85.7%</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28.6%</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42.9%</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2</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30</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514350">
                <a:tc>
                  <a:txBody>
                    <a:bodyPr lIns="95250" tIns="95250" rIns="95250" bIns="95250">
                      <a:noAutofit/>
                    </a:bodyPr>
                    <a:lstStyle/>
                    <a:p>
                      <a:pPr algn="l">
                        <a:buNone/>
                      </a:pPr>
                      <a:r>
                        <a:rPr sz="1575" b="0">
                          <a:solidFill>
                            <a:srgbClr val="272626"/>
                          </a:solidFill>
                          <a:latin typeface="Noto Sans KR"/>
                          <a:ea typeface="Noto Sans KR"/>
                          <a:cs typeface="Noto Sans KR"/>
                        </a:rPr>
                        <a:t>YAMNet 단독</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93.5%</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69.0%</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79.5%</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2</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13</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r h="514350">
                <a:tc>
                  <a:txBody>
                    <a:bodyPr lIns="95250" tIns="95250" rIns="95250" bIns="95250">
                      <a:noAutofit/>
                    </a:bodyPr>
                    <a:lstStyle/>
                    <a:p>
                      <a:pPr algn="l">
                        <a:buNone/>
                      </a:pPr>
                      <a:r>
                        <a:rPr sz="1575" b="0">
                          <a:solidFill>
                            <a:srgbClr val="272626"/>
                          </a:solidFill>
                          <a:latin typeface="Noto Sans KR"/>
                          <a:ea typeface="Noto Sans KR"/>
                          <a:cs typeface="Noto Sans KR"/>
                        </a:rPr>
                        <a:t>YAMNet 특징 + LSTM</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96.6%</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66.7%</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78.9%</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14</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514350">
                <a:tc>
                  <a:txBody>
                    <a:bodyPr lIns="95250" tIns="95250" rIns="95250" bIns="95250">
                      <a:noAutofit/>
                    </a:bodyPr>
                    <a:lstStyle/>
                    <a:p>
                      <a:pPr algn="l">
                        <a:buNone/>
                      </a:pPr>
                      <a:r>
                        <a:rPr sz="1575" b="0">
                          <a:solidFill>
                            <a:srgbClr val="272626"/>
                          </a:solidFill>
                          <a:latin typeface="Noto Sans KR"/>
                          <a:ea typeface="Noto Sans KR"/>
                          <a:cs typeface="Noto Sans KR"/>
                        </a:rPr>
                        <a:t>YAMNet 특징 평균</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75.6%</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73.8%</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74.7%</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10</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11</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r h="514350">
                <a:tc>
                  <a:txBody>
                    <a:bodyPr lIns="95250" tIns="95250" rIns="95250" bIns="95250">
                      <a:noAutofit/>
                    </a:bodyPr>
                    <a:lstStyle/>
                    <a:p>
                      <a:pPr algn="l">
                        <a:buNone/>
                      </a:pPr>
                      <a:r>
                        <a:rPr sz="1575" b="0">
                          <a:solidFill>
                            <a:srgbClr val="272626"/>
                          </a:solidFill>
                          <a:latin typeface="Noto Sans KR"/>
                          <a:ea typeface="Noto Sans KR"/>
                          <a:cs typeface="Noto Sans KR"/>
                        </a:rPr>
                        <a:t>기존 LSTM 또는 YAMNet</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87.9%</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69.0%</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77.3%</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4</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13</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bl>
          </a:graphicData>
        </a:graphic>
      </p:graphicFrame>
      <p:sp>
        <p:nvSpPr>
          <p:cNvPr id="31" name="meaning">
            <a:extLst xmlns:a="http://schemas.openxmlformats.org/drawingml/2006/main">
              <a:ext uri="{FF2B5EF4-FFF2-40B4-BE49-F238E27FC236}">
                <a16:creationId xmlns:a16="http://schemas.microsoft.com/office/drawing/2014/main" id="{77EB0218-3BA3-4E69-9CA6-A72F323E8406}"/>
              </a:ext>
            </a:extLst>
          </p:cNvPr>
          <p:cNvSpPr>
            <a:spLocks xmlns:a="http://schemas.openxmlformats.org/drawingml/2006/main" noGrp="1"/>
          </p:cNvSpPr>
          <p:nvPr/>
        </p:nvSpPr>
        <p:spPr>
          <a:xfrm xmlns:a="http://schemas.openxmlformats.org/drawingml/2006/main">
            <a:off x="504825" y="5067300"/>
            <a:ext cx="11182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1">
                <a:solidFill>
                  <a:srgbClr val="272626"/>
                </a:solidFill>
                <a:latin typeface="Noto Sans KR"/>
                <a:ea typeface="Noto Sans KR"/>
                <a:cs typeface="Noto Sans KR"/>
              </a:defRPr>
            </a:defPPr>
          </a:lstStyle>
          <a:p xmlns:a="http://schemas.openxmlformats.org/drawingml/2006/main">
            <a:pPr>
              <a:buNone/>
              <a:defRPr sz="1725" b="1">
                <a:solidFill>
                  <a:srgbClr val="272626"/>
                </a:solidFill>
                <a:latin typeface="Noto Sans KR"/>
                <a:ea typeface="Noto Sans KR"/>
                <a:cs typeface="Noto Sans KR"/>
              </a:defRPr>
            </a:pPr>
            <a:r>
              <a:rPr sz="1725" b="1">
                <a:solidFill>
                  <a:srgbClr val="272626"/>
                </a:solidFill>
                <a:latin typeface="Noto Sans KR"/>
                <a:ea typeface="Noto Sans KR"/>
                <a:cs typeface="Noto Sans KR"/>
              </a:rPr>
              <a:t>YAMNet 단독의 F1이 가장 높음. 결합 LSTM은 오탐 1개 감소, 놓침 1개 증가.</a:t>
            </a:r>
          </a:p>
        </p:txBody>
      </p:sp>
      <p:sp>
        <p:nvSpPr>
          <p:cNvPr id="32" name="limit">
            <a:extLst xmlns:a="http://schemas.openxmlformats.org/drawingml/2006/main">
              <a:ext uri="{FF2B5EF4-FFF2-40B4-BE49-F238E27FC236}">
                <a16:creationId xmlns:a16="http://schemas.microsoft.com/office/drawing/2014/main" id="{2E01A032-A458-4DBB-B52C-2D9575131C25}"/>
              </a:ext>
            </a:extLst>
          </p:cNvPr>
          <p:cNvSpPr>
            <a:spLocks xmlns:a="http://schemas.openxmlformats.org/drawingml/2006/main" noGrp="1"/>
          </p:cNvSpPr>
          <p:nvPr/>
        </p:nvSpPr>
        <p:spPr>
          <a:xfrm xmlns:a="http://schemas.openxmlformats.org/drawingml/2006/main">
            <a:off x="504825" y="557212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727272"/>
                </a:solidFill>
                <a:latin typeface="Noto Sans KR"/>
                <a:ea typeface="Noto Sans KR"/>
                <a:cs typeface="Noto Sans KR"/>
              </a:defRPr>
            </a:defPPr>
          </a:lstStyle>
          <a:p xmlns:a="http://schemas.openxmlformats.org/drawingml/2006/main">
            <a:pPr>
              <a:buNone/>
              <a:defRPr sz="1200" b="0">
                <a:solidFill>
                  <a:srgbClr val="727272"/>
                </a:solidFill>
                <a:latin typeface="Noto Sans KR"/>
                <a:ea typeface="Noto Sans KR"/>
                <a:cs typeface="Noto Sans KR"/>
              </a:defRPr>
            </a:pPr>
            <a:r>
              <a:rPr sz="1200" b="0">
                <a:solidFill>
                  <a:srgbClr val="727272"/>
                </a:solidFill>
                <a:latin typeface="Noto Sans KR"/>
                <a:ea typeface="Noto Sans KR"/>
                <a:cs typeface="Noto Sans KR"/>
              </a:rPr>
              <a:t>FSD50K·ESC-50 선별 음원: 짖음 42개, 기타 140개. 이미 확인한 개발 비교 자료.</a:t>
            </a:r>
          </a:p>
        </p:txBody>
      </p:sp>
      <p:sp>
        <p:nvSpPr>
          <p:cNvPr id="33" name="limit">
            <a:extLst xmlns:a="http://schemas.openxmlformats.org/drawingml/2006/main">
              <a:ext uri="{FF2B5EF4-FFF2-40B4-BE49-F238E27FC236}">
                <a16:creationId xmlns:a16="http://schemas.microsoft.com/office/drawing/2014/main" id="{9E3DB741-9E4A-4E9D-8D2D-4B212AF68D60}"/>
              </a:ext>
            </a:extLst>
          </p:cNvPr>
          <p:cNvSpPr>
            <a:spLocks xmlns:a="http://schemas.openxmlformats.org/drawingml/2006/main" noGrp="1"/>
          </p:cNvSpPr>
          <p:nvPr/>
        </p:nvSpPr>
        <p:spPr>
          <a:xfrm xmlns:a="http://schemas.openxmlformats.org/drawingml/2006/main">
            <a:off x="504825" y="597217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727272"/>
                </a:solidFill>
                <a:latin typeface="Noto Sans KR"/>
                <a:ea typeface="Noto Sans KR"/>
                <a:cs typeface="Noto Sans KR"/>
              </a:defRPr>
            </a:defPPr>
          </a:lstStyle>
          <a:p xmlns:a="http://schemas.openxmlformats.org/drawingml/2006/main">
            <a:pPr>
              <a:buNone/>
              <a:defRPr sz="1200" b="0">
                <a:solidFill>
                  <a:srgbClr val="727272"/>
                </a:solidFill>
                <a:latin typeface="Noto Sans KR"/>
                <a:ea typeface="Noto Sans KR"/>
                <a:cs typeface="Noto Sans KR"/>
              </a:defRPr>
            </a:pPr>
            <a:r>
              <a:rPr sz="1200" b="0">
                <a:solidFill>
                  <a:srgbClr val="727272"/>
                </a:solidFill>
                <a:latin typeface="Noto Sans KR"/>
                <a:ea typeface="Noto Sans KR"/>
                <a:cs typeface="Noto Sans KR"/>
              </a:rPr>
              <a:t>정밀도: 감지 결과 중 정답 비율 / 재현율: 정답을 찾은 비율 / F1: 둘을 함께 보는 점수</a:t>
            </a:r>
          </a:p>
        </p:txBody>
      </p:sp>
    </p:spTree>
    <p:extLst>
      <p:ext uri="{BB962C8B-B14F-4D97-AF65-F5344CB8AC3E}">
        <p14:creationId xmlns:p14="http://schemas.microsoft.com/office/powerpoint/2010/main" val="1799597961"/>
      </p:ext>
    </p:extLst>
  </p:cSld>
</p:sld>
</file>

<file path=ppt/slides/slide12.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289C1E-99AD-4E6C-8DF9-35705F86164E}"/>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341D240C-22CC-4AC2-83B6-8DBD656C2542}"/>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CCFDC6F7-F93F-4352-87D1-4EF43BBE8653}"/>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주요 기능과 확인한 결과</a:t>
            </a:r>
            <a:endParaRPr sz="1100"/>
          </a:p>
        </p:txBody>
      </p:sp>
      <p:sp>
        <p:nvSpPr>
          <p:cNvPr id="5" name="Text 3">
            <a:extLst xmlns:a="http://schemas.openxmlformats.org/drawingml/2006/main">
              <a:ext uri="{FF2B5EF4-FFF2-40B4-BE49-F238E27FC236}">
                <a16:creationId xmlns:a16="http://schemas.microsoft.com/office/drawing/2014/main" id="{774D45A9-F58C-47AD-84BC-112F75C0F475}"/>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AudioSet 자료를 추가해 LSTM을 재학습</a:t>
            </a:r>
            <a:endParaRPr sz="2600"/>
          </a:p>
        </p:txBody>
      </p:sp>
      <p:sp>
        <p:nvSpPr>
          <p:cNvPr id="29" name="Text 27">
            <a:extLst xmlns:a="http://schemas.openxmlformats.org/drawingml/2006/main">
              <a:ext uri="{FF2B5EF4-FFF2-40B4-BE49-F238E27FC236}">
                <a16:creationId xmlns:a16="http://schemas.microsoft.com/office/drawing/2014/main" id="{B6625806-1698-423B-B419-8819E1580911}"/>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12 / 23</a:t>
            </a:r>
            <a:endParaRPr sz="900"/>
          </a:p>
        </p:txBody>
      </p:sp>
      <p:graphicFrame>
        <p:nvGraphicFramePr>
          <p:cNvPr id="30" name="">
            <a:extLst xmlns:a="http://schemas.openxmlformats.org/drawingml/2006/main">
              <a:ext uri="{FF2B5EF4-FFF2-40B4-BE49-F238E27FC236}">
                <a16:creationId xmlns:a16="http://schemas.microsoft.com/office/drawing/2014/main" id="{350FFF0B-1BCE-42C9-B1A7-9F141D843E40}"/>
              </a:ext>
            </a:extLst>
          </p:cNvPr>
          <p:cNvGraphicFramePr/>
          <p:nvPr/>
        </p:nvGraphicFramePr>
        <p:xfrm>
          <a:off xmlns:a="http://schemas.openxmlformats.org/drawingml/2006/main" x="504825" y="1828800"/>
          <a:ext xmlns:a="http://schemas.openxmlformats.org/drawingml/2006/main" cx="11182350" cy="2381250"/>
        </p:xfrm>
        <a:graphic xmlns:a="http://schemas.openxmlformats.org/drawingml/2006/main">
          <a:graphicData uri="http://schemas.openxmlformats.org/drawingml/2006/table">
            <a:tbl>
              <a:tblPr/>
              <a:tblGrid>
                <a:gridCol w="2952750"/>
                <a:gridCol w="5143500"/>
                <a:gridCol w="3086100"/>
              </a:tblGrid>
              <a:tr h="595313">
                <a:tc>
                  <a:txBody>
                    <a:bodyPr lIns="95250" tIns="95250" rIns="95250" bIns="95250">
                      <a:noAutofit/>
                    </a:bodyPr>
                    <a:lstStyle/>
                    <a:p>
                      <a:pPr algn="l">
                        <a:buNone/>
                      </a:pPr>
                      <a:r>
                        <a:rPr sz="1575" b="1">
                          <a:solidFill>
                            <a:srgbClr val="FFFFFF"/>
                          </a:solidFill>
                          <a:latin typeface="Noto Sans KR"/>
                          <a:ea typeface="Noto Sans KR"/>
                          <a:cs typeface="Noto Sans KR"/>
                        </a:rPr>
                        <a:t>자료</a:t>
                      </a:r>
                    </a:p>
                  </a:txBody>
                  <a:tcPr marL="133350" marR="95250" marT="76200" marB="76200" anchor="ctr">
                    <a:lnL w="9525">
                      <a:solidFill>
                        <a:srgbClr val="D3D3D3"/>
                      </a:solidFill>
                      <a:prstDash val="solid"/>
                    </a:lnL>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확보한 음원</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용도</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r>
              <a:tr h="595313">
                <a:tc>
                  <a:txBody>
                    <a:bodyPr lIns="95250" tIns="95250" rIns="95250" bIns="95250">
                      <a:noAutofit/>
                    </a:bodyPr>
                    <a:lstStyle/>
                    <a:p>
                      <a:pPr algn="l">
                        <a:buNone/>
                      </a:pPr>
                      <a:r>
                        <a:rPr sz="1575" b="0">
                          <a:solidFill>
                            <a:srgbClr val="272626"/>
                          </a:solidFill>
                          <a:latin typeface="Noto Sans KR"/>
                          <a:ea typeface="Noto Sans KR"/>
                          <a:cs typeface="Noto Sans KR"/>
                        </a:rPr>
                        <a:t>FSD50K·ESC-50</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학습 232 / 검증 182 / 평가 182개</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최초 모델 비교와 후보 선택</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595313">
                <a:tc>
                  <a:txBody>
                    <a:bodyPr lIns="95250" tIns="95250" rIns="95250" bIns="95250">
                      <a:noAutofit/>
                    </a:bodyPr>
                    <a:lstStyle/>
                    <a:p>
                      <a:pPr algn="l">
                        <a:buNone/>
                      </a:pPr>
                      <a:r>
                        <a:rPr sz="1575" b="0">
                          <a:solidFill>
                            <a:srgbClr val="272626"/>
                          </a:solidFill>
                          <a:latin typeface="Noto Sans KR"/>
                          <a:ea typeface="Noto Sans KR"/>
                          <a:cs typeface="Noto Sans KR"/>
                        </a:rPr>
                        <a:t>AudioSet 학습 분할</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64개: 짖음 포함 35 / 기타 29개</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추가 학습, 5초 구간 128개</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r h="595313">
                <a:tc>
                  <a:txBody>
                    <a:bodyPr lIns="95250" tIns="95250" rIns="95250" bIns="95250">
                      <a:noAutofit/>
                    </a:bodyPr>
                    <a:lstStyle/>
                    <a:p>
                      <a:pPr algn="l">
                        <a:buNone/>
                      </a:pPr>
                      <a:r>
                        <a:rPr sz="1575" b="0">
                          <a:solidFill>
                            <a:srgbClr val="272626"/>
                          </a:solidFill>
                          <a:latin typeface="Noto Sans KR"/>
                          <a:ea typeface="Noto Sans KR"/>
                          <a:cs typeface="Noto Sans KR"/>
                        </a:rPr>
                        <a:t>AudioSet 평가 분할</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53개: 짖음 포함 38 / 기타 15개</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고정 후보 비교, 5초 구간 106개</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bl>
          </a:graphicData>
        </a:graphic>
      </p:graphicFrame>
      <p:sp>
        <p:nvSpPr>
          <p:cNvPr id="31" name="result">
            <a:extLst xmlns:a="http://schemas.openxmlformats.org/drawingml/2006/main">
              <a:ext uri="{FF2B5EF4-FFF2-40B4-BE49-F238E27FC236}">
                <a16:creationId xmlns:a16="http://schemas.microsoft.com/office/drawing/2014/main" id="{B09D9013-FAC0-4F9B-9D06-71EADDDF8186}"/>
              </a:ext>
            </a:extLst>
          </p:cNvPr>
          <p:cNvSpPr>
            <a:spLocks xmlns:a="http://schemas.openxmlformats.org/drawingml/2006/main" noGrp="1"/>
          </p:cNvSpPr>
          <p:nvPr/>
        </p:nvSpPr>
        <p:spPr>
          <a:xfrm xmlns:a="http://schemas.openxmlformats.org/drawingml/2006/main">
            <a:off x="504825" y="4533900"/>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1">
                <a:solidFill>
                  <a:srgbClr val="272626"/>
                </a:solidFill>
                <a:latin typeface="Noto Sans KR"/>
                <a:ea typeface="Noto Sans KR"/>
                <a:cs typeface="Noto Sans KR"/>
              </a:defRPr>
            </a:defPPr>
          </a:lstStyle>
          <a:p xmlns:a="http://schemas.openxmlformats.org/drawingml/2006/main">
            <a:pPr>
              <a:buNone/>
              <a:defRPr sz="1875" b="1">
                <a:solidFill>
                  <a:srgbClr val="272626"/>
                </a:solidFill>
                <a:latin typeface="Noto Sans KR"/>
                <a:ea typeface="Noto Sans KR"/>
                <a:cs typeface="Noto Sans KR"/>
              </a:defRPr>
            </a:pPr>
            <a:r>
              <a:rPr sz="1875" b="1">
                <a:solidFill>
                  <a:srgbClr val="272626"/>
                </a:solidFill>
                <a:latin typeface="Noto Sans KR"/>
                <a:ea typeface="Noto Sans KR"/>
                <a:cs typeface="Noto Sans KR"/>
              </a:rPr>
              <a:t>기존 182개 음원 평가에서 추가 학습 F1: 80.5%, 78.0%, 81.1%</a:t>
            </a:r>
          </a:p>
        </p:txBody>
      </p:sp>
      <p:sp>
        <p:nvSpPr>
          <p:cNvPr id="32" name="interpret">
            <a:extLst xmlns:a="http://schemas.openxmlformats.org/drawingml/2006/main">
              <a:ext uri="{FF2B5EF4-FFF2-40B4-BE49-F238E27FC236}">
                <a16:creationId xmlns:a16="http://schemas.microsoft.com/office/drawing/2014/main" id="{B77BDB5C-ECD0-4C74-A9AE-E0A49F9ABE72}"/>
              </a:ext>
            </a:extLst>
          </p:cNvPr>
          <p:cNvSpPr>
            <a:spLocks xmlns:a="http://schemas.openxmlformats.org/drawingml/2006/main" noGrp="1"/>
          </p:cNvSpPr>
          <p:nvPr/>
        </p:nvSpPr>
        <p:spPr>
          <a:xfrm xmlns:a="http://schemas.openxmlformats.org/drawingml/2006/main">
            <a:off x="504825" y="5048250"/>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72626"/>
                </a:solidFill>
                <a:latin typeface="Noto Sans KR"/>
                <a:ea typeface="Noto Sans KR"/>
                <a:cs typeface="Noto Sans KR"/>
              </a:defRPr>
            </a:defPPr>
          </a:lstStyle>
          <a:p xmlns:a="http://schemas.openxmlformats.org/drawingml/2006/main">
            <a:pPr>
              <a:buNone/>
              <a:defRPr sz="1725" b="0">
                <a:solidFill>
                  <a:srgbClr val="272626"/>
                </a:solidFill>
                <a:latin typeface="Noto Sans KR"/>
                <a:ea typeface="Noto Sans KR"/>
                <a:cs typeface="Noto Sans KR"/>
              </a:defRPr>
            </a:pPr>
            <a:r>
              <a:rPr sz="1725" b="0">
                <a:solidFill>
                  <a:srgbClr val="272626"/>
                </a:solidFill>
                <a:latin typeface="Noto Sans KR"/>
                <a:ea typeface="Noto Sans KR"/>
                <a:cs typeface="Noto Sans KR"/>
              </a:rPr>
              <a:t>세 번의 학습 결과가 달라 안정적인 개선으로 판단하지 않았습니다.</a:t>
            </a:r>
          </a:p>
        </p:txBody>
      </p:sp>
      <p:sp>
        <p:nvSpPr>
          <p:cNvPr id="33" name="limit">
            <a:extLst xmlns:a="http://schemas.openxmlformats.org/drawingml/2006/main">
              <a:ext uri="{FF2B5EF4-FFF2-40B4-BE49-F238E27FC236}">
                <a16:creationId xmlns:a16="http://schemas.microsoft.com/office/drawing/2014/main" id="{59328D20-7F61-491D-BD42-02FB113F3F32}"/>
              </a:ext>
            </a:extLst>
          </p:cNvPr>
          <p:cNvSpPr>
            <a:spLocks xmlns:a="http://schemas.openxmlformats.org/drawingml/2006/main" noGrp="1"/>
          </p:cNvSpPr>
          <p:nvPr/>
        </p:nvSpPr>
        <p:spPr>
          <a:xfrm xmlns:a="http://schemas.openxmlformats.org/drawingml/2006/main">
            <a:off x="504825" y="583882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727272"/>
                </a:solidFill>
                <a:latin typeface="Noto Sans KR"/>
                <a:ea typeface="Noto Sans KR"/>
                <a:cs typeface="Noto Sans KR"/>
              </a:defRPr>
            </a:defPPr>
          </a:lstStyle>
          <a:p xmlns:a="http://schemas.openxmlformats.org/drawingml/2006/main">
            <a:pPr>
              <a:buNone/>
              <a:defRPr sz="1200" b="0">
                <a:solidFill>
                  <a:srgbClr val="727272"/>
                </a:solidFill>
                <a:latin typeface="Noto Sans KR"/>
                <a:ea typeface="Noto Sans KR"/>
                <a:cs typeface="Noto Sans KR"/>
              </a:defRPr>
            </a:pPr>
            <a:r>
              <a:rPr sz="1200" b="0">
                <a:solidFill>
                  <a:srgbClr val="727272"/>
                </a:solidFill>
                <a:latin typeface="Noto Sans KR"/>
                <a:ea typeface="Noto Sans KR"/>
                <a:cs typeface="Noto Sans KR"/>
              </a:rPr>
              <a:t>원본 ID·파일 해시로 학습/평가 중복 검사. 사전학습 중복과 재업로드 중복은 완전히 배제 못함.</a:t>
            </a:r>
          </a:p>
        </p:txBody>
      </p:sp>
    </p:spTree>
    <p:extLst>
      <p:ext uri="{BB962C8B-B14F-4D97-AF65-F5344CB8AC3E}">
        <p14:creationId xmlns:p14="http://schemas.microsoft.com/office/powerpoint/2010/main" val="1799597961"/>
      </p:ext>
    </p:extLst>
  </p:cSld>
</p:sld>
</file>

<file path=ppt/slides/slide13.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289C1E-99AD-4E6C-8DF9-35705F86164E}"/>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341D240C-22CC-4AC2-83B6-8DBD656C2542}"/>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CCFDC6F7-F93F-4352-87D1-4EF43BBE8653}"/>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주요 기능과 확인한 결과</a:t>
            </a:r>
            <a:endParaRPr sz="1100"/>
          </a:p>
        </p:txBody>
      </p:sp>
      <p:sp>
        <p:nvSpPr>
          <p:cNvPr id="5" name="Text 3">
            <a:extLst xmlns:a="http://schemas.openxmlformats.org/drawingml/2006/main">
              <a:ext uri="{FF2B5EF4-FFF2-40B4-BE49-F238E27FC236}">
                <a16:creationId xmlns:a16="http://schemas.microsoft.com/office/drawing/2014/main" id="{774D45A9-F58C-47AD-84BC-112F75C0F475}"/>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AudioSet의 소리 구간 106개로 다시 확인</a:t>
            </a:r>
            <a:endParaRPr sz="2600"/>
          </a:p>
        </p:txBody>
      </p:sp>
      <p:sp>
        <p:nvSpPr>
          <p:cNvPr id="29" name="Text 27">
            <a:extLst xmlns:a="http://schemas.openxmlformats.org/drawingml/2006/main">
              <a:ext uri="{FF2B5EF4-FFF2-40B4-BE49-F238E27FC236}">
                <a16:creationId xmlns:a16="http://schemas.microsoft.com/office/drawing/2014/main" id="{B6625806-1698-423B-B419-8819E1580911}"/>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13 / 23</a:t>
            </a:r>
            <a:endParaRPr sz="900"/>
          </a:p>
        </p:txBody>
      </p:sp>
      <p:graphicFrame>
        <p:nvGraphicFramePr>
          <p:cNvPr id="30" name="">
            <a:extLst xmlns:a="http://schemas.openxmlformats.org/drawingml/2006/main">
              <a:ext uri="{FF2B5EF4-FFF2-40B4-BE49-F238E27FC236}">
                <a16:creationId xmlns:a16="http://schemas.microsoft.com/office/drawing/2014/main" id="{5FA75314-86FE-429D-8951-D02E1059FC7C}"/>
              </a:ext>
            </a:extLst>
          </p:cNvPr>
          <p:cNvGraphicFramePr/>
          <p:nvPr/>
        </p:nvGraphicFramePr>
        <p:xfrm>
          <a:off xmlns:a="http://schemas.openxmlformats.org/drawingml/2006/main" x="504825" y="1781175"/>
          <a:ext xmlns:a="http://schemas.openxmlformats.org/drawingml/2006/main" cx="11182350" cy="3086100"/>
        </p:xfrm>
        <a:graphic xmlns:a="http://schemas.openxmlformats.org/drawingml/2006/main">
          <a:graphicData uri="http://schemas.openxmlformats.org/drawingml/2006/table">
            <a:tbl>
              <a:tblPr/>
              <a:tblGrid>
                <a:gridCol w="3752850"/>
                <a:gridCol w="1619250"/>
                <a:gridCol w="1619250"/>
                <a:gridCol w="1524000"/>
                <a:gridCol w="1333500"/>
                <a:gridCol w="1333500"/>
              </a:tblGrid>
              <a:tr h="514350">
                <a:tc>
                  <a:txBody>
                    <a:bodyPr lIns="95250" tIns="95250" rIns="95250" bIns="95250">
                      <a:noAutofit/>
                    </a:bodyPr>
                    <a:lstStyle/>
                    <a:p>
                      <a:pPr algn="l">
                        <a:buNone/>
                      </a:pPr>
                      <a:r>
                        <a:rPr sz="1575" b="1">
                          <a:solidFill>
                            <a:srgbClr val="FFFFFF"/>
                          </a:solidFill>
                          <a:latin typeface="Noto Sans KR"/>
                          <a:ea typeface="Noto Sans KR"/>
                          <a:cs typeface="Noto Sans KR"/>
                        </a:rPr>
                        <a:t>모델</a:t>
                      </a:r>
                    </a:p>
                  </a:txBody>
                  <a:tcPr marL="133350" marR="95250" marT="76200" marB="76200" anchor="ctr">
                    <a:lnL w="9525">
                      <a:solidFill>
                        <a:srgbClr val="D3D3D3"/>
                      </a:solidFill>
                      <a:prstDash val="solid"/>
                    </a:lnL>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정밀도</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재현율</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F1</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오탐</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놓침</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r>
              <a:tr h="514350">
                <a:tc>
                  <a:txBody>
                    <a:bodyPr lIns="95250" tIns="95250" rIns="95250" bIns="95250">
                      <a:noAutofit/>
                    </a:bodyPr>
                    <a:lstStyle/>
                    <a:p>
                      <a:pPr algn="l">
                        <a:buNone/>
                      </a:pPr>
                      <a:r>
                        <a:rPr sz="1575" b="0">
                          <a:solidFill>
                            <a:srgbClr val="272626"/>
                          </a:solidFill>
                          <a:latin typeface="Noto Sans KR"/>
                          <a:ea typeface="Noto Sans KR"/>
                          <a:cs typeface="Noto Sans KR"/>
                        </a:rPr>
                        <a:t>YAMNet 단독</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91.3%</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73.7%</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81.6%</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4</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15</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514350">
                <a:tc>
                  <a:txBody>
                    <a:bodyPr lIns="95250" tIns="95250" rIns="95250" bIns="95250">
                      <a:noAutofit/>
                    </a:bodyPr>
                    <a:lstStyle/>
                    <a:p>
                      <a:pPr algn="l">
                        <a:buNone/>
                      </a:pPr>
                      <a:r>
                        <a:rPr sz="1575" b="0">
                          <a:solidFill>
                            <a:srgbClr val="272626"/>
                          </a:solidFill>
                          <a:latin typeface="Noto Sans KR"/>
                          <a:ea typeface="Noto Sans KR"/>
                          <a:cs typeface="Noto Sans KR"/>
                        </a:rPr>
                        <a:t>기존 YAMNet 특징 + LSTM</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84.2%</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56.1%</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67.4%</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6</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25</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r h="514350">
                <a:tc>
                  <a:txBody>
                    <a:bodyPr lIns="95250" tIns="95250" rIns="95250" bIns="95250">
                      <a:noAutofit/>
                    </a:bodyPr>
                    <a:lstStyle/>
                    <a:p>
                      <a:pPr algn="l">
                        <a:buNone/>
                      </a:pPr>
                      <a:r>
                        <a:rPr sz="1575" b="0">
                          <a:solidFill>
                            <a:srgbClr val="272626"/>
                          </a:solidFill>
                          <a:latin typeface="Noto Sans KR"/>
                          <a:ea typeface="Noto Sans KR"/>
                          <a:cs typeface="Noto Sans KR"/>
                        </a:rPr>
                        <a:t>AudioSet 추가 LSTM ①</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82.4%</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73.7%</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77.8%</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9</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15</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514350">
                <a:tc>
                  <a:txBody>
                    <a:bodyPr lIns="95250" tIns="95250" rIns="95250" bIns="95250">
                      <a:noAutofit/>
                    </a:bodyPr>
                    <a:lstStyle/>
                    <a:p>
                      <a:pPr algn="l">
                        <a:buNone/>
                      </a:pPr>
                      <a:r>
                        <a:rPr sz="1575" b="0">
                          <a:solidFill>
                            <a:srgbClr val="272626"/>
                          </a:solidFill>
                          <a:latin typeface="Noto Sans KR"/>
                          <a:ea typeface="Noto Sans KR"/>
                          <a:cs typeface="Noto Sans KR"/>
                        </a:rPr>
                        <a:t>AudioSet 추가 LSTM ②</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75.9%</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71.9%</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73.9%</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13</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16</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r h="514350">
                <a:tc>
                  <a:txBody>
                    <a:bodyPr lIns="95250" tIns="95250" rIns="95250" bIns="95250">
                      <a:noAutofit/>
                    </a:bodyPr>
                    <a:lstStyle/>
                    <a:p>
                      <a:pPr algn="l">
                        <a:buNone/>
                      </a:pPr>
                      <a:r>
                        <a:rPr sz="1575" b="0">
                          <a:solidFill>
                            <a:srgbClr val="272626"/>
                          </a:solidFill>
                          <a:latin typeface="Noto Sans KR"/>
                          <a:ea typeface="Noto Sans KR"/>
                          <a:cs typeface="Noto Sans KR"/>
                        </a:rPr>
                        <a:t>AudioSet 추가 LSTM ③</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83.7%</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63.2%</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72.0%</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21</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bl>
          </a:graphicData>
        </a:graphic>
      </p:graphicFrame>
      <p:sp>
        <p:nvSpPr>
          <p:cNvPr id="31" name="result">
            <a:extLst xmlns:a="http://schemas.openxmlformats.org/drawingml/2006/main">
              <a:ext uri="{FF2B5EF4-FFF2-40B4-BE49-F238E27FC236}">
                <a16:creationId xmlns:a16="http://schemas.microsoft.com/office/drawing/2014/main" id="{812C8A4E-8486-47E3-B9AC-44725AAC69FE}"/>
              </a:ext>
            </a:extLst>
          </p:cNvPr>
          <p:cNvSpPr>
            <a:spLocks xmlns:a="http://schemas.openxmlformats.org/drawingml/2006/main" noGrp="1"/>
          </p:cNvSpPr>
          <p:nvPr/>
        </p:nvSpPr>
        <p:spPr>
          <a:xfrm xmlns:a="http://schemas.openxmlformats.org/drawingml/2006/main">
            <a:off x="504825" y="5076825"/>
            <a:ext cx="11182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272626"/>
                </a:solidFill>
                <a:latin typeface="Noto Sans KR"/>
                <a:ea typeface="Noto Sans KR"/>
                <a:cs typeface="Noto Sans KR"/>
              </a:defRPr>
            </a:defPPr>
          </a:lstStyle>
          <a:p xmlns:a="http://schemas.openxmlformats.org/drawingml/2006/main">
            <a:pPr>
              <a:buNone/>
              <a:defRPr sz="1800" b="1">
                <a:solidFill>
                  <a:srgbClr val="272626"/>
                </a:solidFill>
                <a:latin typeface="Noto Sans KR"/>
                <a:ea typeface="Noto Sans KR"/>
                <a:cs typeface="Noto Sans KR"/>
              </a:defRPr>
            </a:pPr>
            <a:r>
              <a:rPr sz="1800" b="1">
                <a:solidFill>
                  <a:srgbClr val="272626"/>
                </a:solidFill>
                <a:latin typeface="Noto Sans KR"/>
                <a:ea typeface="Noto Sans KR"/>
                <a:cs typeface="Noto Sans KR"/>
              </a:rPr>
              <a:t>추가 학습으로 놓침은 줄었지만, YAMNet 단독보다 오탐이 많았습니다.</a:t>
            </a:r>
          </a:p>
        </p:txBody>
      </p:sp>
      <p:sp>
        <p:nvSpPr>
          <p:cNvPr id="32" name="limit">
            <a:extLst xmlns:a="http://schemas.openxmlformats.org/drawingml/2006/main">
              <a:ext uri="{FF2B5EF4-FFF2-40B4-BE49-F238E27FC236}">
                <a16:creationId xmlns:a16="http://schemas.microsoft.com/office/drawing/2014/main" id="{B86C1F95-5A27-4339-B93D-A880813DC032}"/>
              </a:ext>
            </a:extLst>
          </p:cNvPr>
          <p:cNvSpPr>
            <a:spLocks xmlns:a="http://schemas.openxmlformats.org/drawingml/2006/main" noGrp="1"/>
          </p:cNvSpPr>
          <p:nvPr/>
        </p:nvSpPr>
        <p:spPr>
          <a:xfrm xmlns:a="http://schemas.openxmlformats.org/drawingml/2006/main">
            <a:off x="504825" y="557212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727272"/>
                </a:solidFill>
                <a:latin typeface="Noto Sans KR"/>
                <a:ea typeface="Noto Sans KR"/>
                <a:cs typeface="Noto Sans KR"/>
              </a:defRPr>
            </a:defPPr>
          </a:lstStyle>
          <a:p xmlns:a="http://schemas.openxmlformats.org/drawingml/2006/main">
            <a:pPr>
              <a:buNone/>
              <a:defRPr sz="1200" b="0">
                <a:solidFill>
                  <a:srgbClr val="727272"/>
                </a:solidFill>
                <a:latin typeface="Noto Sans KR"/>
                <a:ea typeface="Noto Sans KR"/>
                <a:cs typeface="Noto Sans KR"/>
              </a:defRPr>
            </a:pPr>
            <a:r>
              <a:rPr sz="1200" b="0">
                <a:solidFill>
                  <a:srgbClr val="727272"/>
                </a:solidFill>
                <a:latin typeface="Noto Sans KR"/>
                <a:ea typeface="Noto Sans KR"/>
                <a:cs typeface="Noto Sans KR"/>
              </a:rPr>
              <a:t>53개 음원을 5초씩 분할: 짖음 57창, 기타 49창. 모델과 판정 기준을 고정한 뒤 측정.</a:t>
            </a:r>
          </a:p>
        </p:txBody>
      </p:sp>
      <p:sp>
        <p:nvSpPr>
          <p:cNvPr id="33" name="limit">
            <a:extLst xmlns:a="http://schemas.openxmlformats.org/drawingml/2006/main">
              <a:ext uri="{FF2B5EF4-FFF2-40B4-BE49-F238E27FC236}">
                <a16:creationId xmlns:a16="http://schemas.microsoft.com/office/drawing/2014/main" id="{4784511D-5408-42F8-8F21-FCE3E11E399C}"/>
              </a:ext>
            </a:extLst>
          </p:cNvPr>
          <p:cNvSpPr>
            <a:spLocks xmlns:a="http://schemas.openxmlformats.org/drawingml/2006/main" noGrp="1"/>
          </p:cNvSpPr>
          <p:nvPr/>
        </p:nvSpPr>
        <p:spPr>
          <a:xfrm xmlns:a="http://schemas.openxmlformats.org/drawingml/2006/main">
            <a:off x="504825" y="597217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727272"/>
                </a:solidFill>
                <a:latin typeface="Noto Sans KR"/>
                <a:ea typeface="Noto Sans KR"/>
                <a:cs typeface="Noto Sans KR"/>
              </a:defRPr>
            </a:defPPr>
          </a:lstStyle>
          <a:p xmlns:a="http://schemas.openxmlformats.org/drawingml/2006/main">
            <a:pPr>
              <a:buNone/>
              <a:defRPr sz="1200" b="0">
                <a:solidFill>
                  <a:srgbClr val="727272"/>
                </a:solidFill>
                <a:latin typeface="Noto Sans KR"/>
                <a:ea typeface="Noto Sans KR"/>
                <a:cs typeface="Noto Sans KR"/>
              </a:defRPr>
            </a:pPr>
            <a:r>
              <a:rPr sz="1200" b="0">
                <a:solidFill>
                  <a:srgbClr val="727272"/>
                </a:solidFill>
                <a:latin typeface="Noto Sans KR"/>
                <a:ea typeface="Noto Sans KR"/>
                <a:cs typeface="Noto Sans KR"/>
              </a:rPr>
              <a:t>YAMNet은 AudioSet으로 사전학습했습니다. 이 결과는 독립적인 가정 환경 정확도가 아닙니다.</a:t>
            </a:r>
          </a:p>
        </p:txBody>
      </p:sp>
    </p:spTree>
    <p:extLst>
      <p:ext uri="{BB962C8B-B14F-4D97-AF65-F5344CB8AC3E}">
        <p14:creationId xmlns:p14="http://schemas.microsoft.com/office/powerpoint/2010/main" val="1799597961"/>
      </p:ext>
    </p:extLst>
  </p:cSld>
</p:sld>
</file>

<file path=ppt/slides/slide14.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289C1E-99AD-4E6C-8DF9-35705F86164E}"/>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341D240C-22CC-4AC2-83B6-8DBD656C2542}"/>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CCFDC6F7-F93F-4352-87D1-4EF43BBE8653}"/>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주요 기능과 확인한 결과</a:t>
            </a:r>
            <a:endParaRPr sz="1100"/>
          </a:p>
        </p:txBody>
      </p:sp>
      <p:sp>
        <p:nvSpPr>
          <p:cNvPr id="5" name="Text 3">
            <a:extLst xmlns:a="http://schemas.openxmlformats.org/drawingml/2006/main">
              <a:ext uri="{FF2B5EF4-FFF2-40B4-BE49-F238E27FC236}">
                <a16:creationId xmlns:a16="http://schemas.microsoft.com/office/drawing/2014/main" id="{774D45A9-F58C-47AD-84BC-112F75C0F475}"/>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놓침은 1초 미만의 짧은 짖음에 집중</a:t>
            </a:r>
            <a:endParaRPr sz="2600"/>
          </a:p>
        </p:txBody>
      </p:sp>
      <p:sp>
        <p:nvSpPr>
          <p:cNvPr id="29" name="Text 27">
            <a:extLst xmlns:a="http://schemas.openxmlformats.org/drawingml/2006/main">
              <a:ext uri="{FF2B5EF4-FFF2-40B4-BE49-F238E27FC236}">
                <a16:creationId xmlns:a16="http://schemas.microsoft.com/office/drawing/2014/main" id="{B6625806-1698-423B-B419-8819E1580911}"/>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14 / 23</a:t>
            </a:r>
            <a:endParaRPr sz="900"/>
          </a:p>
        </p:txBody>
      </p:sp>
      <p:graphicFrame>
        <p:nvGraphicFramePr>
          <p:cNvPr id="30" name="">
            <a:extLst xmlns:a="http://schemas.openxmlformats.org/drawingml/2006/main">
              <a:ext uri="{FF2B5EF4-FFF2-40B4-BE49-F238E27FC236}">
                <a16:creationId xmlns:a16="http://schemas.microsoft.com/office/drawing/2014/main" id="{838A57D0-88D3-49BE-81DA-F8FA5E93A76B}"/>
              </a:ext>
            </a:extLst>
          </p:cNvPr>
          <p:cNvGraphicFramePr/>
          <p:nvPr/>
        </p:nvGraphicFramePr>
        <p:xfrm>
          <a:off xmlns:a="http://schemas.openxmlformats.org/drawingml/2006/main" x="504825" y="1905000"/>
          <a:ext xmlns:a="http://schemas.openxmlformats.org/drawingml/2006/main" cx="11182350" cy="2095500"/>
        </p:xfrm>
        <a:graphic xmlns:a="http://schemas.openxmlformats.org/drawingml/2006/main">
          <a:graphicData uri="http://schemas.openxmlformats.org/drawingml/2006/table">
            <a:tbl>
              <a:tblPr/>
              <a:tblGrid>
                <a:gridCol w="4286250"/>
                <a:gridCol w="2190750"/>
                <a:gridCol w="2190750"/>
                <a:gridCol w="2514600"/>
              </a:tblGrid>
              <a:tr h="698500">
                <a:tc>
                  <a:txBody>
                    <a:bodyPr lIns="95250" tIns="95250" rIns="95250" bIns="95250">
                      <a:noAutofit/>
                    </a:bodyPr>
                    <a:lstStyle/>
                    <a:p>
                      <a:pPr algn="l">
                        <a:buNone/>
                      </a:pPr>
                      <a:r>
                        <a:rPr sz="1875" b="1">
                          <a:solidFill>
                            <a:srgbClr val="FFFFFF"/>
                          </a:solidFill>
                          <a:latin typeface="Noto Sans KR"/>
                          <a:ea typeface="Noto Sans KR"/>
                          <a:cs typeface="Noto Sans KR"/>
                        </a:rPr>
                        <a:t>정답 짖음이 포함된 길이</a:t>
                      </a:r>
                    </a:p>
                  </a:txBody>
                  <a:tcPr marL="133350" marR="95250" marT="76200" marB="76200" anchor="ctr">
                    <a:lnL w="9525">
                      <a:solidFill>
                        <a:srgbClr val="D3D3D3"/>
                      </a:solidFill>
                      <a:prstDash val="solid"/>
                    </a:lnL>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875" b="1">
                          <a:solidFill>
                            <a:srgbClr val="FFFFFF"/>
                          </a:solidFill>
                          <a:latin typeface="Noto Sans KR"/>
                          <a:ea typeface="Noto Sans KR"/>
                          <a:cs typeface="Noto Sans KR"/>
                        </a:rPr>
                        <a:t>찾은 구간</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875" b="1">
                          <a:solidFill>
                            <a:srgbClr val="FFFFFF"/>
                          </a:solidFill>
                          <a:latin typeface="Noto Sans KR"/>
                          <a:ea typeface="Noto Sans KR"/>
                          <a:cs typeface="Noto Sans KR"/>
                        </a:rPr>
                        <a:t>놓친 구간</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875" b="1">
                          <a:solidFill>
                            <a:srgbClr val="FFFFFF"/>
                          </a:solidFill>
                          <a:latin typeface="Noto Sans KR"/>
                          <a:ea typeface="Noto Sans KR"/>
                          <a:cs typeface="Noto Sans KR"/>
                        </a:rPr>
                        <a:t>찾아낸 비율</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r>
              <a:tr h="698500">
                <a:tc>
                  <a:txBody>
                    <a:bodyPr lIns="95250" tIns="95250" rIns="95250" bIns="95250">
                      <a:noAutofit/>
                    </a:bodyPr>
                    <a:lstStyle/>
                    <a:p>
                      <a:pPr algn="l">
                        <a:buNone/>
                      </a:pPr>
                      <a:r>
                        <a:rPr sz="1875" b="0">
                          <a:solidFill>
                            <a:srgbClr val="272626"/>
                          </a:solidFill>
                          <a:latin typeface="Noto Sans KR"/>
                          <a:ea typeface="Noto Sans KR"/>
                          <a:cs typeface="Noto Sans KR"/>
                        </a:rPr>
                        <a:t>1초 미만</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875" b="0">
                          <a:solidFill>
                            <a:srgbClr val="272626"/>
                          </a:solidFill>
                          <a:latin typeface="Noto Sans KR"/>
                          <a:ea typeface="Noto Sans KR"/>
                          <a:cs typeface="Noto Sans KR"/>
                        </a:rPr>
                        <a:t>11 / 23</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875" b="0">
                          <a:solidFill>
                            <a:srgbClr val="272626"/>
                          </a:solidFill>
                          <a:latin typeface="Noto Sans KR"/>
                          <a:ea typeface="Noto Sans KR"/>
                          <a:cs typeface="Noto Sans KR"/>
                        </a:rPr>
                        <a:t>12 / 23</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875" b="0">
                          <a:solidFill>
                            <a:srgbClr val="272626"/>
                          </a:solidFill>
                          <a:latin typeface="Noto Sans KR"/>
                          <a:ea typeface="Noto Sans KR"/>
                          <a:cs typeface="Noto Sans KR"/>
                        </a:rPr>
                        <a:t>47.8%</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698500">
                <a:tc>
                  <a:txBody>
                    <a:bodyPr lIns="95250" tIns="95250" rIns="95250" bIns="95250">
                      <a:noAutofit/>
                    </a:bodyPr>
                    <a:lstStyle/>
                    <a:p>
                      <a:pPr algn="l">
                        <a:buNone/>
                      </a:pPr>
                      <a:r>
                        <a:rPr sz="1875" b="0">
                          <a:solidFill>
                            <a:srgbClr val="272626"/>
                          </a:solidFill>
                          <a:latin typeface="Noto Sans KR"/>
                          <a:ea typeface="Noto Sans KR"/>
                          <a:cs typeface="Noto Sans KR"/>
                        </a:rPr>
                        <a:t>1초 이상</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875" b="0">
                          <a:solidFill>
                            <a:srgbClr val="272626"/>
                          </a:solidFill>
                          <a:latin typeface="Noto Sans KR"/>
                          <a:ea typeface="Noto Sans KR"/>
                          <a:cs typeface="Noto Sans KR"/>
                        </a:rPr>
                        <a:t>31 / 34</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875" b="0">
                          <a:solidFill>
                            <a:srgbClr val="272626"/>
                          </a:solidFill>
                          <a:latin typeface="Noto Sans KR"/>
                          <a:ea typeface="Noto Sans KR"/>
                          <a:cs typeface="Noto Sans KR"/>
                        </a:rPr>
                        <a:t>3 / 34</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875" b="0">
                          <a:solidFill>
                            <a:srgbClr val="272626"/>
                          </a:solidFill>
                          <a:latin typeface="Noto Sans KR"/>
                          <a:ea typeface="Noto Sans KR"/>
                          <a:cs typeface="Noto Sans KR"/>
                        </a:rPr>
                        <a:t>91.2%</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bl>
          </a:graphicData>
        </a:graphic>
      </p:graphicFrame>
      <p:sp>
        <p:nvSpPr>
          <p:cNvPr id="31" name="finding">
            <a:extLst xmlns:a="http://schemas.openxmlformats.org/drawingml/2006/main">
              <a:ext uri="{FF2B5EF4-FFF2-40B4-BE49-F238E27FC236}">
                <a16:creationId xmlns:a16="http://schemas.microsoft.com/office/drawing/2014/main" id="{226B5B01-3DA4-4CA9-8F84-BCAD26E8FFE9}"/>
              </a:ext>
            </a:extLst>
          </p:cNvPr>
          <p:cNvSpPr>
            <a:spLocks xmlns:a="http://schemas.openxmlformats.org/drawingml/2006/main" noGrp="1"/>
          </p:cNvSpPr>
          <p:nvPr/>
        </p:nvSpPr>
        <p:spPr>
          <a:xfrm xmlns:a="http://schemas.openxmlformats.org/drawingml/2006/main">
            <a:off x="504825" y="4324350"/>
            <a:ext cx="11182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272626"/>
                </a:solidFill>
                <a:latin typeface="Noto Sans KR"/>
                <a:ea typeface="Noto Sans KR"/>
                <a:cs typeface="Noto Sans KR"/>
              </a:defRPr>
            </a:defPPr>
          </a:lstStyle>
          <a:p xmlns:a="http://schemas.openxmlformats.org/drawingml/2006/main">
            <a:pPr>
              <a:buNone/>
              <a:defRPr sz="2175" b="1">
                <a:solidFill>
                  <a:srgbClr val="272626"/>
                </a:solidFill>
                <a:latin typeface="Noto Sans KR"/>
                <a:ea typeface="Noto Sans KR"/>
                <a:cs typeface="Noto Sans KR"/>
              </a:defRPr>
            </a:pPr>
            <a:r>
              <a:rPr sz="2175" b="1">
                <a:solidFill>
                  <a:srgbClr val="272626"/>
                </a:solidFill>
                <a:latin typeface="Noto Sans KR"/>
                <a:ea typeface="Noto Sans KR"/>
                <a:cs typeface="Noto Sans KR"/>
              </a:rPr>
              <a:t>다음 개선 대상은 짧은 짖음과 생활 소음의 구분입니다.</a:t>
            </a:r>
          </a:p>
        </p:txBody>
      </p:sp>
      <p:sp>
        <p:nvSpPr>
          <p:cNvPr id="32" name="action">
            <a:extLst xmlns:a="http://schemas.openxmlformats.org/drawingml/2006/main">
              <a:ext uri="{FF2B5EF4-FFF2-40B4-BE49-F238E27FC236}">
                <a16:creationId xmlns:a16="http://schemas.microsoft.com/office/drawing/2014/main" id="{EAA76F6F-1FFA-4BE7-9833-CD6174BBD22D}"/>
              </a:ext>
            </a:extLst>
          </p:cNvPr>
          <p:cNvSpPr>
            <a:spLocks xmlns:a="http://schemas.openxmlformats.org/drawingml/2006/main" noGrp="1"/>
          </p:cNvSpPr>
          <p:nvPr/>
        </p:nvSpPr>
        <p:spPr>
          <a:xfrm xmlns:a="http://schemas.openxmlformats.org/drawingml/2006/main">
            <a:off x="504825" y="5000625"/>
            <a:ext cx="11182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272626"/>
                </a:solidFill>
                <a:latin typeface="Noto Sans KR"/>
                <a:ea typeface="Noto Sans KR"/>
                <a:cs typeface="Noto Sans KR"/>
              </a:defRPr>
            </a:defPPr>
          </a:lstStyle>
          <a:p xmlns:a="http://schemas.openxmlformats.org/drawingml/2006/main">
            <a:pPr>
              <a:buNone/>
              <a:defRPr sz="1800" b="0">
                <a:solidFill>
                  <a:srgbClr val="272626"/>
                </a:solidFill>
                <a:latin typeface="Noto Sans KR"/>
                <a:ea typeface="Noto Sans KR"/>
                <a:cs typeface="Noto Sans KR"/>
              </a:defRPr>
            </a:pPr>
            <a:r>
              <a:rPr sz="1800" b="0">
                <a:solidFill>
                  <a:srgbClr val="272626"/>
                </a:solidFill>
                <a:latin typeface="Noto Sans KR"/>
                <a:ea typeface="Noto Sans KR"/>
                <a:cs typeface="Noto Sans KR"/>
              </a:rPr>
              <a:t>먼저 놓친 원본을 들어 보고, 정답 시각과 현재 음원이 맞는지 확인합니다.</a:t>
            </a:r>
          </a:p>
        </p:txBody>
      </p:sp>
      <p:sp>
        <p:nvSpPr>
          <p:cNvPr id="33" name="limit">
            <a:extLst xmlns:a="http://schemas.openxmlformats.org/drawingml/2006/main">
              <a:ext uri="{FF2B5EF4-FFF2-40B4-BE49-F238E27FC236}">
                <a16:creationId xmlns:a16="http://schemas.microsoft.com/office/drawing/2014/main" id="{0A63C17E-91B5-4B96-9BDC-2BDD7A664B61}"/>
              </a:ext>
            </a:extLst>
          </p:cNvPr>
          <p:cNvSpPr>
            <a:spLocks xmlns:a="http://schemas.openxmlformats.org/drawingml/2006/main" noGrp="1"/>
          </p:cNvSpPr>
          <p:nvPr/>
        </p:nvSpPr>
        <p:spPr>
          <a:xfrm xmlns:a="http://schemas.openxmlformats.org/drawingml/2006/main">
            <a:off x="504825" y="583882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727272"/>
                </a:solidFill>
                <a:latin typeface="Noto Sans KR"/>
                <a:ea typeface="Noto Sans KR"/>
                <a:cs typeface="Noto Sans KR"/>
              </a:defRPr>
            </a:defPPr>
          </a:lstStyle>
          <a:p xmlns:a="http://schemas.openxmlformats.org/drawingml/2006/main">
            <a:pPr>
              <a:buNone/>
              <a:defRPr sz="1200" b="0">
                <a:solidFill>
                  <a:srgbClr val="727272"/>
                </a:solidFill>
                <a:latin typeface="Noto Sans KR"/>
                <a:ea typeface="Noto Sans KR"/>
                <a:cs typeface="Noto Sans KR"/>
              </a:defRPr>
            </a:pPr>
            <a:r>
              <a:rPr sz="1200" b="0">
                <a:solidFill>
                  <a:srgbClr val="727272"/>
                </a:solidFill>
                <a:latin typeface="Noto Sans KR"/>
                <a:ea typeface="Noto Sans KR"/>
                <a:cs typeface="Noto Sans KR"/>
              </a:rPr>
              <a:t>YAMNet의 5초 구간 평가. 길이는 5초 창 안에 포함된 정답 짖음 시간이며 개별 발성 길이와 다름.</a:t>
            </a:r>
          </a:p>
        </p:txBody>
      </p:sp>
    </p:spTree>
    <p:extLst>
      <p:ext uri="{BB962C8B-B14F-4D97-AF65-F5344CB8AC3E}">
        <p14:creationId xmlns:p14="http://schemas.microsoft.com/office/powerpoint/2010/main" val="1799597961"/>
      </p:ext>
    </p:extLst>
  </p:cSld>
</p:sld>
</file>

<file path=ppt/slides/slide15.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289C1E-99AD-4E6C-8DF9-35705F86164E}"/>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341D240C-22CC-4AC2-83B6-8DBD656C2542}"/>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CCFDC6F7-F93F-4352-87D1-4EF43BBE8653}"/>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주요 기능과 확인한 결과</a:t>
            </a:r>
            <a:endParaRPr sz="1100"/>
          </a:p>
        </p:txBody>
      </p:sp>
      <p:sp>
        <p:nvSpPr>
          <p:cNvPr id="5" name="Text 3">
            <a:extLst xmlns:a="http://schemas.openxmlformats.org/drawingml/2006/main">
              <a:ext uri="{FF2B5EF4-FFF2-40B4-BE49-F238E27FC236}">
                <a16:creationId xmlns:a16="http://schemas.microsoft.com/office/drawing/2014/main" id="{774D45A9-F58C-47AD-84BC-112F75C0F475}"/>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더 짧은 구간을 학습한 LSTM도 비교</a:t>
            </a:r>
            <a:endParaRPr sz="2600"/>
          </a:p>
        </p:txBody>
      </p:sp>
      <p:sp>
        <p:nvSpPr>
          <p:cNvPr id="29" name="Text 27">
            <a:extLst xmlns:a="http://schemas.openxmlformats.org/drawingml/2006/main">
              <a:ext uri="{FF2B5EF4-FFF2-40B4-BE49-F238E27FC236}">
                <a16:creationId xmlns:a16="http://schemas.microsoft.com/office/drawing/2014/main" id="{B6625806-1698-423B-B419-8819E1580911}"/>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15 / 23</a:t>
            </a:r>
            <a:endParaRPr sz="900"/>
          </a:p>
        </p:txBody>
      </p:sp>
      <p:graphicFrame>
        <p:nvGraphicFramePr>
          <p:cNvPr id="30" name="">
            <a:extLst xmlns:a="http://schemas.openxmlformats.org/drawingml/2006/main">
              <a:ext uri="{FF2B5EF4-FFF2-40B4-BE49-F238E27FC236}">
                <a16:creationId xmlns:a16="http://schemas.microsoft.com/office/drawing/2014/main" id="{A377D954-E968-40A5-8717-9400131F537A}"/>
              </a:ext>
            </a:extLst>
          </p:cNvPr>
          <p:cNvGraphicFramePr/>
          <p:nvPr/>
        </p:nvGraphicFramePr>
        <p:xfrm>
          <a:off xmlns:a="http://schemas.openxmlformats.org/drawingml/2006/main" x="504825" y="1885950"/>
          <a:ext xmlns:a="http://schemas.openxmlformats.org/drawingml/2006/main" cx="11182350" cy="2000250"/>
        </p:xfrm>
        <a:graphic xmlns:a="http://schemas.openxmlformats.org/drawingml/2006/main">
          <a:graphicData uri="http://schemas.openxmlformats.org/drawingml/2006/table">
            <a:tbl>
              <a:tblPr/>
              <a:tblGrid>
                <a:gridCol w="3752850"/>
                <a:gridCol w="1619250"/>
                <a:gridCol w="1619250"/>
                <a:gridCol w="1524000"/>
                <a:gridCol w="1333500"/>
                <a:gridCol w="1333500"/>
              </a:tblGrid>
              <a:tr h="666750">
                <a:tc>
                  <a:txBody>
                    <a:bodyPr lIns="95250" tIns="95250" rIns="95250" bIns="95250">
                      <a:noAutofit/>
                    </a:bodyPr>
                    <a:lstStyle/>
                    <a:p>
                      <a:pPr algn="l">
                        <a:buNone/>
                      </a:pPr>
                      <a:r>
                        <a:rPr sz="1575" b="1">
                          <a:solidFill>
                            <a:srgbClr val="FFFFFF"/>
                          </a:solidFill>
                          <a:latin typeface="Noto Sans KR"/>
                          <a:ea typeface="Noto Sans KR"/>
                          <a:cs typeface="Noto Sans KR"/>
                        </a:rPr>
                        <a:t>같은 10초 입력 특징 사용</a:t>
                      </a:r>
                    </a:p>
                  </a:txBody>
                  <a:tcPr marL="133350" marR="95250" marT="76200" marB="76200" anchor="ctr">
                    <a:lnL w="9525">
                      <a:solidFill>
                        <a:srgbClr val="D3D3D3"/>
                      </a:solidFill>
                      <a:prstDash val="solid"/>
                    </a:lnL>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정밀도</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재현율</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F1</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오탐</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놓침</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r>
              <a:tr h="666750">
                <a:tc>
                  <a:txBody>
                    <a:bodyPr lIns="95250" tIns="95250" rIns="95250" bIns="95250">
                      <a:noAutofit/>
                    </a:bodyPr>
                    <a:lstStyle/>
                    <a:p>
                      <a:pPr algn="l">
                        <a:buNone/>
                      </a:pPr>
                      <a:r>
                        <a:rPr sz="1575" b="0">
                          <a:solidFill>
                            <a:srgbClr val="272626"/>
                          </a:solidFill>
                          <a:latin typeface="Noto Sans KR"/>
                          <a:ea typeface="Noto Sans KR"/>
                          <a:cs typeface="Noto Sans KR"/>
                        </a:rPr>
                        <a:t>YAMNet 단독</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87.5%</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73.7%</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80.0%</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6</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15</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666750">
                <a:tc>
                  <a:txBody>
                    <a:bodyPr lIns="95250" tIns="95250" rIns="95250" bIns="95250">
                      <a:noAutofit/>
                    </a:bodyPr>
                    <a:lstStyle/>
                    <a:p>
                      <a:pPr algn="l">
                        <a:buNone/>
                      </a:pPr>
                      <a:r>
                        <a:rPr sz="1575" b="0">
                          <a:solidFill>
                            <a:srgbClr val="272626"/>
                          </a:solidFill>
                          <a:latin typeface="Noto Sans KR"/>
                          <a:ea typeface="Noto Sans KR"/>
                          <a:cs typeface="Noto Sans KR"/>
                        </a:rPr>
                        <a:t>짧은 구간별 LSTM</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77.6%</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78.9%</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78.3%</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13</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12</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bl>
          </a:graphicData>
        </a:graphic>
      </p:graphicFrame>
      <p:sp>
        <p:nvSpPr>
          <p:cNvPr id="31" name="delta">
            <a:extLst xmlns:a="http://schemas.openxmlformats.org/drawingml/2006/main">
              <a:ext uri="{FF2B5EF4-FFF2-40B4-BE49-F238E27FC236}">
                <a16:creationId xmlns:a16="http://schemas.microsoft.com/office/drawing/2014/main" id="{8A8A9EEE-6769-484F-A25F-DA2D23A008B1}"/>
              </a:ext>
            </a:extLst>
          </p:cNvPr>
          <p:cNvSpPr>
            <a:spLocks xmlns:a="http://schemas.openxmlformats.org/drawingml/2006/main" noGrp="1"/>
          </p:cNvSpPr>
          <p:nvPr/>
        </p:nvSpPr>
        <p:spPr>
          <a:xfrm xmlns:a="http://schemas.openxmlformats.org/drawingml/2006/main">
            <a:off x="504825" y="4314825"/>
            <a:ext cx="11182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272626"/>
                </a:solidFill>
                <a:latin typeface="Noto Sans KR"/>
                <a:ea typeface="Noto Sans KR"/>
                <a:cs typeface="Noto Sans KR"/>
              </a:defRPr>
            </a:defPPr>
          </a:lstStyle>
          <a:p xmlns:a="http://schemas.openxmlformats.org/drawingml/2006/main">
            <a:pPr>
              <a:buNone/>
              <a:defRPr sz="2175" b="1">
                <a:solidFill>
                  <a:srgbClr val="272626"/>
                </a:solidFill>
                <a:latin typeface="Noto Sans KR"/>
                <a:ea typeface="Noto Sans KR"/>
                <a:cs typeface="Noto Sans KR"/>
              </a:defRPr>
            </a:pPr>
            <a:r>
              <a:rPr sz="2175" b="1">
                <a:solidFill>
                  <a:srgbClr val="272626"/>
                </a:solidFill>
                <a:latin typeface="Noto Sans KR"/>
                <a:ea typeface="Noto Sans KR"/>
                <a:cs typeface="Noto Sans KR"/>
              </a:rPr>
              <a:t>짖음을 3창 더 찾았지만, 오탐도 7창 늘어 미채택</a:t>
            </a:r>
          </a:p>
        </p:txBody>
      </p:sp>
      <p:sp>
        <p:nvSpPr>
          <p:cNvPr id="32" name="method">
            <a:extLst xmlns:a="http://schemas.openxmlformats.org/drawingml/2006/main">
              <a:ext uri="{FF2B5EF4-FFF2-40B4-BE49-F238E27FC236}">
                <a16:creationId xmlns:a16="http://schemas.microsoft.com/office/drawing/2014/main" id="{27F0694B-1065-4C03-8DC9-EDBDA8225CE7}"/>
              </a:ext>
            </a:extLst>
          </p:cNvPr>
          <p:cNvSpPr>
            <a:spLocks xmlns:a="http://schemas.openxmlformats.org/drawingml/2006/main" noGrp="1"/>
          </p:cNvSpPr>
          <p:nvPr/>
        </p:nvSpPr>
        <p:spPr>
          <a:xfrm xmlns:a="http://schemas.openxmlformats.org/drawingml/2006/main">
            <a:off x="504825" y="4981575"/>
            <a:ext cx="11182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72626"/>
                </a:solidFill>
                <a:latin typeface="Noto Sans KR"/>
                <a:ea typeface="Noto Sans KR"/>
                <a:cs typeface="Noto Sans KR"/>
              </a:defRPr>
            </a:defPPr>
          </a:lstStyle>
          <a:p xmlns:a="http://schemas.openxmlformats.org/drawingml/2006/main">
            <a:pPr>
              <a:buNone/>
              <a:defRPr sz="1725" b="0">
                <a:solidFill>
                  <a:srgbClr val="272626"/>
                </a:solidFill>
                <a:latin typeface="Noto Sans KR"/>
                <a:ea typeface="Noto Sans KR"/>
                <a:cs typeface="Noto Sans KR"/>
              </a:defRPr>
            </a:pPr>
            <a:r>
              <a:rPr sz="1725" b="0">
                <a:solidFill>
                  <a:srgbClr val="272626"/>
                </a:solidFill>
                <a:latin typeface="Noto Sans KR"/>
                <a:ea typeface="Noto Sans KR"/>
                <a:cs typeface="Noto Sans KR"/>
              </a:rPr>
              <a:t>약 1초씩 추출한 소리 특징과 짖음 시각 정답을 연결해 학습했습니다.</a:t>
            </a:r>
          </a:p>
        </p:txBody>
      </p:sp>
      <p:sp>
        <p:nvSpPr>
          <p:cNvPr id="33" name="limit">
            <a:extLst xmlns:a="http://schemas.openxmlformats.org/drawingml/2006/main">
              <a:ext uri="{FF2B5EF4-FFF2-40B4-BE49-F238E27FC236}">
                <a16:creationId xmlns:a16="http://schemas.microsoft.com/office/drawing/2014/main" id="{520C6434-9B2A-4B10-B0DD-5BD728E8E9A0}"/>
              </a:ext>
            </a:extLst>
          </p:cNvPr>
          <p:cNvSpPr>
            <a:spLocks xmlns:a="http://schemas.openxmlformats.org/drawingml/2006/main" noGrp="1"/>
          </p:cNvSpPr>
          <p:nvPr/>
        </p:nvSpPr>
        <p:spPr>
          <a:xfrm xmlns:a="http://schemas.openxmlformats.org/drawingml/2006/main">
            <a:off x="504825" y="583882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727272"/>
                </a:solidFill>
                <a:latin typeface="Noto Sans KR"/>
                <a:ea typeface="Noto Sans KR"/>
                <a:cs typeface="Noto Sans KR"/>
              </a:defRPr>
            </a:defPPr>
          </a:lstStyle>
          <a:p xmlns:a="http://schemas.openxmlformats.org/drawingml/2006/main">
            <a:pPr>
              <a:buNone/>
              <a:defRPr sz="1200" b="0">
                <a:solidFill>
                  <a:srgbClr val="727272"/>
                </a:solidFill>
                <a:latin typeface="Noto Sans KR"/>
                <a:ea typeface="Noto Sans KR"/>
                <a:cs typeface="Noto Sans KR"/>
              </a:defRPr>
            </a:pPr>
            <a:r>
              <a:rPr sz="1200" b="0">
                <a:solidFill>
                  <a:srgbClr val="727272"/>
                </a:solidFill>
                <a:latin typeface="Noto Sans KR"/>
                <a:ea typeface="Noto Sans KR"/>
                <a:cs typeface="Noto Sans KR"/>
              </a:rPr>
              <a:t>앞 표의 5초씩 분석한 결과와 입력 경계가 다릅니다. 이 표 안에서만 두 모델을 비교합니다.</a:t>
            </a:r>
          </a:p>
        </p:txBody>
      </p:sp>
    </p:spTree>
    <p:extLst>
      <p:ext uri="{BB962C8B-B14F-4D97-AF65-F5344CB8AC3E}">
        <p14:creationId xmlns:p14="http://schemas.microsoft.com/office/powerpoint/2010/main" val="1799597961"/>
      </p:ext>
    </p:extLst>
  </p:cSld>
</p:sld>
</file>

<file path=ppt/slides/slide16.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C6F6F83-D676-4583-914A-BFC44F8D9EBA}"/>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B8F3849E-60A2-41FA-9252-3367B4E8DECA}"/>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DC8C9B38-9F99-4501-BA2A-D8CA9289B046}"/>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핵심 기능과 검증</a:t>
            </a:r>
            <a:endParaRPr sz="1100"/>
          </a:p>
        </p:txBody>
      </p:sp>
      <p:sp>
        <p:nvSpPr>
          <p:cNvPr id="5" name="Text 3">
            <a:extLst xmlns:a="http://schemas.openxmlformats.org/drawingml/2006/main">
              <a:ext uri="{FF2B5EF4-FFF2-40B4-BE49-F238E27FC236}">
                <a16:creationId xmlns:a16="http://schemas.microsoft.com/office/drawing/2014/main" id="{ACFA9E75-2852-4207-8EE1-DD2FBA0FCCF8}"/>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짖음 후보 구간의 전후 영상 확인</a:t>
            </a:r>
            <a:endParaRPr sz="2600"/>
          </a:p>
        </p:txBody>
      </p:sp>
      <p:sp>
        <p:nvSpPr>
          <p:cNvPr id="6" name="Shape 4">
            <a:extLst xmlns:a="http://schemas.openxmlformats.org/drawingml/2006/main">
              <a:ext uri="{FF2B5EF4-FFF2-40B4-BE49-F238E27FC236}">
                <a16:creationId xmlns:a16="http://schemas.microsoft.com/office/drawing/2014/main" id="{9B51A52B-56E8-4772-95F3-1C3937DA2797}"/>
              </a:ext>
            </a:extLst>
          </p:cNvPr>
          <p:cNvSpPr>
            <a:spLocks xmlns:a="http://schemas.openxmlformats.org/drawingml/2006/main" noGrp="1"/>
          </p:cNvSpPr>
          <p:nvPr/>
        </p:nvSpPr>
        <p:spPr>
          <a:xfrm xmlns:a="http://schemas.openxmlformats.org/drawingml/2006/main">
            <a:off x="502920" y="1444752"/>
            <a:ext cx="285750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D187A18-DF08-4E39-8AC0-96066F8F7F38}"/>
              </a:ext>
            </a:extLst>
          </p:cNvPr>
          <p:cNvSpPr>
            <a:spLocks xmlns:a="http://schemas.openxmlformats.org/drawingml/2006/main" noGrp="1"/>
          </p:cNvSpPr>
          <p:nvPr/>
        </p:nvSpPr>
        <p:spPr>
          <a:xfrm xmlns:a="http://schemas.openxmlformats.org/drawingml/2006/main">
            <a:off x="502920" y="1444752"/>
            <a:ext cx="28575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950" b="1">
                <a:solidFill>
                  <a:srgbClr val="FFFFFF"/>
                </a:solidFill>
                <a:latin typeface="Noto Sans KR"/>
                <a:ea typeface="Noto Sans KR"/>
                <a:cs typeface="Noto Sans KR"/>
              </a:defRPr>
            </a:defPPr>
          </a:lstStyle>
          <a:p xmlns:a="http://schemas.openxmlformats.org/drawingml/2006/main">
            <a:pPr marL="0" indent="0" algn="ctr">
              <a:buNone/>
              <a:defRPr sz="950" b="1">
                <a:solidFill>
                  <a:srgbClr val="FFFFFF"/>
                </a:solidFill>
                <a:latin typeface="Noto Sans KR"/>
                <a:ea typeface="Noto Sans KR"/>
                <a:cs typeface="Noto Sans KR"/>
              </a:defRPr>
            </a:pPr>
            <a:r>
              <a:rPr sz="950" b="1">
                <a:solidFill>
                  <a:srgbClr val="FFFFFF"/>
                </a:solidFill>
                <a:latin typeface="Noto Sans KR"/>
                <a:ea typeface="Noto Sans KR"/>
                <a:cs typeface="Noto Sans KR"/>
              </a:rPr>
              <a:t>준비한 파일로 확인 / 실제 장비 테스트 예정</a:t>
            </a:r>
            <a:endParaRPr sz="950"/>
          </a:p>
        </p:txBody>
      </p:sp>
      <p:sp>
        <p:nvSpPr>
          <p:cNvPr id="8" name="Shape 6">
            <a:extLst xmlns:a="http://schemas.openxmlformats.org/drawingml/2006/main">
              <a:ext uri="{FF2B5EF4-FFF2-40B4-BE49-F238E27FC236}">
                <a16:creationId xmlns:a16="http://schemas.microsoft.com/office/drawing/2014/main" id="{9AC310AB-3B69-4741-8C4B-A53018D21EF6}"/>
              </a:ext>
            </a:extLst>
          </p:cNvPr>
          <p:cNvSpPr>
            <a:spLocks xmlns:a="http://schemas.openxmlformats.org/drawingml/2006/main" noGrp="1"/>
          </p:cNvSpPr>
          <p:nvPr/>
        </p:nvSpPr>
        <p:spPr>
          <a:xfrm xmlns:a="http://schemas.openxmlformats.org/drawingml/2006/main">
            <a:off x="502920" y="1965960"/>
            <a:ext cx="11183112" cy="3246120"/>
          </a:xfrm>
          <a:prstGeom xmlns:a="http://schemas.openxmlformats.org/drawingml/2006/main" prst="roundRect">
            <a:avLst>
              <a:gd name="adj" fmla="val 2254"/>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2DD27C56-4D19-4F9D-955B-80DFDC80C687}"/>
              </a:ext>
            </a:extLst>
          </p:cNvPr>
          <p:cNvSpPr>
            <a:spLocks xmlns:a="http://schemas.openxmlformats.org/drawingml/2006/main" noGrp="1"/>
          </p:cNvSpPr>
          <p:nvPr/>
        </p:nvSpPr>
        <p:spPr>
          <a:xfrm xmlns:a="http://schemas.openxmlformats.org/drawingml/2006/main">
            <a:off x="822960" y="217627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0">
                <a:solidFill>
                  <a:srgbClr val="8A8A8A"/>
                </a:solidFill>
                <a:latin typeface="Noto Sans KR"/>
                <a:ea typeface="Noto Sans KR"/>
                <a:cs typeface="Noto Sans KR"/>
              </a:defRPr>
            </a:defPPr>
          </a:lstStyle>
          <a:p xmlns:a="http://schemas.openxmlformats.org/drawingml/2006/main">
            <a:pPr marL="0" indent="0" algn="l">
              <a:buNone/>
              <a:defRPr sz="1200" b="0">
                <a:solidFill>
                  <a:srgbClr val="8A8A8A"/>
                </a:solidFill>
                <a:latin typeface="Noto Sans KR"/>
                <a:ea typeface="Noto Sans KR"/>
                <a:cs typeface="Noto Sans KR"/>
              </a:defRPr>
            </a:pPr>
            <a:r>
              <a:rPr sz="1200" b="0">
                <a:solidFill>
                  <a:srgbClr val="8A8A8A"/>
                </a:solidFill>
                <a:latin typeface="Noto Sans KR"/>
                <a:ea typeface="Noto Sans KR"/>
                <a:cs typeface="Noto Sans KR"/>
              </a:rPr>
              <a:t>카메라로 소리가 난 상황을 보호자가 직접 확인</a:t>
            </a:r>
            <a:endParaRPr sz="1200"/>
          </a:p>
        </p:txBody>
      </p:sp>
      <p:sp>
        <p:nvSpPr>
          <p:cNvPr id="10" name="Shape 8">
            <a:extLst xmlns:a="http://schemas.openxmlformats.org/drawingml/2006/main">
              <a:ext uri="{FF2B5EF4-FFF2-40B4-BE49-F238E27FC236}">
                <a16:creationId xmlns:a16="http://schemas.microsoft.com/office/drawing/2014/main" id="{B61B6712-A632-4A61-A584-066259985A79}"/>
              </a:ext>
            </a:extLst>
          </p:cNvPr>
          <p:cNvSpPr>
            <a:spLocks xmlns:a="http://schemas.openxmlformats.org/drawingml/2006/main" noGrp="1"/>
          </p:cNvSpPr>
          <p:nvPr/>
        </p:nvSpPr>
        <p:spPr>
          <a:xfrm xmlns:a="http://schemas.openxmlformats.org/drawingml/2006/main">
            <a:off x="868680" y="2788920"/>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DB032941-4519-490E-A6CE-E87EEC5AFE97}"/>
              </a:ext>
            </a:extLst>
          </p:cNvPr>
          <p:cNvSpPr>
            <a:spLocks xmlns:a="http://schemas.openxmlformats.org/drawingml/2006/main" noGrp="1"/>
          </p:cNvSpPr>
          <p:nvPr/>
        </p:nvSpPr>
        <p:spPr>
          <a:xfrm xmlns:a="http://schemas.openxmlformats.org/drawingml/2006/main">
            <a:off x="1069848" y="2633472"/>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보관</a:t>
            </a:r>
            <a:r>
              <a:rPr sz="1500" b="0">
                <a:solidFill>
                  <a:srgbClr val="5A5A5A"/>
                </a:solidFill>
                <a:latin typeface="Noto Sans KR"/>
                <a:ea typeface="Noto Sans KR"/>
                <a:cs typeface="Noto Sans KR"/>
              </a:rPr>
              <a:t>  최근 영상을 잠시 보관하고, 짖음 후보 구간의 앞뒤 각 5초를 확보</a:t>
            </a:r>
            <a:endParaRPr sz="1500"/>
          </a:p>
        </p:txBody>
      </p:sp>
      <p:sp>
        <p:nvSpPr>
          <p:cNvPr id="12" name="Shape 10">
            <a:extLst xmlns:a="http://schemas.openxmlformats.org/drawingml/2006/main">
              <a:ext uri="{FF2B5EF4-FFF2-40B4-BE49-F238E27FC236}">
                <a16:creationId xmlns:a16="http://schemas.microsoft.com/office/drawing/2014/main" id="{0A824A78-B520-46A7-8A8B-09DDA655AEFE}"/>
              </a:ext>
            </a:extLst>
          </p:cNvPr>
          <p:cNvSpPr>
            <a:spLocks xmlns:a="http://schemas.openxmlformats.org/drawingml/2006/main" noGrp="1"/>
          </p:cNvSpPr>
          <p:nvPr/>
        </p:nvSpPr>
        <p:spPr>
          <a:xfrm xmlns:a="http://schemas.openxmlformats.org/drawingml/2006/main">
            <a:off x="868680" y="3374136"/>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665CB384-28E4-4EBC-9C59-CA9154298D94}"/>
              </a:ext>
            </a:extLst>
          </p:cNvPr>
          <p:cNvSpPr>
            <a:spLocks xmlns:a="http://schemas.openxmlformats.org/drawingml/2006/main" noGrp="1"/>
          </p:cNvSpPr>
          <p:nvPr/>
        </p:nvSpPr>
        <p:spPr>
          <a:xfrm xmlns:a="http://schemas.openxmlformats.org/drawingml/2006/main">
            <a:off x="1069848" y="3218688"/>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연결</a:t>
            </a:r>
            <a:r>
              <a:rPr sz="1500" b="0">
                <a:solidFill>
                  <a:srgbClr val="5A5A5A"/>
                </a:solidFill>
                <a:latin typeface="Noto Sans KR"/>
                <a:ea typeface="Noto Sans KR"/>
                <a:cs typeface="Noto Sans KR"/>
              </a:rPr>
              <a:t>  소리 기록에 촬영 시각과 영상을 연결해 화면에서 바로 재생</a:t>
            </a:r>
            <a:endParaRPr sz="1500"/>
          </a:p>
        </p:txBody>
      </p:sp>
      <p:sp>
        <p:nvSpPr>
          <p:cNvPr id="14" name="Shape 12">
            <a:extLst xmlns:a="http://schemas.openxmlformats.org/drawingml/2006/main">
              <a:ext uri="{FF2B5EF4-FFF2-40B4-BE49-F238E27FC236}">
                <a16:creationId xmlns:a16="http://schemas.microsoft.com/office/drawing/2014/main" id="{CEF29CDE-8022-4B0B-B786-A10364ADE6B0}"/>
              </a:ext>
            </a:extLst>
          </p:cNvPr>
          <p:cNvSpPr>
            <a:spLocks xmlns:a="http://schemas.openxmlformats.org/drawingml/2006/main" noGrp="1"/>
          </p:cNvSpPr>
          <p:nvPr/>
        </p:nvSpPr>
        <p:spPr>
          <a:xfrm xmlns:a="http://schemas.openxmlformats.org/drawingml/2006/main">
            <a:off x="868680" y="3959352"/>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B5F092F6-5786-4453-AEB8-5ABEB9568109}"/>
              </a:ext>
            </a:extLst>
          </p:cNvPr>
          <p:cNvSpPr>
            <a:spLocks xmlns:a="http://schemas.openxmlformats.org/drawingml/2006/main" noGrp="1"/>
          </p:cNvSpPr>
          <p:nvPr/>
        </p:nvSpPr>
        <p:spPr>
          <a:xfrm xmlns:a="http://schemas.openxmlformats.org/drawingml/2006/main">
            <a:off x="1069848" y="3803904"/>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결과</a:t>
            </a:r>
            <a:r>
              <a:rPr sz="1500" b="0">
                <a:solidFill>
                  <a:srgbClr val="5A5A5A"/>
                </a:solidFill>
                <a:latin typeface="Noto Sans KR"/>
                <a:ea typeface="Noto Sans KR"/>
                <a:cs typeface="Noto Sans KR"/>
              </a:rPr>
              <a:t>  30초 시험 파일로 소리 기록 6개와 15초 영상 1개 생성</a:t>
            </a:r>
            <a:endParaRPr sz="1500"/>
          </a:p>
        </p:txBody>
      </p:sp>
      <p:sp>
        <p:nvSpPr>
          <p:cNvPr id="16" name="Shape 14">
            <a:extLst xmlns:a="http://schemas.openxmlformats.org/drawingml/2006/main">
              <a:ext uri="{FF2B5EF4-FFF2-40B4-BE49-F238E27FC236}">
                <a16:creationId xmlns:a16="http://schemas.microsoft.com/office/drawing/2014/main" id="{D3F8BE4A-172D-4C10-AF0F-B3564A44D5B1}"/>
              </a:ext>
            </a:extLst>
          </p:cNvPr>
          <p:cNvSpPr>
            <a:spLocks xmlns:a="http://schemas.openxmlformats.org/drawingml/2006/main" noGrp="1"/>
          </p:cNvSpPr>
          <p:nvPr/>
        </p:nvSpPr>
        <p:spPr>
          <a:xfrm xmlns:a="http://schemas.openxmlformats.org/drawingml/2006/main">
            <a:off x="868680" y="4544568"/>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160CFC84-A53B-4728-89CD-A8850A2C59F8}"/>
              </a:ext>
            </a:extLst>
          </p:cNvPr>
          <p:cNvSpPr>
            <a:spLocks xmlns:a="http://schemas.openxmlformats.org/drawingml/2006/main" noGrp="1"/>
          </p:cNvSpPr>
          <p:nvPr/>
        </p:nvSpPr>
        <p:spPr>
          <a:xfrm xmlns:a="http://schemas.openxmlformats.org/drawingml/2006/main">
            <a:off x="1069848" y="4389120"/>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다음 확인</a:t>
            </a:r>
            <a:r>
              <a:rPr sz="1500" b="0">
                <a:solidFill>
                  <a:srgbClr val="5A5A5A"/>
                </a:solidFill>
                <a:latin typeface="Noto Sans KR"/>
                <a:ea typeface="Noto Sans KR"/>
                <a:cs typeface="Noto Sans KR"/>
              </a:rPr>
              <a:t>  실제 마이크·웹캠에서 녹음과 영상의 시각이 맞는지, 오래 켜도 동작하는지 시험</a:t>
            </a:r>
            <a:endParaRPr sz="1500"/>
          </a:p>
        </p:txBody>
      </p:sp>
      <p:sp>
        <p:nvSpPr>
          <p:cNvPr id="18" name="Shape 16">
            <a:extLst xmlns:a="http://schemas.openxmlformats.org/drawingml/2006/main">
              <a:ext uri="{FF2B5EF4-FFF2-40B4-BE49-F238E27FC236}">
                <a16:creationId xmlns:a16="http://schemas.microsoft.com/office/drawing/2014/main" id="{B4751DC4-6F2F-431E-9BA3-DF7533A4FFD1}"/>
              </a:ext>
            </a:extLst>
          </p:cNvPr>
          <p:cNvSpPr>
            <a:spLocks xmlns:a="http://schemas.openxmlformats.org/drawingml/2006/main" noGrp="1"/>
          </p:cNvSpPr>
          <p:nvPr/>
        </p:nvSpPr>
        <p:spPr>
          <a:xfrm xmlns:a="http://schemas.openxmlformats.org/drawingml/2006/main">
            <a:off x="502920"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73F2EE7A-5DCB-4D3F-B3FF-68C9177E762F}"/>
              </a:ext>
            </a:extLst>
          </p:cNvPr>
          <p:cNvSpPr>
            <a:spLocks xmlns:a="http://schemas.openxmlformats.org/drawingml/2006/main" noGrp="1"/>
          </p:cNvSpPr>
          <p:nvPr/>
        </p:nvSpPr>
        <p:spPr>
          <a:xfrm xmlns:a="http://schemas.openxmlformats.org/drawingml/2006/main">
            <a:off x="502920"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9B3E7F16-545D-408E-AF5E-94084A2DABB4}"/>
              </a:ext>
            </a:extLst>
          </p:cNvPr>
          <p:cNvSpPr>
            <a:spLocks xmlns:a="http://schemas.openxmlformats.org/drawingml/2006/main" noGrp="1"/>
          </p:cNvSpPr>
          <p:nvPr/>
        </p:nvSpPr>
        <p:spPr>
          <a:xfrm xmlns:a="http://schemas.openxmlformats.org/drawingml/2006/main">
            <a:off x="594360" y="5440680"/>
            <a:ext cx="32705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소리가 난 구간 찾기</a:t>
            </a:r>
            <a:endParaRPr sz="1150"/>
          </a:p>
        </p:txBody>
      </p:sp>
      <p:sp>
        <p:nvSpPr>
          <p:cNvPr id="21" name="Text 19">
            <a:extLst xmlns:a="http://schemas.openxmlformats.org/drawingml/2006/main">
              <a:ext uri="{FF2B5EF4-FFF2-40B4-BE49-F238E27FC236}">
                <a16:creationId xmlns:a16="http://schemas.microsoft.com/office/drawing/2014/main" id="{B1B00509-9487-442C-B26D-7EBCB7A46E0D}"/>
              </a:ext>
            </a:extLst>
          </p:cNvPr>
          <p:cNvSpPr>
            <a:spLocks xmlns:a="http://schemas.openxmlformats.org/drawingml/2006/main" noGrp="1"/>
          </p:cNvSpPr>
          <p:nvPr/>
        </p:nvSpPr>
        <p:spPr>
          <a:xfrm xmlns:a="http://schemas.openxmlformats.org/drawingml/2006/main">
            <a:off x="3956304" y="5440680"/>
            <a:ext cx="4114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8A8A8A"/>
                </a:solidFill>
                <a:latin typeface="Noto Sans KR"/>
                <a:ea typeface="Noto Sans KR"/>
                <a:cs typeface="Noto Sans KR"/>
              </a:rPr>
              <a:t>→</a:t>
            </a:r>
            <a:endParaRPr sz="1400"/>
          </a:p>
        </p:txBody>
      </p:sp>
      <p:sp>
        <p:nvSpPr>
          <p:cNvPr id="22" name="Shape 20">
            <a:extLst xmlns:a="http://schemas.openxmlformats.org/drawingml/2006/main">
              <a:ext uri="{FF2B5EF4-FFF2-40B4-BE49-F238E27FC236}">
                <a16:creationId xmlns:a16="http://schemas.microsoft.com/office/drawing/2014/main" id="{5B9FA292-ED1E-41B5-B92A-D0EAEF588558}"/>
              </a:ext>
            </a:extLst>
          </p:cNvPr>
          <p:cNvSpPr>
            <a:spLocks xmlns:a="http://schemas.openxmlformats.org/drawingml/2006/main" noGrp="1"/>
          </p:cNvSpPr>
          <p:nvPr/>
        </p:nvSpPr>
        <p:spPr>
          <a:xfrm xmlns:a="http://schemas.openxmlformats.org/drawingml/2006/main">
            <a:off x="4367784"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23" name="Shape 21">
            <a:extLst xmlns:a="http://schemas.openxmlformats.org/drawingml/2006/main">
              <a:ext uri="{FF2B5EF4-FFF2-40B4-BE49-F238E27FC236}">
                <a16:creationId xmlns:a16="http://schemas.microsoft.com/office/drawing/2014/main" id="{1593232C-42C4-4BBC-BE57-089FA877E59C}"/>
              </a:ext>
            </a:extLst>
          </p:cNvPr>
          <p:cNvSpPr>
            <a:spLocks xmlns:a="http://schemas.openxmlformats.org/drawingml/2006/main" noGrp="1"/>
          </p:cNvSpPr>
          <p:nvPr/>
        </p:nvSpPr>
        <p:spPr>
          <a:xfrm xmlns:a="http://schemas.openxmlformats.org/drawingml/2006/main">
            <a:off x="4367784"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CD3B551C-446E-4FDC-8736-BF04764BDE07}"/>
              </a:ext>
            </a:extLst>
          </p:cNvPr>
          <p:cNvSpPr>
            <a:spLocks xmlns:a="http://schemas.openxmlformats.org/drawingml/2006/main" noGrp="1"/>
          </p:cNvSpPr>
          <p:nvPr/>
        </p:nvSpPr>
        <p:spPr>
          <a:xfrm xmlns:a="http://schemas.openxmlformats.org/drawingml/2006/main">
            <a:off x="4459224" y="5440680"/>
            <a:ext cx="32705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앞뒤 장면을 영상으로 저장</a:t>
            </a:r>
            <a:endParaRPr sz="1150"/>
          </a:p>
        </p:txBody>
      </p:sp>
      <p:sp>
        <p:nvSpPr>
          <p:cNvPr id="25" name="Text 23">
            <a:extLst xmlns:a="http://schemas.openxmlformats.org/drawingml/2006/main">
              <a:ext uri="{FF2B5EF4-FFF2-40B4-BE49-F238E27FC236}">
                <a16:creationId xmlns:a16="http://schemas.microsoft.com/office/drawing/2014/main" id="{ACA61065-9FCA-40A9-8AB3-28AB798886F8}"/>
              </a:ext>
            </a:extLst>
          </p:cNvPr>
          <p:cNvSpPr>
            <a:spLocks xmlns:a="http://schemas.openxmlformats.org/drawingml/2006/main" noGrp="1"/>
          </p:cNvSpPr>
          <p:nvPr/>
        </p:nvSpPr>
        <p:spPr>
          <a:xfrm xmlns:a="http://schemas.openxmlformats.org/drawingml/2006/main">
            <a:off x="7821168" y="5440680"/>
            <a:ext cx="4114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8A8A8A"/>
                </a:solidFill>
                <a:latin typeface="Noto Sans KR"/>
                <a:ea typeface="Noto Sans KR"/>
                <a:cs typeface="Noto Sans KR"/>
              </a:rPr>
              <a:t>→</a:t>
            </a:r>
            <a:endParaRPr sz="1400"/>
          </a:p>
        </p:txBody>
      </p:sp>
      <p:sp>
        <p:nvSpPr>
          <p:cNvPr id="26" name="Shape 24">
            <a:extLst xmlns:a="http://schemas.openxmlformats.org/drawingml/2006/main">
              <a:ext uri="{FF2B5EF4-FFF2-40B4-BE49-F238E27FC236}">
                <a16:creationId xmlns:a16="http://schemas.microsoft.com/office/drawing/2014/main" id="{D785ED50-2527-4C66-BBB6-0D282FAA67A1}"/>
              </a:ext>
            </a:extLst>
          </p:cNvPr>
          <p:cNvSpPr>
            <a:spLocks xmlns:a="http://schemas.openxmlformats.org/drawingml/2006/main" noGrp="1"/>
          </p:cNvSpPr>
          <p:nvPr/>
        </p:nvSpPr>
        <p:spPr>
          <a:xfrm xmlns:a="http://schemas.openxmlformats.org/drawingml/2006/main">
            <a:off x="8232648"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27" name="Shape 25">
            <a:extLst xmlns:a="http://schemas.openxmlformats.org/drawingml/2006/main">
              <a:ext uri="{FF2B5EF4-FFF2-40B4-BE49-F238E27FC236}">
                <a16:creationId xmlns:a16="http://schemas.microsoft.com/office/drawing/2014/main" id="{02601A4F-936A-4A01-A361-E945718557E8}"/>
              </a:ext>
            </a:extLst>
          </p:cNvPr>
          <p:cNvSpPr>
            <a:spLocks xmlns:a="http://schemas.openxmlformats.org/drawingml/2006/main" noGrp="1"/>
          </p:cNvSpPr>
          <p:nvPr/>
        </p:nvSpPr>
        <p:spPr>
          <a:xfrm xmlns:a="http://schemas.openxmlformats.org/drawingml/2006/main">
            <a:off x="8232648"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2B9D98AE-0045-4F77-AAFA-20D65C8C1AD6}"/>
              </a:ext>
            </a:extLst>
          </p:cNvPr>
          <p:cNvSpPr>
            <a:spLocks xmlns:a="http://schemas.openxmlformats.org/drawingml/2006/main" noGrp="1"/>
          </p:cNvSpPr>
          <p:nvPr/>
        </p:nvSpPr>
        <p:spPr>
          <a:xfrm xmlns:a="http://schemas.openxmlformats.org/drawingml/2006/main">
            <a:off x="8324088" y="5440680"/>
            <a:ext cx="32705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보호자가 원본 확인</a:t>
            </a:r>
            <a:endParaRPr sz="1150"/>
          </a:p>
        </p:txBody>
      </p:sp>
      <p:sp>
        <p:nvSpPr>
          <p:cNvPr id="29" name="Text 27">
            <a:extLst xmlns:a="http://schemas.openxmlformats.org/drawingml/2006/main">
              <a:ext uri="{FF2B5EF4-FFF2-40B4-BE49-F238E27FC236}">
                <a16:creationId xmlns:a16="http://schemas.microsoft.com/office/drawing/2014/main" id="{58847F7F-B04F-4B18-B1C6-77EEDCE6DA07}"/>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16 / 23</a:t>
            </a:r>
            <a:endParaRPr sz="900"/>
          </a:p>
        </p:txBody>
      </p:sp>
    </p:spTree>
    <p:extLst>
      <p:ext uri="{BB962C8B-B14F-4D97-AF65-F5344CB8AC3E}">
        <p14:creationId xmlns:p14="http://schemas.microsoft.com/office/powerpoint/2010/main" val="1204184942"/>
      </p:ext>
    </p:extLst>
  </p:cSld>
</p:sld>
</file>

<file path=ppt/slides/slide17.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C09B78D-926D-4021-9067-D1B34CAF3CC0}"/>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55388B42-8067-4BE3-9760-DAB6B87AEA78}"/>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5BA56E57-6F73-41A6-9883-0EA1DED0F8C4}"/>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핵심 기능과 검증</a:t>
            </a:r>
            <a:endParaRPr sz="1100"/>
          </a:p>
        </p:txBody>
      </p:sp>
      <p:sp>
        <p:nvSpPr>
          <p:cNvPr id="5" name="Text 3">
            <a:extLst xmlns:a="http://schemas.openxmlformats.org/drawingml/2006/main">
              <a:ext uri="{FF2B5EF4-FFF2-40B4-BE49-F238E27FC236}">
                <a16:creationId xmlns:a16="http://schemas.microsoft.com/office/drawing/2014/main" id="{338E3673-06CE-4D79-93FB-993B987045AB}"/>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과거 기록을 찾아 설명하는 RAG</a:t>
            </a:r>
            <a:endParaRPr sz="2600"/>
          </a:p>
        </p:txBody>
      </p:sp>
      <p:sp>
        <p:nvSpPr>
          <p:cNvPr id="6" name="Shape 4">
            <a:extLst xmlns:a="http://schemas.openxmlformats.org/drawingml/2006/main">
              <a:ext uri="{FF2B5EF4-FFF2-40B4-BE49-F238E27FC236}">
                <a16:creationId xmlns:a16="http://schemas.microsoft.com/office/drawing/2014/main" id="{9F438CD9-614C-469B-854C-1FCF33FC639A}"/>
              </a:ext>
            </a:extLst>
          </p:cNvPr>
          <p:cNvSpPr>
            <a:spLocks xmlns:a="http://schemas.openxmlformats.org/drawingml/2006/main" noGrp="1"/>
          </p:cNvSpPr>
          <p:nvPr/>
        </p:nvSpPr>
        <p:spPr>
          <a:xfrm xmlns:a="http://schemas.openxmlformats.org/drawingml/2006/main">
            <a:off x="502920" y="1444752"/>
            <a:ext cx="285750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79B9321F-1EA7-4F8B-AFEF-F68D5FC94308}"/>
              </a:ext>
            </a:extLst>
          </p:cNvPr>
          <p:cNvSpPr>
            <a:spLocks xmlns:a="http://schemas.openxmlformats.org/drawingml/2006/main" noGrp="1"/>
          </p:cNvSpPr>
          <p:nvPr/>
        </p:nvSpPr>
        <p:spPr>
          <a:xfrm xmlns:a="http://schemas.openxmlformats.org/drawingml/2006/main">
            <a:off x="502920" y="1444752"/>
            <a:ext cx="28575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950" b="1">
                <a:solidFill>
                  <a:srgbClr val="FFFFFF"/>
                </a:solidFill>
                <a:latin typeface="Noto Sans KR"/>
                <a:ea typeface="Noto Sans KR"/>
                <a:cs typeface="Noto Sans KR"/>
              </a:defRPr>
            </a:defPPr>
          </a:lstStyle>
          <a:p xmlns:a="http://schemas.openxmlformats.org/drawingml/2006/main">
            <a:pPr marL="0" indent="0" algn="ctr">
              <a:buNone/>
              <a:defRPr sz="950" b="1">
                <a:solidFill>
                  <a:srgbClr val="FFFFFF"/>
                </a:solidFill>
                <a:latin typeface="Noto Sans KR"/>
                <a:ea typeface="Noto Sans KR"/>
                <a:cs typeface="Noto Sans KR"/>
              </a:defRPr>
            </a:pPr>
            <a:r>
              <a:rPr sz="950" b="1">
                <a:solidFill>
                  <a:srgbClr val="FFFFFF"/>
                </a:solidFill>
                <a:latin typeface="Noto Sans KR"/>
                <a:ea typeface="Noto Sans KR"/>
                <a:cs typeface="Noto Sans KR"/>
              </a:rPr>
              <a:t>저장 기록과 Gemini 연결 확인</a:t>
            </a:r>
            <a:endParaRPr sz="950"/>
          </a:p>
        </p:txBody>
      </p:sp>
      <p:sp>
        <p:nvSpPr>
          <p:cNvPr id="8" name="Shape 6">
            <a:extLst xmlns:a="http://schemas.openxmlformats.org/drawingml/2006/main">
              <a:ext uri="{FF2B5EF4-FFF2-40B4-BE49-F238E27FC236}">
                <a16:creationId xmlns:a16="http://schemas.microsoft.com/office/drawing/2014/main" id="{096F2EA4-7D5C-4E0D-8CBC-860B5CCFBCE2}"/>
              </a:ext>
            </a:extLst>
          </p:cNvPr>
          <p:cNvSpPr>
            <a:spLocks xmlns:a="http://schemas.openxmlformats.org/drawingml/2006/main" noGrp="1"/>
          </p:cNvSpPr>
          <p:nvPr/>
        </p:nvSpPr>
        <p:spPr>
          <a:xfrm xmlns:a="http://schemas.openxmlformats.org/drawingml/2006/main">
            <a:off x="502920" y="1965960"/>
            <a:ext cx="11183112" cy="3246120"/>
          </a:xfrm>
          <a:prstGeom xmlns:a="http://schemas.openxmlformats.org/drawingml/2006/main" prst="roundRect">
            <a:avLst>
              <a:gd name="adj" fmla="val 2254"/>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964DE513-406C-446E-8B9E-161A89B0574E}"/>
              </a:ext>
            </a:extLst>
          </p:cNvPr>
          <p:cNvSpPr>
            <a:spLocks xmlns:a="http://schemas.openxmlformats.org/drawingml/2006/main" noGrp="1"/>
          </p:cNvSpPr>
          <p:nvPr/>
        </p:nvSpPr>
        <p:spPr>
          <a:xfrm xmlns:a="http://schemas.openxmlformats.org/drawingml/2006/main">
            <a:off x="822960" y="217627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0">
                <a:solidFill>
                  <a:srgbClr val="8A8A8A"/>
                </a:solidFill>
                <a:latin typeface="Noto Sans KR"/>
                <a:ea typeface="Noto Sans KR"/>
                <a:cs typeface="Noto Sans KR"/>
              </a:defRPr>
            </a:defPPr>
          </a:lstStyle>
          <a:p xmlns:a="http://schemas.openxmlformats.org/drawingml/2006/main">
            <a:pPr marL="0" indent="0" algn="l">
              <a:buNone/>
              <a:defRPr sz="1200" b="0">
                <a:solidFill>
                  <a:srgbClr val="8A8A8A"/>
                </a:solidFill>
                <a:latin typeface="Noto Sans KR"/>
                <a:ea typeface="Noto Sans KR"/>
                <a:cs typeface="Noto Sans KR"/>
              </a:defRPr>
            </a:pPr>
            <a:r>
              <a:rPr sz="1200" b="0">
                <a:solidFill>
                  <a:srgbClr val="8A8A8A"/>
                </a:solidFill>
                <a:latin typeface="Noto Sans KR"/>
                <a:ea typeface="Noto Sans KR"/>
                <a:cs typeface="Noto Sans KR"/>
              </a:rPr>
              <a:t>RAG는 질문에 필요한 기록을 찾아 AI 설명에 활용하는 방식</a:t>
            </a:r>
            <a:endParaRPr sz="1200"/>
          </a:p>
        </p:txBody>
      </p:sp>
      <p:sp>
        <p:nvSpPr>
          <p:cNvPr id="10" name="Shape 8">
            <a:extLst xmlns:a="http://schemas.openxmlformats.org/drawingml/2006/main">
              <a:ext uri="{FF2B5EF4-FFF2-40B4-BE49-F238E27FC236}">
                <a16:creationId xmlns:a16="http://schemas.microsoft.com/office/drawing/2014/main" id="{1F91FAC3-1C36-4772-8836-C1ED78F41B06}"/>
              </a:ext>
            </a:extLst>
          </p:cNvPr>
          <p:cNvSpPr>
            <a:spLocks xmlns:a="http://schemas.openxmlformats.org/drawingml/2006/main" noGrp="1"/>
          </p:cNvSpPr>
          <p:nvPr/>
        </p:nvSpPr>
        <p:spPr>
          <a:xfrm xmlns:a="http://schemas.openxmlformats.org/drawingml/2006/main">
            <a:off x="868680" y="2788920"/>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59B5FD58-A93B-42DA-B3E4-A9F4E1E92F9F}"/>
              </a:ext>
            </a:extLst>
          </p:cNvPr>
          <p:cNvSpPr>
            <a:spLocks xmlns:a="http://schemas.openxmlformats.org/drawingml/2006/main" noGrp="1"/>
          </p:cNvSpPr>
          <p:nvPr/>
        </p:nvSpPr>
        <p:spPr>
          <a:xfrm xmlns:a="http://schemas.openxmlformats.org/drawingml/2006/main">
            <a:off x="1069848" y="2633472"/>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검색</a:t>
            </a:r>
            <a:r>
              <a:rPr sz="1500" b="0">
                <a:solidFill>
                  <a:srgbClr val="5A5A5A"/>
                </a:solidFill>
                <a:latin typeface="Noto Sans KR"/>
                <a:ea typeface="Noto Sans KR"/>
                <a:cs typeface="Noto Sans KR"/>
              </a:rPr>
              <a:t>  같은 반려견의 해당 기간 기록과 보호자 의견을 찾아 전달</a:t>
            </a:r>
            <a:endParaRPr sz="1500"/>
          </a:p>
        </p:txBody>
      </p:sp>
      <p:sp>
        <p:nvSpPr>
          <p:cNvPr id="12" name="Shape 10">
            <a:extLst xmlns:a="http://schemas.openxmlformats.org/drawingml/2006/main">
              <a:ext uri="{FF2B5EF4-FFF2-40B4-BE49-F238E27FC236}">
                <a16:creationId xmlns:a16="http://schemas.microsoft.com/office/drawing/2014/main" id="{8A4F9927-0DEB-4A5A-A8E7-0E4B9A212F6C}"/>
              </a:ext>
            </a:extLst>
          </p:cNvPr>
          <p:cNvSpPr>
            <a:spLocks xmlns:a="http://schemas.openxmlformats.org/drawingml/2006/main" noGrp="1"/>
          </p:cNvSpPr>
          <p:nvPr/>
        </p:nvSpPr>
        <p:spPr>
          <a:xfrm xmlns:a="http://schemas.openxmlformats.org/drawingml/2006/main">
            <a:off x="868680" y="3374136"/>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1FEBDF8F-F91E-4060-BA10-783DB23CD53A}"/>
              </a:ext>
            </a:extLst>
          </p:cNvPr>
          <p:cNvSpPr>
            <a:spLocks xmlns:a="http://schemas.openxmlformats.org/drawingml/2006/main" noGrp="1"/>
          </p:cNvSpPr>
          <p:nvPr/>
        </p:nvSpPr>
        <p:spPr>
          <a:xfrm xmlns:a="http://schemas.openxmlformats.org/drawingml/2006/main">
            <a:off x="1069848" y="3218688"/>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검증  분석 창 수와 보호자 의견을 바꿔 쓰는 케어 설명을 차단</a:t>
            </a:r>
            <a:endParaRPr sz="1500"/>
          </a:p>
        </p:txBody>
      </p:sp>
      <p:sp>
        <p:nvSpPr>
          <p:cNvPr id="14" name="Shape 12">
            <a:extLst xmlns:a="http://schemas.openxmlformats.org/drawingml/2006/main">
              <a:ext uri="{FF2B5EF4-FFF2-40B4-BE49-F238E27FC236}">
                <a16:creationId xmlns:a16="http://schemas.microsoft.com/office/drawing/2014/main" id="{8BCB7F02-5B84-4630-9249-FEDCC37232D2}"/>
              </a:ext>
            </a:extLst>
          </p:cNvPr>
          <p:cNvSpPr>
            <a:spLocks xmlns:a="http://schemas.openxmlformats.org/drawingml/2006/main" noGrp="1"/>
          </p:cNvSpPr>
          <p:nvPr/>
        </p:nvSpPr>
        <p:spPr>
          <a:xfrm xmlns:a="http://schemas.openxmlformats.org/drawingml/2006/main">
            <a:off x="868680" y="3959352"/>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6CC96D2D-C229-42C9-8A87-87CF96C66186}"/>
              </a:ext>
            </a:extLst>
          </p:cNvPr>
          <p:cNvSpPr>
            <a:spLocks xmlns:a="http://schemas.openxmlformats.org/drawingml/2006/main" noGrp="1"/>
          </p:cNvSpPr>
          <p:nvPr/>
        </p:nvSpPr>
        <p:spPr>
          <a:xfrm xmlns:a="http://schemas.openxmlformats.org/drawingml/2006/main">
            <a:off x="1069848" y="3803904"/>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설명  서버가 수치를 계산하고 Gemini가 근거 선택, 다음 확인 행동은 규칙으로 안내</a:t>
            </a:r>
            <a:endParaRPr sz="1500"/>
          </a:p>
        </p:txBody>
      </p:sp>
      <p:sp>
        <p:nvSpPr>
          <p:cNvPr id="16" name="Shape 14">
            <a:extLst xmlns:a="http://schemas.openxmlformats.org/drawingml/2006/main">
              <a:ext uri="{FF2B5EF4-FFF2-40B4-BE49-F238E27FC236}">
                <a16:creationId xmlns:a16="http://schemas.microsoft.com/office/drawing/2014/main" id="{E7925914-6E4A-4C35-AA41-012B213CF1D2}"/>
              </a:ext>
            </a:extLst>
          </p:cNvPr>
          <p:cNvSpPr>
            <a:spLocks xmlns:a="http://schemas.openxmlformats.org/drawingml/2006/main" noGrp="1"/>
          </p:cNvSpPr>
          <p:nvPr/>
        </p:nvSpPr>
        <p:spPr>
          <a:xfrm xmlns:a="http://schemas.openxmlformats.org/drawingml/2006/main">
            <a:off x="868680" y="4544568"/>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49EDA740-80C9-4559-AD8F-9D70B606BF48}"/>
              </a:ext>
            </a:extLst>
          </p:cNvPr>
          <p:cNvSpPr>
            <a:spLocks xmlns:a="http://schemas.openxmlformats.org/drawingml/2006/main" noGrp="1"/>
          </p:cNvSpPr>
          <p:nvPr/>
        </p:nvSpPr>
        <p:spPr>
          <a:xfrm xmlns:a="http://schemas.openxmlformats.org/drawingml/2006/main">
            <a:off x="1069848" y="4389120"/>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확인</a:t>
            </a:r>
            <a:r>
              <a:rPr sz="1500" b="0">
                <a:solidFill>
                  <a:srgbClr val="5A5A5A"/>
                </a:solidFill>
                <a:latin typeface="Noto Sans KR"/>
                <a:ea typeface="Noto Sans KR"/>
                <a:cs typeface="Noto Sans KR"/>
              </a:rPr>
              <a:t>  자체 질문 20개에서 필요한 기록이 상위 5개에 포함된 비율은 35%에서 100%</a:t>
            </a:r>
            <a:endParaRPr sz="1500"/>
          </a:p>
        </p:txBody>
      </p:sp>
      <p:sp>
        <p:nvSpPr>
          <p:cNvPr id="18" name="Shape 16">
            <a:extLst xmlns:a="http://schemas.openxmlformats.org/drawingml/2006/main">
              <a:ext uri="{FF2B5EF4-FFF2-40B4-BE49-F238E27FC236}">
                <a16:creationId xmlns:a16="http://schemas.microsoft.com/office/drawing/2014/main" id="{956DD728-582B-4EB8-9B9F-533FB2049208}"/>
              </a:ext>
            </a:extLst>
          </p:cNvPr>
          <p:cNvSpPr>
            <a:spLocks xmlns:a="http://schemas.openxmlformats.org/drawingml/2006/main" noGrp="1"/>
          </p:cNvSpPr>
          <p:nvPr/>
        </p:nvSpPr>
        <p:spPr>
          <a:xfrm xmlns:a="http://schemas.openxmlformats.org/drawingml/2006/main">
            <a:off x="502920" y="5440680"/>
            <a:ext cx="2487168"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E8774710-140A-445A-9D1B-A61E5BDABE02}"/>
              </a:ext>
            </a:extLst>
          </p:cNvPr>
          <p:cNvSpPr>
            <a:spLocks xmlns:a="http://schemas.openxmlformats.org/drawingml/2006/main" noGrp="1"/>
          </p:cNvSpPr>
          <p:nvPr/>
        </p:nvSpPr>
        <p:spPr>
          <a:xfrm xmlns:a="http://schemas.openxmlformats.org/drawingml/2006/main">
            <a:off x="502920" y="5440680"/>
            <a:ext cx="2487168"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2C439500-300D-46A9-B0D7-69A43063D195}"/>
              </a:ext>
            </a:extLst>
          </p:cNvPr>
          <p:cNvSpPr>
            <a:spLocks xmlns:a="http://schemas.openxmlformats.org/drawingml/2006/main" noGrp="1"/>
          </p:cNvSpPr>
          <p:nvPr/>
        </p:nvSpPr>
        <p:spPr>
          <a:xfrm xmlns:a="http://schemas.openxmlformats.org/drawingml/2006/main">
            <a:off x="594360" y="5440680"/>
            <a:ext cx="2304288"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반려견별 기록 보관</a:t>
            </a:r>
            <a:endParaRPr sz="1150"/>
          </a:p>
        </p:txBody>
      </p:sp>
      <p:sp>
        <p:nvSpPr>
          <p:cNvPr id="21" name="Text 19">
            <a:extLst xmlns:a="http://schemas.openxmlformats.org/drawingml/2006/main">
              <a:ext uri="{FF2B5EF4-FFF2-40B4-BE49-F238E27FC236}">
                <a16:creationId xmlns:a16="http://schemas.microsoft.com/office/drawing/2014/main" id="{2116B263-D60A-41C1-B2B6-600A5C4969CB}"/>
              </a:ext>
            </a:extLst>
          </p:cNvPr>
          <p:cNvSpPr>
            <a:spLocks xmlns:a="http://schemas.openxmlformats.org/drawingml/2006/main" noGrp="1"/>
          </p:cNvSpPr>
          <p:nvPr/>
        </p:nvSpPr>
        <p:spPr>
          <a:xfrm xmlns:a="http://schemas.openxmlformats.org/drawingml/2006/main">
            <a:off x="2990088" y="5440680"/>
            <a:ext cx="4114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8A8A8A"/>
                </a:solidFill>
                <a:latin typeface="Noto Sans KR"/>
                <a:ea typeface="Noto Sans KR"/>
                <a:cs typeface="Noto Sans KR"/>
              </a:rPr>
              <a:t>→</a:t>
            </a:r>
            <a:endParaRPr sz="1400"/>
          </a:p>
        </p:txBody>
      </p:sp>
      <p:sp>
        <p:nvSpPr>
          <p:cNvPr id="22" name="Shape 20">
            <a:extLst xmlns:a="http://schemas.openxmlformats.org/drawingml/2006/main">
              <a:ext uri="{FF2B5EF4-FFF2-40B4-BE49-F238E27FC236}">
                <a16:creationId xmlns:a16="http://schemas.microsoft.com/office/drawing/2014/main" id="{3DBE4AB8-19C7-40C5-A2A8-B41688145F12}"/>
              </a:ext>
            </a:extLst>
          </p:cNvPr>
          <p:cNvSpPr>
            <a:spLocks xmlns:a="http://schemas.openxmlformats.org/drawingml/2006/main" noGrp="1"/>
          </p:cNvSpPr>
          <p:nvPr/>
        </p:nvSpPr>
        <p:spPr>
          <a:xfrm xmlns:a="http://schemas.openxmlformats.org/drawingml/2006/main">
            <a:off x="3401568" y="5440680"/>
            <a:ext cx="2487168"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23" name="Shape 21">
            <a:extLst xmlns:a="http://schemas.openxmlformats.org/drawingml/2006/main">
              <a:ext uri="{FF2B5EF4-FFF2-40B4-BE49-F238E27FC236}">
                <a16:creationId xmlns:a16="http://schemas.microsoft.com/office/drawing/2014/main" id="{EF3C9BBA-6A85-47A5-9969-618C5E85370D}"/>
              </a:ext>
            </a:extLst>
          </p:cNvPr>
          <p:cNvSpPr>
            <a:spLocks xmlns:a="http://schemas.openxmlformats.org/drawingml/2006/main" noGrp="1"/>
          </p:cNvSpPr>
          <p:nvPr/>
        </p:nvSpPr>
        <p:spPr>
          <a:xfrm xmlns:a="http://schemas.openxmlformats.org/drawingml/2006/main">
            <a:off x="3401568" y="5440680"/>
            <a:ext cx="2487168"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BCCE2B6C-71CA-43DD-A785-A6C5505C24EF}"/>
              </a:ext>
            </a:extLst>
          </p:cNvPr>
          <p:cNvSpPr>
            <a:spLocks xmlns:a="http://schemas.openxmlformats.org/drawingml/2006/main" noGrp="1"/>
          </p:cNvSpPr>
          <p:nvPr/>
        </p:nvSpPr>
        <p:spPr>
          <a:xfrm xmlns:a="http://schemas.openxmlformats.org/drawingml/2006/main">
            <a:off x="3493008" y="5440680"/>
            <a:ext cx="2304288"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관련 기록을 조회하는 MCP</a:t>
            </a:r>
            <a:endParaRPr sz="1150"/>
          </a:p>
        </p:txBody>
      </p:sp>
      <p:sp>
        <p:nvSpPr>
          <p:cNvPr id="25" name="Text 23">
            <a:extLst xmlns:a="http://schemas.openxmlformats.org/drawingml/2006/main">
              <a:ext uri="{FF2B5EF4-FFF2-40B4-BE49-F238E27FC236}">
                <a16:creationId xmlns:a16="http://schemas.microsoft.com/office/drawing/2014/main" id="{A0E4C79C-6C42-4C9D-A0E4-678A0FFB4346}"/>
              </a:ext>
            </a:extLst>
          </p:cNvPr>
          <p:cNvSpPr>
            <a:spLocks xmlns:a="http://schemas.openxmlformats.org/drawingml/2006/main" noGrp="1"/>
          </p:cNvSpPr>
          <p:nvPr/>
        </p:nvSpPr>
        <p:spPr>
          <a:xfrm xmlns:a="http://schemas.openxmlformats.org/drawingml/2006/main">
            <a:off x="5888736" y="5440680"/>
            <a:ext cx="4114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8A8A8A"/>
                </a:solidFill>
                <a:latin typeface="Noto Sans KR"/>
                <a:ea typeface="Noto Sans KR"/>
                <a:cs typeface="Noto Sans KR"/>
              </a:rPr>
              <a:t>→</a:t>
            </a:r>
            <a:endParaRPr sz="1400"/>
          </a:p>
        </p:txBody>
      </p:sp>
      <p:sp>
        <p:nvSpPr>
          <p:cNvPr id="26" name="Shape 24">
            <a:extLst xmlns:a="http://schemas.openxmlformats.org/drawingml/2006/main">
              <a:ext uri="{FF2B5EF4-FFF2-40B4-BE49-F238E27FC236}">
                <a16:creationId xmlns:a16="http://schemas.microsoft.com/office/drawing/2014/main" id="{E3EB9431-5340-4135-960B-D52BD99554A4}"/>
              </a:ext>
            </a:extLst>
          </p:cNvPr>
          <p:cNvSpPr>
            <a:spLocks xmlns:a="http://schemas.openxmlformats.org/drawingml/2006/main" noGrp="1"/>
          </p:cNvSpPr>
          <p:nvPr/>
        </p:nvSpPr>
        <p:spPr>
          <a:xfrm xmlns:a="http://schemas.openxmlformats.org/drawingml/2006/main">
            <a:off x="6300216" y="5440680"/>
            <a:ext cx="2487168"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27" name="Shape 25">
            <a:extLst xmlns:a="http://schemas.openxmlformats.org/drawingml/2006/main">
              <a:ext uri="{FF2B5EF4-FFF2-40B4-BE49-F238E27FC236}">
                <a16:creationId xmlns:a16="http://schemas.microsoft.com/office/drawing/2014/main" id="{CBE74268-DDEE-41C5-A207-083E10157AFC}"/>
              </a:ext>
            </a:extLst>
          </p:cNvPr>
          <p:cNvSpPr>
            <a:spLocks xmlns:a="http://schemas.openxmlformats.org/drawingml/2006/main" noGrp="1"/>
          </p:cNvSpPr>
          <p:nvPr/>
        </p:nvSpPr>
        <p:spPr>
          <a:xfrm xmlns:a="http://schemas.openxmlformats.org/drawingml/2006/main">
            <a:off x="6300216" y="5440680"/>
            <a:ext cx="2487168"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DBE292F1-DDEC-4BC4-9AA4-7CA726B71D6F}"/>
              </a:ext>
            </a:extLst>
          </p:cNvPr>
          <p:cNvSpPr>
            <a:spLocks xmlns:a="http://schemas.openxmlformats.org/drawingml/2006/main" noGrp="1"/>
          </p:cNvSpPr>
          <p:nvPr/>
        </p:nvSpPr>
        <p:spPr>
          <a:xfrm xmlns:a="http://schemas.openxmlformats.org/drawingml/2006/main">
            <a:off x="6391656" y="5440680"/>
            <a:ext cx="2304288"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기록을 활용하는 AI 설명</a:t>
            </a:r>
            <a:endParaRPr sz="1150"/>
          </a:p>
        </p:txBody>
      </p:sp>
      <p:sp>
        <p:nvSpPr>
          <p:cNvPr id="29" name="Text 27">
            <a:extLst xmlns:a="http://schemas.openxmlformats.org/drawingml/2006/main">
              <a:ext uri="{FF2B5EF4-FFF2-40B4-BE49-F238E27FC236}">
                <a16:creationId xmlns:a16="http://schemas.microsoft.com/office/drawing/2014/main" id="{F9E20F15-8A67-4834-BCA7-59AC873F6E3A}"/>
              </a:ext>
            </a:extLst>
          </p:cNvPr>
          <p:cNvSpPr>
            <a:spLocks xmlns:a="http://schemas.openxmlformats.org/drawingml/2006/main" noGrp="1"/>
          </p:cNvSpPr>
          <p:nvPr/>
        </p:nvSpPr>
        <p:spPr>
          <a:xfrm xmlns:a="http://schemas.openxmlformats.org/drawingml/2006/main">
            <a:off x="8787384" y="5440680"/>
            <a:ext cx="4114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8A8A8A"/>
                </a:solidFill>
                <a:latin typeface="Noto Sans KR"/>
                <a:ea typeface="Noto Sans KR"/>
                <a:cs typeface="Noto Sans KR"/>
              </a:rPr>
              <a:t>→</a:t>
            </a:r>
            <a:endParaRPr sz="1400"/>
          </a:p>
        </p:txBody>
      </p:sp>
      <p:sp>
        <p:nvSpPr>
          <p:cNvPr id="30" name="Shape 28">
            <a:extLst xmlns:a="http://schemas.openxmlformats.org/drawingml/2006/main">
              <a:ext uri="{FF2B5EF4-FFF2-40B4-BE49-F238E27FC236}">
                <a16:creationId xmlns:a16="http://schemas.microsoft.com/office/drawing/2014/main" id="{346AAAF0-B294-4921-A66B-F3F0482DE9C6}"/>
              </a:ext>
            </a:extLst>
          </p:cNvPr>
          <p:cNvSpPr>
            <a:spLocks xmlns:a="http://schemas.openxmlformats.org/drawingml/2006/main" noGrp="1"/>
          </p:cNvSpPr>
          <p:nvPr/>
        </p:nvSpPr>
        <p:spPr>
          <a:xfrm xmlns:a="http://schemas.openxmlformats.org/drawingml/2006/main">
            <a:off x="9198864" y="5440680"/>
            <a:ext cx="2487168"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31" name="Shape 29">
            <a:extLst xmlns:a="http://schemas.openxmlformats.org/drawingml/2006/main">
              <a:ext uri="{FF2B5EF4-FFF2-40B4-BE49-F238E27FC236}">
                <a16:creationId xmlns:a16="http://schemas.microsoft.com/office/drawing/2014/main" id="{E1C09C4C-3B58-43AB-BBCA-A65B98973CAF}"/>
              </a:ext>
            </a:extLst>
          </p:cNvPr>
          <p:cNvSpPr>
            <a:spLocks xmlns:a="http://schemas.openxmlformats.org/drawingml/2006/main" noGrp="1"/>
          </p:cNvSpPr>
          <p:nvPr/>
        </p:nvSpPr>
        <p:spPr>
          <a:xfrm xmlns:a="http://schemas.openxmlformats.org/drawingml/2006/main">
            <a:off x="9198864" y="5440680"/>
            <a:ext cx="2487168"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32" name="Text 30">
            <a:extLst xmlns:a="http://schemas.openxmlformats.org/drawingml/2006/main">
              <a:ext uri="{FF2B5EF4-FFF2-40B4-BE49-F238E27FC236}">
                <a16:creationId xmlns:a16="http://schemas.microsoft.com/office/drawing/2014/main" id="{D7CB60BC-946E-4663-946E-F09214489536}"/>
              </a:ext>
            </a:extLst>
          </p:cNvPr>
          <p:cNvSpPr>
            <a:spLocks xmlns:a="http://schemas.openxmlformats.org/drawingml/2006/main" noGrp="1"/>
          </p:cNvSpPr>
          <p:nvPr/>
        </p:nvSpPr>
        <p:spPr>
          <a:xfrm xmlns:a="http://schemas.openxmlformats.org/drawingml/2006/main">
            <a:off x="9290304" y="5440680"/>
            <a:ext cx="2304288"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설명과 원본 함께 확인</a:t>
            </a:r>
            <a:endParaRPr sz="1150"/>
          </a:p>
        </p:txBody>
      </p:sp>
      <p:sp>
        <p:nvSpPr>
          <p:cNvPr id="33" name="Text 31">
            <a:extLst xmlns:a="http://schemas.openxmlformats.org/drawingml/2006/main">
              <a:ext uri="{FF2B5EF4-FFF2-40B4-BE49-F238E27FC236}">
                <a16:creationId xmlns:a16="http://schemas.microsoft.com/office/drawing/2014/main" id="{D497E1F3-6D01-4259-802A-062B860F3EEC}"/>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17 / 23</a:t>
            </a:r>
            <a:endParaRPr sz="900"/>
          </a:p>
        </p:txBody>
      </p:sp>
      <p:sp>
        <p:nvSpPr>
          <p:cNvPr id="34" name="rag-caveat">
            <a:extLst xmlns:a="http://schemas.openxmlformats.org/drawingml/2006/main">
              <a:ext uri="{FF2B5EF4-FFF2-40B4-BE49-F238E27FC236}">
                <a16:creationId xmlns:a16="http://schemas.microsoft.com/office/drawing/2014/main" id="{0071487F-F104-42AB-A1C1-002E083EDBD5}"/>
              </a:ext>
            </a:extLst>
          </p:cNvPr>
          <p:cNvSpPr>
            <a:spLocks xmlns:a="http://schemas.openxmlformats.org/drawingml/2006/main" noGrp="1"/>
          </p:cNvSpPr>
          <p:nvPr/>
        </p:nvSpPr>
        <p:spPr>
          <a:xfrm xmlns:a="http://schemas.openxmlformats.org/drawingml/2006/main">
            <a:off x="819150" y="61055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050" b="0">
                <a:solidFill>
                  <a:srgbClr val="727272"/>
                </a:solidFill>
                <a:latin typeface="Noto Sans KR"/>
                <a:ea typeface="Noto Sans KR"/>
                <a:cs typeface="Noto Sans KR"/>
              </a:defRPr>
            </a:defPPr>
          </a:lstStyle>
          <a:p xmlns:a="http://schemas.openxmlformats.org/drawingml/2006/main">
            <a:pPr>
              <a:buNone/>
              <a:defRPr sz="1050" b="0">
                <a:solidFill>
                  <a:srgbClr val="727272"/>
                </a:solidFill>
                <a:latin typeface="Noto Sans KR"/>
                <a:ea typeface="Noto Sans KR"/>
                <a:cs typeface="Noto Sans KR"/>
              </a:defRPr>
            </a:pPr>
            <a:r>
              <a:rPr sz="1050" b="0">
                <a:solidFill>
                  <a:srgbClr val="727272"/>
                </a:solidFill>
                <a:latin typeface="Noto Sans KR"/>
                <a:ea typeface="Noto Sans KR"/>
                <a:cs typeface="Noto Sans KR"/>
              </a:rPr>
              <a:t>20개 시험 질문의 검색 결과입니다. 실제 보호자 질문이나 답변 전체의 정확도를 뜻하지 않습니다.</a:t>
            </a:r>
          </a:p>
        </p:txBody>
      </p:sp>
    </p:spTree>
    <p:extLst>
      <p:ext uri="{BB962C8B-B14F-4D97-AF65-F5344CB8AC3E}">
        <p14:creationId xmlns:p14="http://schemas.microsoft.com/office/powerpoint/2010/main" val="801419782"/>
      </p:ext>
    </p:extLst>
  </p:cSld>
</p:sld>
</file>

<file path=ppt/slides/slide18.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2919EAC-E59C-4FDD-AD5C-FBE9299D806D}"/>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40C621CC-3810-4D75-8D6E-49825A69763F}"/>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844F9500-6E91-4EE7-9B93-800F5B6FA0EE}"/>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핵심 기능과 검증</a:t>
            </a:r>
            <a:endParaRPr sz="1100"/>
          </a:p>
        </p:txBody>
      </p:sp>
      <p:sp>
        <p:nvSpPr>
          <p:cNvPr id="5" name="Text 3">
            <a:extLst xmlns:a="http://schemas.openxmlformats.org/drawingml/2006/main">
              <a:ext uri="{FF2B5EF4-FFF2-40B4-BE49-F238E27FC236}">
                <a16:creationId xmlns:a16="http://schemas.microsoft.com/office/drawing/2014/main" id="{DD8A4EA8-6E96-49E0-9A42-01F0B2813F4B}"/>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보호자가 확인하고 귀가 후 요약 보기</a:t>
            </a:r>
            <a:endParaRPr sz="2600"/>
          </a:p>
        </p:txBody>
      </p:sp>
      <p:sp>
        <p:nvSpPr>
          <p:cNvPr id="6" name="Shape 4">
            <a:extLst xmlns:a="http://schemas.openxmlformats.org/drawingml/2006/main">
              <a:ext uri="{FF2B5EF4-FFF2-40B4-BE49-F238E27FC236}">
                <a16:creationId xmlns:a16="http://schemas.microsoft.com/office/drawing/2014/main" id="{5AF85149-2D53-4EF7-8096-53C60DB06AC7}"/>
              </a:ext>
            </a:extLst>
          </p:cNvPr>
          <p:cNvSpPr>
            <a:spLocks xmlns:a="http://schemas.openxmlformats.org/drawingml/2006/main" noGrp="1"/>
          </p:cNvSpPr>
          <p:nvPr/>
        </p:nvSpPr>
        <p:spPr>
          <a:xfrm xmlns:a="http://schemas.openxmlformats.org/drawingml/2006/main">
            <a:off x="502920" y="1444752"/>
            <a:ext cx="285750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6E55D541-216D-4A65-A67F-7F2B02A8CF45}"/>
              </a:ext>
            </a:extLst>
          </p:cNvPr>
          <p:cNvSpPr>
            <a:spLocks xmlns:a="http://schemas.openxmlformats.org/drawingml/2006/main" noGrp="1"/>
          </p:cNvSpPr>
          <p:nvPr/>
        </p:nvSpPr>
        <p:spPr>
          <a:xfrm xmlns:a="http://schemas.openxmlformats.org/drawingml/2006/main">
            <a:off x="502920" y="1444752"/>
            <a:ext cx="28575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950" b="1">
                <a:solidFill>
                  <a:srgbClr val="FFFFFF"/>
                </a:solidFill>
                <a:latin typeface="Noto Sans KR"/>
                <a:ea typeface="Noto Sans KR"/>
                <a:cs typeface="Noto Sans KR"/>
              </a:defRPr>
            </a:defPPr>
          </a:lstStyle>
          <a:p xmlns:a="http://schemas.openxmlformats.org/drawingml/2006/main">
            <a:pPr marL="0" indent="0" algn="ctr">
              <a:buNone/>
              <a:defRPr sz="950" b="1">
                <a:solidFill>
                  <a:srgbClr val="FFFFFF"/>
                </a:solidFill>
                <a:latin typeface="Noto Sans KR"/>
                <a:ea typeface="Noto Sans KR"/>
                <a:cs typeface="Noto Sans KR"/>
              </a:defRPr>
            </a:pPr>
            <a:r>
              <a:rPr sz="950" b="1">
                <a:solidFill>
                  <a:srgbClr val="FFFFFF"/>
                </a:solidFill>
                <a:latin typeface="Noto Sans KR"/>
                <a:ea typeface="Noto Sans KR"/>
                <a:cs typeface="Noto Sans KR"/>
              </a:rPr>
              <a:t>웹 화면에서 전체 과정 확인</a:t>
            </a:r>
            <a:endParaRPr sz="950"/>
          </a:p>
        </p:txBody>
      </p:sp>
      <p:sp>
        <p:nvSpPr>
          <p:cNvPr id="8" name="Shape 6">
            <a:extLst xmlns:a="http://schemas.openxmlformats.org/drawingml/2006/main">
              <a:ext uri="{FF2B5EF4-FFF2-40B4-BE49-F238E27FC236}">
                <a16:creationId xmlns:a16="http://schemas.microsoft.com/office/drawing/2014/main" id="{47AB5CAE-FDDD-43F4-81A1-382F8C2CBA0C}"/>
              </a:ext>
            </a:extLst>
          </p:cNvPr>
          <p:cNvSpPr>
            <a:spLocks xmlns:a="http://schemas.openxmlformats.org/drawingml/2006/main" noGrp="1"/>
          </p:cNvSpPr>
          <p:nvPr/>
        </p:nvSpPr>
        <p:spPr>
          <a:xfrm xmlns:a="http://schemas.openxmlformats.org/drawingml/2006/main">
            <a:off x="502920" y="1965960"/>
            <a:ext cx="11183112" cy="3246120"/>
          </a:xfrm>
          <a:prstGeom xmlns:a="http://schemas.openxmlformats.org/drawingml/2006/main" prst="roundRect">
            <a:avLst>
              <a:gd name="adj" fmla="val 2254"/>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681ABF59-6BD9-4A4C-B049-E28EBF692C77}"/>
              </a:ext>
            </a:extLst>
          </p:cNvPr>
          <p:cNvSpPr>
            <a:spLocks xmlns:a="http://schemas.openxmlformats.org/drawingml/2006/main" noGrp="1"/>
          </p:cNvSpPr>
          <p:nvPr/>
        </p:nvSpPr>
        <p:spPr>
          <a:xfrm xmlns:a="http://schemas.openxmlformats.org/drawingml/2006/main">
            <a:off x="822960" y="217627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0">
                <a:solidFill>
                  <a:srgbClr val="8A8A8A"/>
                </a:solidFill>
                <a:latin typeface="Noto Sans KR"/>
                <a:ea typeface="Noto Sans KR"/>
                <a:cs typeface="Noto Sans KR"/>
              </a:defRPr>
            </a:defPPr>
          </a:lstStyle>
          <a:p xmlns:a="http://schemas.openxmlformats.org/drawingml/2006/main">
            <a:pPr marL="0" indent="0" algn="l">
              <a:buNone/>
              <a:defRPr sz="1200" b="0">
                <a:solidFill>
                  <a:srgbClr val="8A8A8A"/>
                </a:solidFill>
                <a:latin typeface="Noto Sans KR"/>
                <a:ea typeface="Noto Sans KR"/>
                <a:cs typeface="Noto Sans KR"/>
              </a:defRPr>
            </a:pPr>
            <a:r>
              <a:rPr sz="1200" b="0">
                <a:solidFill>
                  <a:srgbClr val="8A8A8A"/>
                </a:solidFill>
                <a:latin typeface="Noto Sans KR"/>
                <a:ea typeface="Noto Sans KR"/>
                <a:cs typeface="Noto Sans KR"/>
              </a:rPr>
              <a:t>AI의 판정과 보호자의 의견을 따로 보관</a:t>
            </a:r>
            <a:endParaRPr sz="1200"/>
          </a:p>
        </p:txBody>
      </p:sp>
      <p:sp>
        <p:nvSpPr>
          <p:cNvPr id="10" name="Shape 8">
            <a:extLst xmlns:a="http://schemas.openxmlformats.org/drawingml/2006/main">
              <a:ext uri="{FF2B5EF4-FFF2-40B4-BE49-F238E27FC236}">
                <a16:creationId xmlns:a16="http://schemas.microsoft.com/office/drawing/2014/main" id="{9ED51AE8-9AD4-42EA-B41F-2C686481AE2B}"/>
              </a:ext>
            </a:extLst>
          </p:cNvPr>
          <p:cNvSpPr>
            <a:spLocks xmlns:a="http://schemas.openxmlformats.org/drawingml/2006/main" noGrp="1"/>
          </p:cNvSpPr>
          <p:nvPr/>
        </p:nvSpPr>
        <p:spPr>
          <a:xfrm xmlns:a="http://schemas.openxmlformats.org/drawingml/2006/main">
            <a:off x="868680" y="2788920"/>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1ED776D7-859D-4A0B-ADA0-913F8E9D5506}"/>
              </a:ext>
            </a:extLst>
          </p:cNvPr>
          <p:cNvSpPr>
            <a:spLocks xmlns:a="http://schemas.openxmlformats.org/drawingml/2006/main" noGrp="1"/>
          </p:cNvSpPr>
          <p:nvPr/>
        </p:nvSpPr>
        <p:spPr>
          <a:xfrm xmlns:a="http://schemas.openxmlformats.org/drawingml/2006/main">
            <a:off x="1069848" y="2633472"/>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화면</a:t>
            </a:r>
            <a:r>
              <a:rPr sz="1500" b="0">
                <a:solidFill>
                  <a:srgbClr val="5A5A5A"/>
                </a:solidFill>
                <a:latin typeface="Noto Sans KR"/>
                <a:ea typeface="Noto Sans KR"/>
                <a:cs typeface="Noto Sans KR"/>
              </a:rPr>
              <a:t>  첫 화면에서 기록과 최근 장면 확인, 다른 기능은 메뉴별로 나누어 제공</a:t>
            </a:r>
            <a:endParaRPr sz="1500"/>
          </a:p>
        </p:txBody>
      </p:sp>
      <p:sp>
        <p:nvSpPr>
          <p:cNvPr id="12" name="Shape 10">
            <a:extLst xmlns:a="http://schemas.openxmlformats.org/drawingml/2006/main">
              <a:ext uri="{FF2B5EF4-FFF2-40B4-BE49-F238E27FC236}">
                <a16:creationId xmlns:a16="http://schemas.microsoft.com/office/drawing/2014/main" id="{52B457DD-194E-496C-84BF-F3CB6C16200C}"/>
              </a:ext>
            </a:extLst>
          </p:cNvPr>
          <p:cNvSpPr>
            <a:spLocks xmlns:a="http://schemas.openxmlformats.org/drawingml/2006/main" noGrp="1"/>
          </p:cNvSpPr>
          <p:nvPr/>
        </p:nvSpPr>
        <p:spPr>
          <a:xfrm xmlns:a="http://schemas.openxmlformats.org/drawingml/2006/main">
            <a:off x="868680" y="3374136"/>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E0FF8A93-FC26-41B6-94B5-66451F9AD21C}"/>
              </a:ext>
            </a:extLst>
          </p:cNvPr>
          <p:cNvSpPr>
            <a:spLocks xmlns:a="http://schemas.openxmlformats.org/drawingml/2006/main" noGrp="1"/>
          </p:cNvSpPr>
          <p:nvPr/>
        </p:nvSpPr>
        <p:spPr>
          <a:xfrm xmlns:a="http://schemas.openxmlformats.org/drawingml/2006/main">
            <a:off x="1069848" y="3218688"/>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의견</a:t>
            </a:r>
            <a:r>
              <a:rPr sz="1500" b="0">
                <a:solidFill>
                  <a:srgbClr val="5A5A5A"/>
                </a:solidFill>
                <a:latin typeface="Noto Sans KR"/>
                <a:ea typeface="Noto Sans KR"/>
                <a:cs typeface="Noto Sans KR"/>
              </a:rPr>
              <a:t>  녹음·영상을 확인한 뒤 개 짖음 소리, TV 소리, 잘 모르겠음 등의 의견 저장</a:t>
            </a:r>
            <a:endParaRPr sz="1500"/>
          </a:p>
        </p:txBody>
      </p:sp>
      <p:sp>
        <p:nvSpPr>
          <p:cNvPr id="14" name="Shape 12">
            <a:extLst xmlns:a="http://schemas.openxmlformats.org/drawingml/2006/main">
              <a:ext uri="{FF2B5EF4-FFF2-40B4-BE49-F238E27FC236}">
                <a16:creationId xmlns:a16="http://schemas.microsoft.com/office/drawing/2014/main" id="{89746DEE-C24D-468B-9068-EDFEAE28A5A2}"/>
              </a:ext>
            </a:extLst>
          </p:cNvPr>
          <p:cNvSpPr>
            <a:spLocks xmlns:a="http://schemas.openxmlformats.org/drawingml/2006/main" noGrp="1"/>
          </p:cNvSpPr>
          <p:nvPr/>
        </p:nvSpPr>
        <p:spPr>
          <a:xfrm xmlns:a="http://schemas.openxmlformats.org/drawingml/2006/main">
            <a:off x="868680" y="3959352"/>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7AA75128-FE5D-490E-9C34-A5D4E271E926}"/>
              </a:ext>
            </a:extLst>
          </p:cNvPr>
          <p:cNvSpPr>
            <a:spLocks xmlns:a="http://schemas.openxmlformats.org/drawingml/2006/main" noGrp="1"/>
          </p:cNvSpPr>
          <p:nvPr/>
        </p:nvSpPr>
        <p:spPr>
          <a:xfrm xmlns:a="http://schemas.openxmlformats.org/drawingml/2006/main">
            <a:off x="1069848" y="3803904"/>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요약</a:t>
            </a:r>
            <a:r>
              <a:rPr sz="1500" b="0">
                <a:solidFill>
                  <a:srgbClr val="5A5A5A"/>
                </a:solidFill>
                <a:latin typeface="Noto Sans KR"/>
                <a:ea typeface="Noto Sans KR"/>
                <a:cs typeface="Noto Sans KR"/>
              </a:rPr>
              <a:t>  실제로 분석한 시간과 기록이 없는 시간을 구분하고 지난 외출과 비교</a:t>
            </a:r>
            <a:endParaRPr sz="1500"/>
          </a:p>
        </p:txBody>
      </p:sp>
      <p:sp>
        <p:nvSpPr>
          <p:cNvPr id="16" name="Shape 14">
            <a:extLst xmlns:a="http://schemas.openxmlformats.org/drawingml/2006/main">
              <a:ext uri="{FF2B5EF4-FFF2-40B4-BE49-F238E27FC236}">
                <a16:creationId xmlns:a16="http://schemas.microsoft.com/office/drawing/2014/main" id="{5084C9E1-2ABD-4294-B672-5D7598C8B3B1}"/>
              </a:ext>
            </a:extLst>
          </p:cNvPr>
          <p:cNvSpPr>
            <a:spLocks xmlns:a="http://schemas.openxmlformats.org/drawingml/2006/main" noGrp="1"/>
          </p:cNvSpPr>
          <p:nvPr/>
        </p:nvSpPr>
        <p:spPr>
          <a:xfrm xmlns:a="http://schemas.openxmlformats.org/drawingml/2006/main">
            <a:off x="868680" y="4544568"/>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64A7C891-8638-4789-902A-BD39942C62BF}"/>
              </a:ext>
            </a:extLst>
          </p:cNvPr>
          <p:cNvSpPr>
            <a:spLocks xmlns:a="http://schemas.openxmlformats.org/drawingml/2006/main" noGrp="1"/>
          </p:cNvSpPr>
          <p:nvPr/>
        </p:nvSpPr>
        <p:spPr>
          <a:xfrm xmlns:a="http://schemas.openxmlformats.org/drawingml/2006/main">
            <a:off x="1069848" y="4389120"/>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시연</a:t>
            </a:r>
            <a:r>
              <a:rPr sz="1500" b="0">
                <a:solidFill>
                  <a:srgbClr val="5A5A5A"/>
                </a:solidFill>
                <a:latin typeface="Noto Sans KR"/>
                <a:ea typeface="Noto Sans KR"/>
                <a:cs typeface="Noto Sans KR"/>
              </a:rPr>
              <a:t>  공개 녹음 자료 입력, 의견 저장, 귀가 요약과 원본 재생까지 확인</a:t>
            </a:r>
            <a:endParaRPr sz="1500"/>
          </a:p>
        </p:txBody>
      </p:sp>
      <p:sp>
        <p:nvSpPr>
          <p:cNvPr id="18" name="Shape 16">
            <a:extLst xmlns:a="http://schemas.openxmlformats.org/drawingml/2006/main">
              <a:ext uri="{FF2B5EF4-FFF2-40B4-BE49-F238E27FC236}">
                <a16:creationId xmlns:a16="http://schemas.microsoft.com/office/drawing/2014/main" id="{EE92E6EA-C2C4-4FB9-BEA2-83DAC9B97F92}"/>
              </a:ext>
            </a:extLst>
          </p:cNvPr>
          <p:cNvSpPr>
            <a:spLocks xmlns:a="http://schemas.openxmlformats.org/drawingml/2006/main" noGrp="1"/>
          </p:cNvSpPr>
          <p:nvPr/>
        </p:nvSpPr>
        <p:spPr>
          <a:xfrm xmlns:a="http://schemas.openxmlformats.org/drawingml/2006/main">
            <a:off x="502920"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06B4E322-38E5-4F71-8027-808C855B9EC4}"/>
              </a:ext>
            </a:extLst>
          </p:cNvPr>
          <p:cNvSpPr>
            <a:spLocks xmlns:a="http://schemas.openxmlformats.org/drawingml/2006/main" noGrp="1"/>
          </p:cNvSpPr>
          <p:nvPr/>
        </p:nvSpPr>
        <p:spPr>
          <a:xfrm xmlns:a="http://schemas.openxmlformats.org/drawingml/2006/main">
            <a:off x="502920"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A5FBF1C3-88D0-4270-B348-B99CBF6492A4}"/>
              </a:ext>
            </a:extLst>
          </p:cNvPr>
          <p:cNvSpPr>
            <a:spLocks xmlns:a="http://schemas.openxmlformats.org/drawingml/2006/main" noGrp="1"/>
          </p:cNvSpPr>
          <p:nvPr/>
        </p:nvSpPr>
        <p:spPr>
          <a:xfrm xmlns:a="http://schemas.openxmlformats.org/drawingml/2006/main">
            <a:off x="594360" y="5440680"/>
            <a:ext cx="32705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녹음과 영상 확인</a:t>
            </a:r>
            <a:endParaRPr sz="1150"/>
          </a:p>
        </p:txBody>
      </p:sp>
      <p:sp>
        <p:nvSpPr>
          <p:cNvPr id="21" name="Text 19">
            <a:extLst xmlns:a="http://schemas.openxmlformats.org/drawingml/2006/main">
              <a:ext uri="{FF2B5EF4-FFF2-40B4-BE49-F238E27FC236}">
                <a16:creationId xmlns:a16="http://schemas.microsoft.com/office/drawing/2014/main" id="{53ECAF12-4C1D-410E-B4A7-D6C970E4A85B}"/>
              </a:ext>
            </a:extLst>
          </p:cNvPr>
          <p:cNvSpPr>
            <a:spLocks xmlns:a="http://schemas.openxmlformats.org/drawingml/2006/main" noGrp="1"/>
          </p:cNvSpPr>
          <p:nvPr/>
        </p:nvSpPr>
        <p:spPr>
          <a:xfrm xmlns:a="http://schemas.openxmlformats.org/drawingml/2006/main">
            <a:off x="3956304" y="5440680"/>
            <a:ext cx="4114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8A8A8A"/>
                </a:solidFill>
                <a:latin typeface="Noto Sans KR"/>
                <a:ea typeface="Noto Sans KR"/>
                <a:cs typeface="Noto Sans KR"/>
              </a:rPr>
              <a:t>→</a:t>
            </a:r>
            <a:endParaRPr sz="1400"/>
          </a:p>
        </p:txBody>
      </p:sp>
      <p:sp>
        <p:nvSpPr>
          <p:cNvPr id="22" name="Shape 20">
            <a:extLst xmlns:a="http://schemas.openxmlformats.org/drawingml/2006/main">
              <a:ext uri="{FF2B5EF4-FFF2-40B4-BE49-F238E27FC236}">
                <a16:creationId xmlns:a16="http://schemas.microsoft.com/office/drawing/2014/main" id="{5ECAD63B-750D-402A-97F0-E1AEB988BEBD}"/>
              </a:ext>
            </a:extLst>
          </p:cNvPr>
          <p:cNvSpPr>
            <a:spLocks xmlns:a="http://schemas.openxmlformats.org/drawingml/2006/main" noGrp="1"/>
          </p:cNvSpPr>
          <p:nvPr/>
        </p:nvSpPr>
        <p:spPr>
          <a:xfrm xmlns:a="http://schemas.openxmlformats.org/drawingml/2006/main">
            <a:off x="4367784"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23" name="Shape 21">
            <a:extLst xmlns:a="http://schemas.openxmlformats.org/drawingml/2006/main">
              <a:ext uri="{FF2B5EF4-FFF2-40B4-BE49-F238E27FC236}">
                <a16:creationId xmlns:a16="http://schemas.microsoft.com/office/drawing/2014/main" id="{FBF6B1E3-A302-46AF-81B8-BB6320061286}"/>
              </a:ext>
            </a:extLst>
          </p:cNvPr>
          <p:cNvSpPr>
            <a:spLocks xmlns:a="http://schemas.openxmlformats.org/drawingml/2006/main" noGrp="1"/>
          </p:cNvSpPr>
          <p:nvPr/>
        </p:nvSpPr>
        <p:spPr>
          <a:xfrm xmlns:a="http://schemas.openxmlformats.org/drawingml/2006/main">
            <a:off x="4367784"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708C0C1A-9AB3-42C2-A019-D16892CC3AD4}"/>
              </a:ext>
            </a:extLst>
          </p:cNvPr>
          <p:cNvSpPr>
            <a:spLocks xmlns:a="http://schemas.openxmlformats.org/drawingml/2006/main" noGrp="1"/>
          </p:cNvSpPr>
          <p:nvPr/>
        </p:nvSpPr>
        <p:spPr>
          <a:xfrm xmlns:a="http://schemas.openxmlformats.org/drawingml/2006/main">
            <a:off x="4459224" y="5440680"/>
            <a:ext cx="32705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보호자 의견 남기기</a:t>
            </a:r>
            <a:endParaRPr sz="1150"/>
          </a:p>
        </p:txBody>
      </p:sp>
      <p:sp>
        <p:nvSpPr>
          <p:cNvPr id="25" name="Text 23">
            <a:extLst xmlns:a="http://schemas.openxmlformats.org/drawingml/2006/main">
              <a:ext uri="{FF2B5EF4-FFF2-40B4-BE49-F238E27FC236}">
                <a16:creationId xmlns:a16="http://schemas.microsoft.com/office/drawing/2014/main" id="{5D8269F9-E7C8-404C-995A-65B88B13EA98}"/>
              </a:ext>
            </a:extLst>
          </p:cNvPr>
          <p:cNvSpPr>
            <a:spLocks xmlns:a="http://schemas.openxmlformats.org/drawingml/2006/main" noGrp="1"/>
          </p:cNvSpPr>
          <p:nvPr/>
        </p:nvSpPr>
        <p:spPr>
          <a:xfrm xmlns:a="http://schemas.openxmlformats.org/drawingml/2006/main">
            <a:off x="7821168" y="5440680"/>
            <a:ext cx="4114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8A8A8A"/>
                </a:solidFill>
                <a:latin typeface="Noto Sans KR"/>
                <a:ea typeface="Noto Sans KR"/>
                <a:cs typeface="Noto Sans KR"/>
              </a:rPr>
              <a:t>→</a:t>
            </a:r>
            <a:endParaRPr sz="1400"/>
          </a:p>
        </p:txBody>
      </p:sp>
      <p:sp>
        <p:nvSpPr>
          <p:cNvPr id="26" name="Shape 24">
            <a:extLst xmlns:a="http://schemas.openxmlformats.org/drawingml/2006/main">
              <a:ext uri="{FF2B5EF4-FFF2-40B4-BE49-F238E27FC236}">
                <a16:creationId xmlns:a16="http://schemas.microsoft.com/office/drawing/2014/main" id="{FDDAE112-D574-4242-A383-3A2CBFE53940}"/>
              </a:ext>
            </a:extLst>
          </p:cNvPr>
          <p:cNvSpPr>
            <a:spLocks xmlns:a="http://schemas.openxmlformats.org/drawingml/2006/main" noGrp="1"/>
          </p:cNvSpPr>
          <p:nvPr/>
        </p:nvSpPr>
        <p:spPr>
          <a:xfrm xmlns:a="http://schemas.openxmlformats.org/drawingml/2006/main">
            <a:off x="8232648"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27" name="Shape 25">
            <a:extLst xmlns:a="http://schemas.openxmlformats.org/drawingml/2006/main">
              <a:ext uri="{FF2B5EF4-FFF2-40B4-BE49-F238E27FC236}">
                <a16:creationId xmlns:a16="http://schemas.microsoft.com/office/drawing/2014/main" id="{40C8D31E-ADDC-4C10-B1DC-1AA07B43A6E1}"/>
              </a:ext>
            </a:extLst>
          </p:cNvPr>
          <p:cNvSpPr>
            <a:spLocks xmlns:a="http://schemas.openxmlformats.org/drawingml/2006/main" noGrp="1"/>
          </p:cNvSpPr>
          <p:nvPr/>
        </p:nvSpPr>
        <p:spPr>
          <a:xfrm xmlns:a="http://schemas.openxmlformats.org/drawingml/2006/main">
            <a:off x="8232648"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25C2411A-0563-4988-8447-1264B661911C}"/>
              </a:ext>
            </a:extLst>
          </p:cNvPr>
          <p:cNvSpPr>
            <a:spLocks xmlns:a="http://schemas.openxmlformats.org/drawingml/2006/main" noGrp="1"/>
          </p:cNvSpPr>
          <p:nvPr/>
        </p:nvSpPr>
        <p:spPr>
          <a:xfrm xmlns:a="http://schemas.openxmlformats.org/drawingml/2006/main">
            <a:off x="8324088" y="5440680"/>
            <a:ext cx="32705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귀가 요약과 지난 기록 비교</a:t>
            </a:r>
            <a:endParaRPr sz="1150"/>
          </a:p>
        </p:txBody>
      </p:sp>
      <p:sp>
        <p:nvSpPr>
          <p:cNvPr id="29" name="Text 27">
            <a:extLst xmlns:a="http://schemas.openxmlformats.org/drawingml/2006/main">
              <a:ext uri="{FF2B5EF4-FFF2-40B4-BE49-F238E27FC236}">
                <a16:creationId xmlns:a16="http://schemas.microsoft.com/office/drawing/2014/main" id="{587D981B-AB65-4B9A-ADB9-BA424663EEB9}"/>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18 / 23</a:t>
            </a:r>
            <a:endParaRPr sz="900"/>
          </a:p>
        </p:txBody>
      </p:sp>
    </p:spTree>
    <p:extLst>
      <p:ext uri="{BB962C8B-B14F-4D97-AF65-F5344CB8AC3E}">
        <p14:creationId xmlns:p14="http://schemas.microsoft.com/office/powerpoint/2010/main" val="833301682"/>
      </p:ext>
    </p:extLst>
  </p:cSld>
</p:sld>
</file>

<file path=ppt/slides/slide19.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289C1E-99AD-4E6C-8DF9-35705F86164E}"/>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341D240C-22CC-4AC2-83B6-8DBD656C2542}"/>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CCFDC6F7-F93F-4352-87D1-4EF43BBE8653}"/>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주요 기능과 확인한 결과</a:t>
            </a:r>
            <a:endParaRPr sz="1100"/>
          </a:p>
        </p:txBody>
      </p:sp>
      <p:sp>
        <p:nvSpPr>
          <p:cNvPr id="5" name="Text 3">
            <a:extLst xmlns:a="http://schemas.openxmlformats.org/drawingml/2006/main">
              <a:ext uri="{FF2B5EF4-FFF2-40B4-BE49-F238E27FC236}">
                <a16:creationId xmlns:a16="http://schemas.microsoft.com/office/drawing/2014/main" id="{774D45A9-F58C-47AD-84BC-112F75C0F475}"/>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웹 시연: 소리 입력부터 RAG 확인 제안까지</a:t>
            </a:r>
            <a:endParaRPr sz="2600"/>
          </a:p>
        </p:txBody>
      </p:sp>
      <p:sp>
        <p:nvSpPr>
          <p:cNvPr id="29" name="Text 27">
            <a:extLst xmlns:a="http://schemas.openxmlformats.org/drawingml/2006/main">
              <a:ext uri="{FF2B5EF4-FFF2-40B4-BE49-F238E27FC236}">
                <a16:creationId xmlns:a16="http://schemas.microsoft.com/office/drawing/2014/main" id="{B6625806-1698-423B-B419-8819E1580911}"/>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19 / 23</a:t>
            </a:r>
            <a:endParaRPr sz="900"/>
          </a:p>
        </p:txBody>
      </p:sp>
      <p:sp>
        <p:nvSpPr>
          <p:cNvPr id="30" name="input">
            <a:extLst xmlns:a="http://schemas.openxmlformats.org/drawingml/2006/main">
              <a:ext uri="{FF2B5EF4-FFF2-40B4-BE49-F238E27FC236}">
                <a16:creationId xmlns:a16="http://schemas.microsoft.com/office/drawing/2014/main" id="{5D64548E-9459-4606-8DB4-52714985B462}"/>
              </a:ext>
            </a:extLst>
          </p:cNvPr>
          <p:cNvSpPr>
            <a:spLocks xmlns:a="http://schemas.openxmlformats.org/drawingml/2006/main" noGrp="1"/>
          </p:cNvSpPr>
          <p:nvPr/>
        </p:nvSpPr>
        <p:spPr>
          <a:xfrm xmlns:a="http://schemas.openxmlformats.org/drawingml/2006/main">
            <a:off x="504825" y="172402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1">
                <a:solidFill>
                  <a:srgbClr val="272626"/>
                </a:solidFill>
                <a:latin typeface="Noto Sans KR"/>
                <a:ea typeface="Noto Sans KR"/>
                <a:cs typeface="Noto Sans KR"/>
              </a:defRPr>
            </a:defPPr>
          </a:lstStyle>
          <a:p xmlns:a="http://schemas.openxmlformats.org/drawingml/2006/main">
            <a:pPr>
              <a:buNone/>
              <a:defRPr sz="1875" b="1">
                <a:solidFill>
                  <a:srgbClr val="272626"/>
                </a:solidFill>
                <a:latin typeface="Noto Sans KR"/>
                <a:ea typeface="Noto Sans KR"/>
                <a:cs typeface="Noto Sans KR"/>
              </a:defRPr>
            </a:pPr>
            <a:r>
              <a:rPr sz="1875" b="1">
                <a:solidFill>
                  <a:srgbClr val="272626"/>
                </a:solidFill>
                <a:latin typeface="Noto Sans KR"/>
                <a:ea typeface="Noto Sans KR"/>
                <a:cs typeface="Noto Sans KR"/>
              </a:rPr>
              <a:t>입력: 초인종·노크 뒤 개 짖음 소리가 이어지는 10초 음원</a:t>
            </a:r>
          </a:p>
        </p:txBody>
      </p:sp>
      <p:graphicFrame>
        <p:nvGraphicFramePr>
          <p:cNvPr id="31" name="">
            <a:extLst xmlns:a="http://schemas.openxmlformats.org/drawingml/2006/main">
              <a:ext uri="{FF2B5EF4-FFF2-40B4-BE49-F238E27FC236}">
                <a16:creationId xmlns:a16="http://schemas.microsoft.com/office/drawing/2014/main" id="{4D14C0FD-6C01-4F0F-8B3F-46E02350A48B}"/>
              </a:ext>
            </a:extLst>
          </p:cNvPr>
          <p:cNvGraphicFramePr/>
          <p:nvPr/>
        </p:nvGraphicFramePr>
        <p:xfrm>
          <a:off xmlns:a="http://schemas.openxmlformats.org/drawingml/2006/main" x="504825" y="2343150"/>
          <a:ext xmlns:a="http://schemas.openxmlformats.org/drawingml/2006/main" cx="11182350" cy="2524125"/>
        </p:xfrm>
        <a:graphic xmlns:a="http://schemas.openxmlformats.org/drawingml/2006/main">
          <a:graphicData uri="http://schemas.openxmlformats.org/drawingml/2006/table">
            <a:tbl>
              <a:tblPr/>
              <a:tblGrid>
                <a:gridCol w="2238375"/>
                <a:gridCol w="8943975"/>
              </a:tblGrid>
              <a:tr h="504825">
                <a:tc>
                  <a:txBody>
                    <a:bodyPr lIns="95250" tIns="95250" rIns="95250" bIns="95250">
                      <a:noAutofit/>
                    </a:bodyPr>
                    <a:lstStyle/>
                    <a:p>
                      <a:pPr algn="l">
                        <a:buNone/>
                      </a:pPr>
                      <a:r>
                        <a:rPr sz="1650" b="1">
                          <a:solidFill>
                            <a:srgbClr val="FFFFFF"/>
                          </a:solidFill>
                          <a:latin typeface="Noto Sans KR"/>
                          <a:ea typeface="Noto Sans KR"/>
                          <a:cs typeface="Noto Sans KR"/>
                        </a:rPr>
                        <a:t>단계</a:t>
                      </a:r>
                    </a:p>
                  </a:txBody>
                  <a:tcPr marL="133350" marR="95250" marT="76200" marB="76200" anchor="ctr">
                    <a:lnL w="9525">
                      <a:solidFill>
                        <a:srgbClr val="D3D3D3"/>
                      </a:solidFill>
                      <a:prstDash val="solid"/>
                    </a:lnL>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650" b="1">
                          <a:solidFill>
                            <a:srgbClr val="FFFFFF"/>
                          </a:solidFill>
                          <a:latin typeface="Noto Sans KR"/>
                          <a:ea typeface="Noto Sans KR"/>
                          <a:cs typeface="Noto Sans KR"/>
                        </a:rPr>
                        <a:t>실제 웹 UI에서 확인한 결과</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r>
              <a:tr h="504825">
                <a:tc>
                  <a:txBody>
                    <a:bodyPr lIns="95250" tIns="95250" rIns="95250" bIns="95250">
                      <a:noAutofit/>
                    </a:bodyPr>
                    <a:lstStyle/>
                    <a:p>
                      <a:pPr algn="l">
                        <a:buNone/>
                      </a:pPr>
                      <a:r>
                        <a:rPr sz="1650" b="0">
                          <a:solidFill>
                            <a:srgbClr val="272626"/>
                          </a:solidFill>
                          <a:latin typeface="Noto Sans KR"/>
                          <a:ea typeface="Noto Sans KR"/>
                          <a:cs typeface="Noto Sans KR"/>
                        </a:rPr>
                        <a:t>LSTM 분석</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650" b="0">
                          <a:solidFill>
                            <a:srgbClr val="272626"/>
                          </a:solidFill>
                          <a:latin typeface="Noto Sans KR"/>
                          <a:ea typeface="Noto Sans KR"/>
                          <a:cs typeface="Noto Sans KR"/>
                        </a:rPr>
                        <a:t>0~5초 점수 0.060 / 5~10초 점수 0.960, 후보 1/2창</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504825">
                <a:tc>
                  <a:txBody>
                    <a:bodyPr lIns="95250" tIns="95250" rIns="95250" bIns="95250">
                      <a:noAutofit/>
                    </a:bodyPr>
                    <a:lstStyle/>
                    <a:p>
                      <a:pPr algn="l">
                        <a:buNone/>
                      </a:pPr>
                      <a:r>
                        <a:rPr sz="1650" b="0">
                          <a:solidFill>
                            <a:srgbClr val="272626"/>
                          </a:solidFill>
                          <a:latin typeface="Noto Sans KR"/>
                          <a:ea typeface="Noto Sans KR"/>
                          <a:cs typeface="Noto Sans KR"/>
                        </a:rPr>
                        <a:t>RAG 답변</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650" b="0">
                          <a:solidFill>
                            <a:srgbClr val="272626"/>
                          </a:solidFill>
                          <a:latin typeface="Noto Sans KR"/>
                          <a:ea typeface="Noto Sans KR"/>
                          <a:cs typeface="Noto Sans KR"/>
                        </a:rPr>
                        <a:t>입력한 상황 설명과 실제 분석 창 수를 서로 다른 근거로 제시</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r h="504825">
                <a:tc>
                  <a:txBody>
                    <a:bodyPr lIns="95250" tIns="95250" rIns="95250" bIns="95250">
                      <a:noAutofit/>
                    </a:bodyPr>
                    <a:lstStyle/>
                    <a:p>
                      <a:pPr algn="l">
                        <a:buNone/>
                      </a:pPr>
                      <a:r>
                        <a:rPr sz="1650" b="0">
                          <a:solidFill>
                            <a:srgbClr val="272626"/>
                          </a:solidFill>
                          <a:latin typeface="Noto Sans KR"/>
                          <a:ea typeface="Noto Sans KR"/>
                          <a:cs typeface="Noto Sans KR"/>
                        </a:rPr>
                        <a:t>다음 확인 제안</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650" b="0">
                          <a:solidFill>
                            <a:srgbClr val="272626"/>
                          </a:solidFill>
                          <a:latin typeface="Noto Sans KR"/>
                          <a:ea typeface="Noto Sans KR"/>
                          <a:cs typeface="Noto Sans KR"/>
                        </a:rPr>
                        <a:t>현관 영상·방문 기록의 시각을 비교하도록 안내</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504825">
                <a:tc>
                  <a:txBody>
                    <a:bodyPr lIns="95250" tIns="95250" rIns="95250" bIns="95250">
                      <a:noAutofit/>
                    </a:bodyPr>
                    <a:lstStyle/>
                    <a:p>
                      <a:pPr algn="l">
                        <a:buNone/>
                      </a:pPr>
                      <a:r>
                        <a:rPr sz="1650" b="0">
                          <a:solidFill>
                            <a:srgbClr val="272626"/>
                          </a:solidFill>
                          <a:latin typeface="Noto Sans KR"/>
                          <a:ea typeface="Noto Sans KR"/>
                          <a:cs typeface="Noto Sans KR"/>
                        </a:rPr>
                        <a:t>원인 판단</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650" b="0">
                          <a:solidFill>
                            <a:srgbClr val="272626"/>
                          </a:solidFill>
                          <a:latin typeface="Noto Sans KR"/>
                          <a:ea typeface="Noto Sans KR"/>
                          <a:cs typeface="Noto Sans KR"/>
                        </a:rPr>
                        <a:t>방문자 존재나 짖음 원인은 확정하지 않음</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bl>
          </a:graphicData>
        </a:graphic>
      </p:graphicFrame>
      <p:sp>
        <p:nvSpPr>
          <p:cNvPr id="33" name="limit">
            <a:extLst xmlns:a="http://schemas.openxmlformats.org/drawingml/2006/main">
              <a:ext uri="{FF2B5EF4-FFF2-40B4-BE49-F238E27FC236}">
                <a16:creationId xmlns:a16="http://schemas.microsoft.com/office/drawing/2014/main" id="{62D92C9D-AA5C-4C97-BF31-86F7AA9D969F}"/>
              </a:ext>
            </a:extLst>
          </p:cNvPr>
          <p:cNvSpPr>
            <a:spLocks xmlns:a="http://schemas.openxmlformats.org/drawingml/2006/main" noGrp="1"/>
          </p:cNvSpPr>
          <p:nvPr/>
        </p:nvSpPr>
        <p:spPr>
          <a:xfrm xmlns:a="http://schemas.openxmlformats.org/drawingml/2006/main">
            <a:off x="504825" y="583882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727272"/>
                </a:solidFill>
                <a:latin typeface="Noto Sans KR"/>
                <a:ea typeface="Noto Sans KR"/>
                <a:cs typeface="Noto Sans KR"/>
              </a:defRPr>
            </a:defPPr>
          </a:lstStyle>
          <a:p xmlns:a="http://schemas.openxmlformats.org/drawingml/2006/main">
            <a:pPr>
              <a:buNone/>
              <a:defRPr sz="1200" b="0">
                <a:solidFill>
                  <a:srgbClr val="727272"/>
                </a:solidFill>
                <a:latin typeface="Noto Sans KR"/>
                <a:ea typeface="Noto Sans KR"/>
                <a:cs typeface="Noto Sans KR"/>
              </a:defRPr>
            </a:pPr>
            <a:r>
              <a:rPr sz="1200" b="0">
                <a:solidFill>
                  <a:srgbClr val="727272"/>
                </a:solidFill>
                <a:latin typeface="Noto Sans KR"/>
                <a:ea typeface="Noto Sans KR"/>
                <a:cs typeface="Noto Sans KR"/>
              </a:rPr>
              <a:t>공개 음원을 합친 시연. 별도 DB와 실험 LSTM 사용, 확인 의견 미입력. YAMNet 웹 적용 영상 아님.</a:t>
            </a:r>
          </a:p>
        </p:txBody>
      </p:sp>
    </p:spTree>
    <p:extLst>
      <p:ext uri="{BB962C8B-B14F-4D97-AF65-F5344CB8AC3E}">
        <p14:creationId xmlns:p14="http://schemas.microsoft.com/office/powerpoint/2010/main" val="1799597961"/>
      </p:ext>
    </p:extLst>
  </p:cSld>
</p:sld>
</file>

<file path=ppt/slides/slide20.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9E679B3-10EF-4A4B-88DB-17E9AEE84FBA}"/>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970E875A-D78A-41D5-AF51-163F7B942A33}"/>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05</a:t>
            </a:r>
            <a:endParaRPr sz="1000"/>
          </a:p>
        </p:txBody>
      </p:sp>
      <p:sp>
        <p:nvSpPr>
          <p:cNvPr id="4" name="Text 2">
            <a:extLst xmlns:a="http://schemas.openxmlformats.org/drawingml/2006/main">
              <a:ext uri="{FF2B5EF4-FFF2-40B4-BE49-F238E27FC236}">
                <a16:creationId xmlns:a16="http://schemas.microsoft.com/office/drawing/2014/main" id="{32AFDCDC-D760-46E8-9ED9-5F3262D77565}"/>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남은 작업과 일정</a:t>
            </a:r>
            <a:endParaRPr sz="1100"/>
          </a:p>
        </p:txBody>
      </p:sp>
      <p:sp>
        <p:nvSpPr>
          <p:cNvPr id="5" name="Text 3">
            <a:extLst xmlns:a="http://schemas.openxmlformats.org/drawingml/2006/main">
              <a:ext uri="{FF2B5EF4-FFF2-40B4-BE49-F238E27FC236}">
                <a16:creationId xmlns:a16="http://schemas.microsoft.com/office/drawing/2014/main" id="{B2D49E16-D12B-4370-860A-97FE3AB67554}"/>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지금 되는 기능과 앞으로 확인할 것</a:t>
            </a:r>
            <a:endParaRPr sz="2600"/>
          </a:p>
        </p:txBody>
      </p:sp>
      <p:sp>
        <p:nvSpPr>
          <p:cNvPr id="33" name="Text 31">
            <a:extLst xmlns:a="http://schemas.openxmlformats.org/drawingml/2006/main">
              <a:ext uri="{FF2B5EF4-FFF2-40B4-BE49-F238E27FC236}">
                <a16:creationId xmlns:a16="http://schemas.microsoft.com/office/drawing/2014/main" id="{A7944155-4840-4310-B508-58D47DAC944D}"/>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20 / 23</a:t>
            </a:r>
            <a:endParaRPr sz="900"/>
          </a:p>
        </p:txBody>
      </p:sp>
      <p:graphicFrame>
        <p:nvGraphicFramePr>
          <p:cNvPr id="34" name="">
            <a:extLst xmlns:a="http://schemas.openxmlformats.org/drawingml/2006/main">
              <a:ext uri="{FF2B5EF4-FFF2-40B4-BE49-F238E27FC236}">
                <a16:creationId xmlns:a16="http://schemas.microsoft.com/office/drawing/2014/main" id="{A6B87151-23BF-4C36-9EC7-88C56F93370B}"/>
              </a:ext>
            </a:extLst>
          </p:cNvPr>
          <p:cNvGraphicFramePr/>
          <p:nvPr/>
        </p:nvGraphicFramePr>
        <p:xfrm>
          <a:off xmlns:a="http://schemas.openxmlformats.org/drawingml/2006/main" x="504825" y="1762125"/>
          <a:ext xmlns:a="http://schemas.openxmlformats.org/drawingml/2006/main" cx="11182350" cy="3524250"/>
        </p:xfrm>
        <a:graphic xmlns:a="http://schemas.openxmlformats.org/drawingml/2006/main">
          <a:graphicData uri="http://schemas.openxmlformats.org/drawingml/2006/table">
            <a:tbl>
              <a:tblPr/>
              <a:tblGrid>
                <a:gridCol w="1905000"/>
                <a:gridCol w="4800600"/>
                <a:gridCol w="4476750"/>
              </a:tblGrid>
              <a:tr h="587375">
                <a:tc>
                  <a:txBody>
                    <a:bodyPr lIns="114300" tIns="114300" rIns="114300" bIns="114300">
                      <a:noAutofit/>
                    </a:bodyPr>
                    <a:lstStyle/>
                    <a:p>
                      <a:pPr algn="l">
                        <a:buNone/>
                      </a:pPr>
                      <a:r>
                        <a:rPr sz="1500" b="1">
                          <a:solidFill>
                            <a:srgbClr val="FFFFFF"/>
                          </a:solidFill>
                          <a:latin typeface="Noto Sans KR"/>
                          <a:ea typeface="Noto Sans KR"/>
                          <a:cs typeface="Noto Sans KR"/>
                        </a:rPr>
                        <a:t>부분</a:t>
                      </a:r>
                    </a:p>
                  </a:txBody>
                  <a:tcPr marL="152400" marR="133350" marT="114300" marB="114300" anchor="ctr">
                    <a:lnL w="9525">
                      <a:solidFill>
                        <a:srgbClr val="D3D3D3"/>
                      </a:solidFill>
                      <a:prstDash val="solid"/>
                    </a:lnL>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114300" tIns="114300" rIns="114300" bIns="114300">
                      <a:noAutofit/>
                    </a:bodyPr>
                    <a:lstStyle/>
                    <a:p>
                      <a:pPr algn="l">
                        <a:buNone/>
                      </a:pPr>
                      <a:r>
                        <a:rPr sz="1500" b="1">
                          <a:solidFill>
                            <a:srgbClr val="FFFFFF"/>
                          </a:solidFill>
                          <a:latin typeface="Noto Sans KR"/>
                          <a:ea typeface="Noto Sans KR"/>
                          <a:cs typeface="Noto Sans KR"/>
                        </a:rPr>
                        <a:t>지금 확인한 것</a:t>
                      </a:r>
                    </a:p>
                  </a:txBody>
                  <a:tcPr marL="152400" marR="133350" marT="114300" marB="1143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114300" tIns="114300" rIns="114300" bIns="114300">
                      <a:noAutofit/>
                    </a:bodyPr>
                    <a:lstStyle/>
                    <a:p>
                      <a:pPr algn="l">
                        <a:buNone/>
                      </a:pPr>
                      <a:r>
                        <a:rPr sz="1500" b="1">
                          <a:solidFill>
                            <a:srgbClr val="FFFFFF"/>
                          </a:solidFill>
                          <a:latin typeface="Noto Sans KR"/>
                          <a:ea typeface="Noto Sans KR"/>
                          <a:cs typeface="Noto Sans KR"/>
                        </a:rPr>
                        <a:t>다음 작업</a:t>
                      </a:r>
                    </a:p>
                  </a:txBody>
                  <a:tcPr marL="152400" marR="133350" marT="114300" marB="1143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r>
              <a:tr h="587375">
                <a:tc>
                  <a:txBody>
                    <a:bodyPr lIns="114300" tIns="114300" rIns="114300" bIns="114300">
                      <a:noAutofit/>
                    </a:bodyPr>
                    <a:lstStyle/>
                    <a:p>
                      <a:pPr algn="l">
                        <a:buNone/>
                      </a:pPr>
                      <a:r>
                        <a:rPr sz="1500" b="0">
                          <a:solidFill>
                            <a:srgbClr val="272626"/>
                          </a:solidFill>
                          <a:latin typeface="Noto Sans KR"/>
                          <a:ea typeface="Noto Sans KR"/>
                          <a:cs typeface="Noto Sans KR"/>
                        </a:rPr>
                        <a:t>전체 사용 흐름</a:t>
                      </a:r>
                    </a:p>
                  </a:txBody>
                  <a:tcPr marL="152400" marR="133350" marT="114300" marB="1143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외출 기록, 의견, 요약과 원본 연결</a:t>
                      </a:r>
                    </a:p>
                  </a:txBody>
                  <a:tcPr marL="152400" marR="133350" marT="114300" marB="114300" anchor="ctr">
                    <a:lnR w="9525">
                      <a:solidFill>
                        <a:srgbClr val="D3D3D3"/>
                      </a:solidFill>
                      <a:prstDash val="solid"/>
                    </a:lnR>
                    <a:lnB w="9525">
                      <a:solidFill>
                        <a:srgbClr val="D3D3D3"/>
                      </a:solidFill>
                      <a:prstDash val="solid"/>
                    </a:lnB>
                    <a:solidFill>
                      <a:srgbClr val="FAFAFA"/>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실제 마이크·웹캠으로 처음부터 끝까지 시연</a:t>
                      </a:r>
                    </a:p>
                  </a:txBody>
                  <a:tcPr marL="152400" marR="133350" marT="114300" marB="114300" anchor="ctr">
                    <a:lnR w="9525">
                      <a:solidFill>
                        <a:srgbClr val="D3D3D3"/>
                      </a:solidFill>
                      <a:prstDash val="solid"/>
                    </a:lnR>
                    <a:lnB w="9525">
                      <a:solidFill>
                        <a:srgbClr val="D3D3D3"/>
                      </a:solidFill>
                      <a:prstDash val="solid"/>
                    </a:lnB>
                    <a:solidFill>
                      <a:srgbClr val="FAFAFA"/>
                    </a:solidFill>
                  </a:tcPr>
                </a:tc>
              </a:tr>
              <a:tr h="587375">
                <a:tc>
                  <a:txBody>
                    <a:bodyPr lIns="114300" tIns="114300" rIns="114300" bIns="114300">
                      <a:noAutofit/>
                    </a:bodyPr>
                    <a:lstStyle/>
                    <a:p>
                      <a:pPr algn="l">
                        <a:buNone/>
                      </a:pPr>
                      <a:r>
                        <a:rPr sz="1500" b="0">
                          <a:solidFill>
                            <a:srgbClr val="272626"/>
                          </a:solidFill>
                          <a:latin typeface="Noto Sans KR"/>
                          <a:ea typeface="Noto Sans KR"/>
                          <a:cs typeface="Noto Sans KR"/>
                        </a:rPr>
                        <a:t>짖음 분석</a:t>
                      </a:r>
                    </a:p>
                  </a:txBody>
                  <a:tcPr marL="152400" marR="133350" marT="114300" marB="1143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YAMNet·결합 LSTM·AudioSet 재학습 비교</a:t>
                      </a:r>
                    </a:p>
                  </a:txBody>
                  <a:tcPr marL="152400" marR="133350" marT="114300" marB="114300" anchor="ctr">
                    <a:lnR w="9525">
                      <a:solidFill>
                        <a:srgbClr val="D3D3D3"/>
                      </a:solidFill>
                      <a:prstDash val="solid"/>
                    </a:lnR>
                    <a:lnB w="9525">
                      <a:solidFill>
                        <a:srgbClr val="D3D3D3"/>
                      </a:solidFill>
                      <a:prstDash val="solid"/>
                    </a:lnB>
                    <a:solidFill>
                      <a:srgbClr val="E3E3E3"/>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짧은 짖음 개선과 실제 가정 평가</a:t>
                      </a:r>
                    </a:p>
                  </a:txBody>
                  <a:tcPr marL="152400" marR="133350" marT="114300" marB="114300" anchor="ctr">
                    <a:lnR w="9525">
                      <a:solidFill>
                        <a:srgbClr val="D3D3D3"/>
                      </a:solidFill>
                      <a:prstDash val="solid"/>
                    </a:lnR>
                    <a:lnB w="9525">
                      <a:solidFill>
                        <a:srgbClr val="D3D3D3"/>
                      </a:solidFill>
                      <a:prstDash val="solid"/>
                    </a:lnB>
                    <a:solidFill>
                      <a:srgbClr val="E3E3E3"/>
                    </a:solidFill>
                  </a:tcPr>
                </a:tc>
              </a:tr>
              <a:tr h="587375">
                <a:tc>
                  <a:txBody>
                    <a:bodyPr lIns="114300" tIns="114300" rIns="114300" bIns="114300">
                      <a:noAutofit/>
                    </a:bodyPr>
                    <a:lstStyle/>
                    <a:p>
                      <a:pPr algn="l">
                        <a:buNone/>
                      </a:pPr>
                      <a:r>
                        <a:rPr sz="1500" b="0">
                          <a:solidFill>
                            <a:srgbClr val="272626"/>
                          </a:solidFill>
                          <a:latin typeface="Noto Sans KR"/>
                          <a:ea typeface="Noto Sans KR"/>
                          <a:cs typeface="Noto Sans KR"/>
                        </a:rPr>
                        <a:t>기록 검색·설명</a:t>
                      </a:r>
                    </a:p>
                  </a:txBody>
                  <a:tcPr marL="152400" marR="133350" marT="114300" marB="1143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다음 확인 제안, 케어 설명 오류 차단</a:t>
                      </a:r>
                    </a:p>
                  </a:txBody>
                  <a:tcPr marL="152400" marR="133350" marT="114300" marB="114300" anchor="ctr">
                    <a:lnR w="9525">
                      <a:solidFill>
                        <a:srgbClr val="D3D3D3"/>
                      </a:solidFill>
                      <a:prstDash val="solid"/>
                    </a:lnR>
                    <a:lnB w="9525">
                      <a:solidFill>
                        <a:srgbClr val="D3D3D3"/>
                      </a:solidFill>
                      <a:prstDash val="solid"/>
                    </a:lnB>
                    <a:solidFill>
                      <a:srgbClr val="FAFAFA"/>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실제 질문과 설명 내용 확인</a:t>
                      </a:r>
                    </a:p>
                  </a:txBody>
                  <a:tcPr marL="152400" marR="133350" marT="114300" marB="114300" anchor="ctr">
                    <a:lnR w="9525">
                      <a:solidFill>
                        <a:srgbClr val="D3D3D3"/>
                      </a:solidFill>
                      <a:prstDash val="solid"/>
                    </a:lnR>
                    <a:lnB w="9525">
                      <a:solidFill>
                        <a:srgbClr val="D3D3D3"/>
                      </a:solidFill>
                      <a:prstDash val="solid"/>
                    </a:lnB>
                    <a:solidFill>
                      <a:srgbClr val="FAFAFA"/>
                    </a:solidFill>
                  </a:tcPr>
                </a:tc>
              </a:tr>
              <a:tr h="587375">
                <a:tc>
                  <a:txBody>
                    <a:bodyPr lIns="114300" tIns="114300" rIns="114300" bIns="114300">
                      <a:noAutofit/>
                    </a:bodyPr>
                    <a:lstStyle/>
                    <a:p>
                      <a:pPr algn="l">
                        <a:buNone/>
                      </a:pPr>
                      <a:r>
                        <a:rPr sz="1500" b="0">
                          <a:solidFill>
                            <a:srgbClr val="272626"/>
                          </a:solidFill>
                          <a:latin typeface="Noto Sans KR"/>
                          <a:ea typeface="Noto Sans KR"/>
                          <a:cs typeface="Noto Sans KR"/>
                        </a:rPr>
                        <a:t>프로그램 동작</a:t>
                      </a:r>
                    </a:p>
                  </a:txBody>
                  <a:tcPr marL="152400" marR="133350" marT="114300" marB="1143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Python 156개 / Flutter 21개 테스트 통과</a:t>
                      </a:r>
                    </a:p>
                  </a:txBody>
                  <a:tcPr marL="152400" marR="133350" marT="114300" marB="114300" anchor="ctr">
                    <a:lnR w="9525">
                      <a:solidFill>
                        <a:srgbClr val="D3D3D3"/>
                      </a:solidFill>
                      <a:prstDash val="solid"/>
                    </a:lnR>
                    <a:lnB w="9525">
                      <a:solidFill>
                        <a:srgbClr val="D3D3D3"/>
                      </a:solidFill>
                      <a:prstDash val="solid"/>
                    </a:lnB>
                    <a:solidFill>
                      <a:srgbClr val="E3E3E3"/>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장시간 녹음과 연결 끊김 시험</a:t>
                      </a:r>
                    </a:p>
                  </a:txBody>
                  <a:tcPr marL="152400" marR="133350" marT="114300" marB="114300" anchor="ctr">
                    <a:lnR w="9525">
                      <a:solidFill>
                        <a:srgbClr val="D3D3D3"/>
                      </a:solidFill>
                      <a:prstDash val="solid"/>
                    </a:lnR>
                    <a:lnB w="9525">
                      <a:solidFill>
                        <a:srgbClr val="D3D3D3"/>
                      </a:solidFill>
                      <a:prstDash val="solid"/>
                    </a:lnB>
                    <a:solidFill>
                      <a:srgbClr val="E3E3E3"/>
                    </a:solidFill>
                  </a:tcPr>
                </a:tc>
              </a:tr>
              <a:tr h="587375">
                <a:tc>
                  <a:txBody>
                    <a:bodyPr lIns="114300" tIns="114300" rIns="114300" bIns="114300">
                      <a:noAutofit/>
                    </a:bodyPr>
                    <a:lstStyle/>
                    <a:p>
                      <a:pPr algn="l">
                        <a:buNone/>
                      </a:pPr>
                      <a:r>
                        <a:rPr sz="1500" b="0">
                          <a:solidFill>
                            <a:srgbClr val="272626"/>
                          </a:solidFill>
                          <a:latin typeface="Noto Sans KR"/>
                          <a:ea typeface="Noto Sans KR"/>
                          <a:cs typeface="Noto Sans KR"/>
                        </a:rPr>
                        <a:t>음악·외부 접속</a:t>
                      </a:r>
                    </a:p>
                  </a:txBody>
                  <a:tcPr marL="152400" marR="133350" marT="114300" marB="1143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실행 요청과 응답을 주고받는 기능</a:t>
                      </a:r>
                    </a:p>
                  </a:txBody>
                  <a:tcPr marL="152400" marR="133350" marT="114300" marB="114300" anchor="ctr">
                    <a:lnR w="9525">
                      <a:solidFill>
                        <a:srgbClr val="D3D3D3"/>
                      </a:solidFill>
                      <a:prstDash val="solid"/>
                    </a:lnR>
                    <a:lnB w="9525">
                      <a:solidFill>
                        <a:srgbClr val="D3D3D3"/>
                      </a:solidFill>
                      <a:prstDash val="solid"/>
                    </a:lnB>
                    <a:solidFill>
                      <a:srgbClr val="FAFAFA"/>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스피커 재생과 사용자 확인 기능</a:t>
                      </a:r>
                    </a:p>
                  </a:txBody>
                  <a:tcPr marL="152400" marR="133350" marT="114300" marB="114300" anchor="ctr">
                    <a:lnR w="9525">
                      <a:solidFill>
                        <a:srgbClr val="D3D3D3"/>
                      </a:solidFill>
                      <a:prstDash val="solid"/>
                    </a:lnR>
                    <a:lnB w="9525">
                      <a:solidFill>
                        <a:srgbClr val="D3D3D3"/>
                      </a:solidFill>
                      <a:prstDash val="solid"/>
                    </a:lnB>
                    <a:solidFill>
                      <a:srgbClr val="FAFAFA"/>
                    </a:solidFill>
                  </a:tcPr>
                </a:tc>
              </a:tr>
            </a:tbl>
          </a:graphicData>
        </a:graphic>
      </p:graphicFrame>
      <p:sp>
        <p:nvSpPr>
          <p:cNvPr id="35" name="status-main">
            <a:extLst xmlns:a="http://schemas.openxmlformats.org/drawingml/2006/main">
              <a:ext uri="{FF2B5EF4-FFF2-40B4-BE49-F238E27FC236}">
                <a16:creationId xmlns:a16="http://schemas.microsoft.com/office/drawing/2014/main" id="{18BB3064-3B4A-4574-8023-23404879D3C3}"/>
              </a:ext>
            </a:extLst>
          </p:cNvPr>
          <p:cNvSpPr>
            <a:spLocks xmlns:a="http://schemas.openxmlformats.org/drawingml/2006/main" noGrp="1"/>
          </p:cNvSpPr>
          <p:nvPr/>
        </p:nvSpPr>
        <p:spPr>
          <a:xfrm xmlns:a="http://schemas.openxmlformats.org/drawingml/2006/main">
            <a:off x="504825" y="5495925"/>
            <a:ext cx="11182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1">
                <a:solidFill>
                  <a:srgbClr val="272626"/>
                </a:solidFill>
                <a:latin typeface="Noto Sans KR"/>
                <a:ea typeface="Noto Sans KR"/>
                <a:cs typeface="Noto Sans KR"/>
              </a:defRPr>
            </a:defPPr>
          </a:lstStyle>
          <a:p xmlns:a="http://schemas.openxmlformats.org/drawingml/2006/main">
            <a:pPr>
              <a:buNone/>
              <a:defRPr sz="1875" b="1">
                <a:solidFill>
                  <a:srgbClr val="272626"/>
                </a:solidFill>
                <a:latin typeface="Noto Sans KR"/>
                <a:ea typeface="Noto Sans KR"/>
                <a:cs typeface="Noto Sans KR"/>
              </a:defRPr>
            </a:pPr>
            <a:r>
              <a:rPr sz="1725" b="1">
                <a:solidFill>
                  <a:srgbClr val="272626"/>
                </a:solidFill>
                <a:latin typeface="Noto Sans KR"/>
                <a:ea typeface="Noto Sans KR"/>
                <a:cs typeface="Noto Sans KR"/>
              </a:rPr>
              <a:t>현재: 전체 흐름을 보여줄 수 있는 시제품, 실제 가정 테스트는 앞으로 진행</a:t>
            </a:r>
          </a:p>
        </p:txBody>
      </p:sp>
      <p:sp>
        <p:nvSpPr>
          <p:cNvPr id="36" name="status-caveat">
            <a:extLst xmlns:a="http://schemas.openxmlformats.org/drawingml/2006/main">
              <a:ext uri="{FF2B5EF4-FFF2-40B4-BE49-F238E27FC236}">
                <a16:creationId xmlns:a16="http://schemas.microsoft.com/office/drawing/2014/main" id="{7A190ADB-311D-4A31-AB83-632687B4A299}"/>
              </a:ext>
            </a:extLst>
          </p:cNvPr>
          <p:cNvSpPr>
            <a:spLocks xmlns:a="http://schemas.openxmlformats.org/drawingml/2006/main" noGrp="1"/>
          </p:cNvSpPr>
          <p:nvPr/>
        </p:nvSpPr>
        <p:spPr>
          <a:xfrm xmlns:a="http://schemas.openxmlformats.org/drawingml/2006/main">
            <a:off x="504825" y="5953125"/>
            <a:ext cx="11182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75" b="0">
                <a:solidFill>
                  <a:srgbClr val="727272"/>
                </a:solidFill>
                <a:latin typeface="Noto Sans KR"/>
                <a:ea typeface="Noto Sans KR"/>
                <a:cs typeface="Noto Sans KR"/>
              </a:defRPr>
            </a:defPPr>
          </a:lstStyle>
          <a:p xmlns:a="http://schemas.openxmlformats.org/drawingml/2006/main">
            <a:pPr>
              <a:buNone/>
              <a:defRPr sz="1275" b="0">
                <a:solidFill>
                  <a:srgbClr val="727272"/>
                </a:solidFill>
                <a:latin typeface="Noto Sans KR"/>
                <a:ea typeface="Noto Sans KR"/>
                <a:cs typeface="Noto Sans KR"/>
              </a:defRPr>
            </a:pPr>
            <a:r>
              <a:rPr sz="1275" b="0">
                <a:solidFill>
                  <a:srgbClr val="727272"/>
                </a:solidFill>
                <a:latin typeface="Noto Sans KR"/>
                <a:ea typeface="Noto Sans KR"/>
                <a:cs typeface="Noto Sans KR"/>
              </a:rPr>
              <a:t>자동 테스트 통과는 소리 분석의 정확도나 실제 장비의 안정성을 의미하지 않습니다.</a:t>
            </a:r>
          </a:p>
        </p:txBody>
      </p:sp>
    </p:spTree>
    <p:extLst>
      <p:ext uri="{BB962C8B-B14F-4D97-AF65-F5344CB8AC3E}">
        <p14:creationId xmlns:p14="http://schemas.microsoft.com/office/powerpoint/2010/main" val="1816278755"/>
      </p:ext>
    </p:extLst>
  </p:cSld>
</p:sld>
</file>

<file path=ppt/slides/slide21.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289C1E-99AD-4E6C-8DF9-35705F86164E}"/>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341D240C-22CC-4AC2-83B6-8DBD656C2542}"/>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05</a:t>
            </a:r>
            <a:endParaRPr sz="1000"/>
          </a:p>
        </p:txBody>
      </p:sp>
      <p:sp>
        <p:nvSpPr>
          <p:cNvPr id="4" name="Text 2">
            <a:extLst xmlns:a="http://schemas.openxmlformats.org/drawingml/2006/main">
              <a:ext uri="{FF2B5EF4-FFF2-40B4-BE49-F238E27FC236}">
                <a16:creationId xmlns:a16="http://schemas.microsoft.com/office/drawing/2014/main" id="{CCFDC6F7-F93F-4352-87D1-4EF43BBE8653}"/>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남은 작업과 일정</a:t>
            </a:r>
            <a:endParaRPr sz="1100"/>
          </a:p>
        </p:txBody>
      </p:sp>
      <p:sp>
        <p:nvSpPr>
          <p:cNvPr id="5" name="Text 3">
            <a:extLst xmlns:a="http://schemas.openxmlformats.org/drawingml/2006/main">
              <a:ext uri="{FF2B5EF4-FFF2-40B4-BE49-F238E27FC236}">
                <a16:creationId xmlns:a16="http://schemas.microsoft.com/office/drawing/2014/main" id="{774D45A9-F58C-47AD-84BC-112F75C0F475}"/>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LSTM의 다음 역할은 연속 짖음 패턴 실험</a:t>
            </a:r>
            <a:endParaRPr sz="2600"/>
          </a:p>
        </p:txBody>
      </p:sp>
      <p:sp>
        <p:nvSpPr>
          <p:cNvPr id="29" name="Text 27">
            <a:extLst xmlns:a="http://schemas.openxmlformats.org/drawingml/2006/main">
              <a:ext uri="{FF2B5EF4-FFF2-40B4-BE49-F238E27FC236}">
                <a16:creationId xmlns:a16="http://schemas.microsoft.com/office/drawing/2014/main" id="{B6625806-1698-423B-B419-8819E1580911}"/>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21 / 23</a:t>
            </a:r>
            <a:endParaRPr sz="900"/>
          </a:p>
        </p:txBody>
      </p:sp>
      <p:sp>
        <p:nvSpPr>
          <p:cNvPr id="30" name="proposal">
            <a:extLst xmlns:a="http://schemas.openxmlformats.org/drawingml/2006/main">
              <a:ext uri="{FF2B5EF4-FFF2-40B4-BE49-F238E27FC236}">
                <a16:creationId xmlns:a16="http://schemas.microsoft.com/office/drawing/2014/main" id="{5583F208-92BA-49A6-B916-F21EF2DE9108}"/>
              </a:ext>
            </a:extLst>
          </p:cNvPr>
          <p:cNvSpPr>
            <a:spLocks xmlns:a="http://schemas.openxmlformats.org/drawingml/2006/main" noGrp="1"/>
          </p:cNvSpPr>
          <p:nvPr/>
        </p:nvSpPr>
        <p:spPr>
          <a:xfrm xmlns:a="http://schemas.openxmlformats.org/drawingml/2006/main">
            <a:off x="504825" y="1866900"/>
            <a:ext cx="11182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272626"/>
                </a:solidFill>
                <a:latin typeface="Noto Sans KR"/>
                <a:ea typeface="Noto Sans KR"/>
                <a:cs typeface="Noto Sans KR"/>
              </a:defRPr>
            </a:defPPr>
          </a:lstStyle>
          <a:p xmlns:a="http://schemas.openxmlformats.org/drawingml/2006/main">
            <a:pPr>
              <a:buNone/>
              <a:defRPr sz="2175" b="1">
                <a:solidFill>
                  <a:srgbClr val="272626"/>
                </a:solidFill>
                <a:latin typeface="Noto Sans KR"/>
                <a:ea typeface="Noto Sans KR"/>
                <a:cs typeface="Noto Sans KR"/>
              </a:defRPr>
            </a:pPr>
            <a:r>
              <a:rPr sz="2175" b="1">
                <a:solidFill>
                  <a:srgbClr val="272626"/>
                </a:solidFill>
                <a:latin typeface="Noto Sans KR"/>
                <a:ea typeface="Noto Sans KR"/>
                <a:cs typeface="Noto Sans KR"/>
              </a:rPr>
              <a:t>제안 단계: 한 번의 소리보다 일정 시간의 반복 양상을 분석</a:t>
            </a:r>
          </a:p>
        </p:txBody>
      </p:sp>
      <p:graphicFrame>
        <p:nvGraphicFramePr>
          <p:cNvPr id="31" name="">
            <a:extLst xmlns:a="http://schemas.openxmlformats.org/drawingml/2006/main">
              <a:ext uri="{FF2B5EF4-FFF2-40B4-BE49-F238E27FC236}">
                <a16:creationId xmlns:a16="http://schemas.microsoft.com/office/drawing/2014/main" id="{FA4B9B85-DD81-409A-95D4-CB48542B1F35}"/>
              </a:ext>
            </a:extLst>
          </p:cNvPr>
          <p:cNvGraphicFramePr/>
          <p:nvPr/>
        </p:nvGraphicFramePr>
        <p:xfrm>
          <a:off xmlns:a="http://schemas.openxmlformats.org/drawingml/2006/main" x="504825" y="2695575"/>
          <a:ext xmlns:a="http://schemas.openxmlformats.org/drawingml/2006/main" cx="11182350" cy="2143125"/>
        </p:xfrm>
        <a:graphic xmlns:a="http://schemas.openxmlformats.org/drawingml/2006/main">
          <a:graphicData uri="http://schemas.openxmlformats.org/drawingml/2006/table">
            <a:tbl>
              <a:tblPr/>
              <a:tblGrid>
                <a:gridCol w="5334000"/>
                <a:gridCol w="5848350"/>
              </a:tblGrid>
              <a:tr h="535781">
                <a:tc>
                  <a:txBody>
                    <a:bodyPr lIns="95250" tIns="95250" rIns="95250" bIns="95250">
                      <a:noAutofit/>
                    </a:bodyPr>
                    <a:lstStyle/>
                    <a:p>
                      <a:pPr algn="l">
                        <a:buNone/>
                      </a:pPr>
                      <a:r>
                        <a:rPr sz="1725" b="1">
                          <a:solidFill>
                            <a:srgbClr val="FFFFFF"/>
                          </a:solidFill>
                          <a:latin typeface="Noto Sans KR"/>
                          <a:ea typeface="Noto Sans KR"/>
                          <a:cs typeface="Noto Sans KR"/>
                        </a:rPr>
                        <a:t>입력과 역할</a:t>
                      </a:r>
                    </a:p>
                  </a:txBody>
                  <a:tcPr marL="133350" marR="95250" marT="76200" marB="76200" anchor="ctr">
                    <a:lnL w="9525">
                      <a:solidFill>
                        <a:srgbClr val="D3D3D3"/>
                      </a:solidFill>
                      <a:prstDash val="solid"/>
                    </a:lnL>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725" b="1">
                          <a:solidFill>
                            <a:srgbClr val="FFFFFF"/>
                          </a:solidFill>
                          <a:latin typeface="Noto Sans KR"/>
                          <a:ea typeface="Noto Sans KR"/>
                          <a:cs typeface="Noto Sans KR"/>
                        </a:rPr>
                        <a:t>앞으로 확인할 것</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r>
              <a:tr h="535781">
                <a:tc>
                  <a:txBody>
                    <a:bodyPr lIns="95250" tIns="95250" rIns="95250" bIns="95250">
                      <a:noAutofit/>
                    </a:bodyPr>
                    <a:lstStyle/>
                    <a:p>
                      <a:pPr algn="l">
                        <a:buNone/>
                      </a:pPr>
                      <a:r>
                        <a:rPr sz="1725" b="0">
                          <a:solidFill>
                            <a:srgbClr val="272626"/>
                          </a:solidFill>
                          <a:latin typeface="Noto Sans KR"/>
                          <a:ea typeface="Noto Sans KR"/>
                          <a:cs typeface="Noto Sans KR"/>
                        </a:rPr>
                        <a:t>YAMNet으로 짧은 소리 특징 추출</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725" b="0">
                          <a:solidFill>
                            <a:srgbClr val="272626"/>
                          </a:solidFill>
                          <a:latin typeface="Noto Sans KR"/>
                          <a:ea typeface="Noto Sans KR"/>
                          <a:cs typeface="Noto Sans KR"/>
                        </a:rPr>
                        <a:t>개 짖음 소리 후보와 점수의 시간 변화</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535781">
                <a:tc>
                  <a:txBody>
                    <a:bodyPr lIns="95250" tIns="95250" rIns="95250" bIns="95250">
                      <a:noAutofit/>
                    </a:bodyPr>
                    <a:lstStyle/>
                    <a:p>
                      <a:pPr algn="l">
                        <a:buNone/>
                      </a:pPr>
                      <a:r>
                        <a:rPr sz="1725" b="0">
                          <a:solidFill>
                            <a:srgbClr val="272626"/>
                          </a:solidFill>
                          <a:latin typeface="Noto Sans KR"/>
                          <a:ea typeface="Noto Sans KR"/>
                          <a:cs typeface="Noto Sans KR"/>
                        </a:rPr>
                        <a:t>LSTM으로 20~60초 흐름 학습</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725" b="0">
                          <a:solidFill>
                            <a:srgbClr val="272626"/>
                          </a:solidFill>
                          <a:latin typeface="Noto Sans KR"/>
                          <a:ea typeface="Noto Sans KR"/>
                          <a:cs typeface="Noto Sans KR"/>
                        </a:rPr>
                        <a:t>간헐적 짖음과 반복·지속 양상 구분 가능성</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r h="535781">
                <a:tc>
                  <a:txBody>
                    <a:bodyPr lIns="95250" tIns="95250" rIns="95250" bIns="95250">
                      <a:noAutofit/>
                    </a:bodyPr>
                    <a:lstStyle/>
                    <a:p>
                      <a:pPr algn="l">
                        <a:buNone/>
                      </a:pPr>
                      <a:r>
                        <a:rPr sz="1725" b="0">
                          <a:solidFill>
                            <a:srgbClr val="272626"/>
                          </a:solidFill>
                          <a:latin typeface="Noto Sans KR"/>
                          <a:ea typeface="Noto Sans KR"/>
                          <a:cs typeface="Noto Sans KR"/>
                        </a:rPr>
                        <a:t>단순 횟수·간격 규칙과 비교</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725" b="0">
                          <a:solidFill>
                            <a:srgbClr val="272626"/>
                          </a:solidFill>
                          <a:latin typeface="Noto Sans KR"/>
                          <a:ea typeface="Noto Sans KR"/>
                          <a:cs typeface="Noto Sans KR"/>
                        </a:rPr>
                        <a:t>복잡한 모델을 추가할 실질적 이득이 있는가</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bl>
          </a:graphicData>
        </a:graphic>
      </p:graphicFrame>
      <p:sp>
        <p:nvSpPr>
          <p:cNvPr id="32" name="need">
            <a:extLst xmlns:a="http://schemas.openxmlformats.org/drawingml/2006/main">
              <a:ext uri="{FF2B5EF4-FFF2-40B4-BE49-F238E27FC236}">
                <a16:creationId xmlns:a16="http://schemas.microsoft.com/office/drawing/2014/main" id="{D77A44F0-9C32-424C-9642-88A19F1A574F}"/>
              </a:ext>
            </a:extLst>
          </p:cNvPr>
          <p:cNvSpPr>
            <a:spLocks xmlns:a="http://schemas.openxmlformats.org/drawingml/2006/main" noGrp="1"/>
          </p:cNvSpPr>
          <p:nvPr/>
        </p:nvSpPr>
        <p:spPr>
          <a:xfrm xmlns:a="http://schemas.openxmlformats.org/drawingml/2006/main">
            <a:off x="504825" y="5181600"/>
            <a:ext cx="11182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72626"/>
                </a:solidFill>
                <a:latin typeface="Noto Sans KR"/>
                <a:ea typeface="Noto Sans KR"/>
                <a:cs typeface="Noto Sans KR"/>
              </a:defRPr>
            </a:defPPr>
          </a:lstStyle>
          <a:p xmlns:a="http://schemas.openxmlformats.org/drawingml/2006/main">
            <a:pPr>
              <a:buNone/>
              <a:defRPr sz="1725" b="0">
                <a:solidFill>
                  <a:srgbClr val="272626"/>
                </a:solidFill>
                <a:latin typeface="Noto Sans KR"/>
                <a:ea typeface="Noto Sans KR"/>
                <a:cs typeface="Noto Sans KR"/>
              </a:defRPr>
            </a:pPr>
            <a:r>
              <a:rPr sz="1725" b="0">
                <a:solidFill>
                  <a:srgbClr val="272626"/>
                </a:solidFill>
                <a:latin typeface="Noto Sans KR"/>
                <a:ea typeface="Noto Sans KR"/>
                <a:cs typeface="Noto Sans KR"/>
              </a:rPr>
              <a:t>필요 자료: 연속 녹음, 사람이 확인한 구간 정답, 별도 가정 평가 자료</a:t>
            </a:r>
          </a:p>
        </p:txBody>
      </p:sp>
      <p:sp>
        <p:nvSpPr>
          <p:cNvPr id="33" name="limit">
            <a:extLst xmlns:a="http://schemas.openxmlformats.org/drawingml/2006/main">
              <a:ext uri="{FF2B5EF4-FFF2-40B4-BE49-F238E27FC236}">
                <a16:creationId xmlns:a16="http://schemas.microsoft.com/office/drawing/2014/main" id="{A174E35E-16E8-4D79-8F34-14EDBD23A0C9}"/>
              </a:ext>
            </a:extLst>
          </p:cNvPr>
          <p:cNvSpPr>
            <a:spLocks xmlns:a="http://schemas.openxmlformats.org/drawingml/2006/main" noGrp="1"/>
          </p:cNvSpPr>
          <p:nvPr/>
        </p:nvSpPr>
        <p:spPr>
          <a:xfrm xmlns:a="http://schemas.openxmlformats.org/drawingml/2006/main">
            <a:off x="504825" y="583882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727272"/>
                </a:solidFill>
                <a:latin typeface="Noto Sans KR"/>
                <a:ea typeface="Noto Sans KR"/>
                <a:cs typeface="Noto Sans KR"/>
              </a:defRPr>
            </a:defPPr>
          </a:lstStyle>
          <a:p xmlns:a="http://schemas.openxmlformats.org/drawingml/2006/main">
            <a:pPr>
              <a:buNone/>
              <a:defRPr sz="1200" b="0">
                <a:solidFill>
                  <a:srgbClr val="727272"/>
                </a:solidFill>
                <a:latin typeface="Noto Sans KR"/>
                <a:ea typeface="Noto Sans KR"/>
                <a:cs typeface="Noto Sans KR"/>
              </a:defRPr>
            </a:pPr>
            <a:r>
              <a:rPr sz="1200" b="0">
                <a:solidFill>
                  <a:srgbClr val="727272"/>
                </a:solidFill>
                <a:latin typeface="Noto Sans KR"/>
                <a:ea typeface="Noto Sans KR"/>
                <a:cs typeface="Noto Sans KR"/>
              </a:rPr>
              <a:t>아직 구현·검증하지 않은 후속 계획입니다. 패턴만으로 불안·감정·질환을 단정하지 않습니다.</a:t>
            </a:r>
          </a:p>
        </p:txBody>
      </p:sp>
    </p:spTree>
    <p:extLst>
      <p:ext uri="{BB962C8B-B14F-4D97-AF65-F5344CB8AC3E}">
        <p14:creationId xmlns:p14="http://schemas.microsoft.com/office/powerpoint/2010/main" val="1799597961"/>
      </p:ext>
    </p:extLst>
  </p:cSld>
</p:sld>
</file>

<file path=ppt/slides/slide22.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BE4B13F-786F-45B3-AC08-7A2DA9F9E997}"/>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087C0EF6-8874-4497-BB3D-9AE0BE21EC6C}"/>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Noto Sans KR"/>
                <a:ea typeface="Noto Sans KR"/>
                <a:cs typeface="Noto Sans KR"/>
              </a:rPr>
              <a:t>05</a:t>
            </a:r>
            <a:endParaRPr sz="1000"/>
          </a:p>
        </p:txBody>
      </p:sp>
      <p:sp>
        <p:nvSpPr>
          <p:cNvPr id="4" name="Text 2">
            <a:extLst xmlns:a="http://schemas.openxmlformats.org/drawingml/2006/main">
              <a:ext uri="{FF2B5EF4-FFF2-40B4-BE49-F238E27FC236}">
                <a16:creationId xmlns:a16="http://schemas.microsoft.com/office/drawing/2014/main" id="{95234739-A109-4867-B8CE-BE2E5B62E186}"/>
              </a:ext>
            </a:extLst>
          </p:cNvPr>
          <p:cNvSpPr>
            <a:spLocks xmlns:a="http://schemas.openxmlformats.org/drawingml/2006/main" noGrp="1"/>
          </p:cNvSpPr>
          <p:nvPr/>
        </p:nvSpPr>
        <p:spPr>
          <a:xfrm xmlns:a="http://schemas.openxmlformats.org/drawingml/2006/main">
            <a:off x="1207008"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남은 작업과 일정</a:t>
            </a:r>
            <a:endParaRPr sz="1100"/>
          </a:p>
        </p:txBody>
      </p:sp>
      <p:sp>
        <p:nvSpPr>
          <p:cNvPr id="5" name="Text 3">
            <a:extLst xmlns:a="http://schemas.openxmlformats.org/drawingml/2006/main">
              <a:ext uri="{FF2B5EF4-FFF2-40B4-BE49-F238E27FC236}">
                <a16:creationId xmlns:a16="http://schemas.microsoft.com/office/drawing/2014/main" id="{D864B015-75F7-4A81-BD17-B16B30401812}"/>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11월 7일까지의 개발 계획</a:t>
            </a:r>
            <a:endParaRPr sz="2600"/>
          </a:p>
        </p:txBody>
      </p:sp>
      <p:sp>
        <p:nvSpPr>
          <p:cNvPr id="6" name="Shape 4">
            <a:extLst xmlns:a="http://schemas.openxmlformats.org/drawingml/2006/main">
              <a:ext uri="{FF2B5EF4-FFF2-40B4-BE49-F238E27FC236}">
                <a16:creationId xmlns:a16="http://schemas.microsoft.com/office/drawing/2014/main" id="{145F9F28-1580-44C1-8D71-224989AFDDAA}"/>
              </a:ext>
            </a:extLst>
          </p:cNvPr>
          <p:cNvSpPr>
            <a:spLocks xmlns:a="http://schemas.openxmlformats.org/drawingml/2006/main" noGrp="1"/>
          </p:cNvSpPr>
          <p:nvPr/>
        </p:nvSpPr>
        <p:spPr>
          <a:xfrm xmlns:a="http://schemas.openxmlformats.org/drawingml/2006/main">
            <a:off x="1358646" y="1828800"/>
            <a:ext cx="9471660" cy="0"/>
          </a:xfrm>
          <a:prstGeom xmlns:a="http://schemas.openxmlformats.org/drawingml/2006/main" prst="line">
            <a:avLst/>
          </a:prstGeom>
          <a:noFill xmlns:a="http://schemas.openxmlformats.org/drawingml/2006/main"/>
          <a:ln xmlns:a="http://schemas.openxmlformats.org/drawingml/2006/main" w="15875">
            <a:solidFill>
              <a:srgbClr val="8A8A8A"/>
            </a:solidFill>
            <a:prstDash val="solid"/>
          </a:ln>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6CCE9698-9D67-479B-BA99-164C21F28AE3}"/>
              </a:ext>
            </a:extLst>
          </p:cNvPr>
          <p:cNvSpPr>
            <a:spLocks xmlns:a="http://schemas.openxmlformats.org/drawingml/2006/main" noGrp="1"/>
          </p:cNvSpPr>
          <p:nvPr/>
        </p:nvSpPr>
        <p:spPr>
          <a:xfrm xmlns:a="http://schemas.openxmlformats.org/drawingml/2006/main">
            <a:off x="1239774" y="1709928"/>
            <a:ext cx="237744" cy="237744"/>
          </a:xfrm>
          <a:prstGeom xmlns:a="http://schemas.openxmlformats.org/drawingml/2006/main" prst="ellipse">
            <a:avLst/>
          </a:prstGeom>
          <a:solidFill xmlns:a="http://schemas.openxmlformats.org/drawingml/2006/main">
            <a:srgbClr val="272626"/>
          </a:solidFill>
          <a:ln xmlns:a="http://schemas.openxmlformats.org/drawingml/2006/main" w="19050">
            <a:solidFill>
              <a:srgbClr val="272626"/>
            </a:solidFill>
            <a:prstDash val="solid"/>
          </a:ln>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8F35A317-537B-49C9-8F91-AC5439790FC5}"/>
              </a:ext>
            </a:extLst>
          </p:cNvPr>
          <p:cNvSpPr>
            <a:spLocks xmlns:a="http://schemas.openxmlformats.org/drawingml/2006/main" noGrp="1"/>
          </p:cNvSpPr>
          <p:nvPr/>
        </p:nvSpPr>
        <p:spPr>
          <a:xfrm xmlns:a="http://schemas.openxmlformats.org/drawingml/2006/main">
            <a:off x="502920" y="2194560"/>
            <a:ext cx="1711452" cy="2834640"/>
          </a:xfrm>
          <a:prstGeom xmlns:a="http://schemas.openxmlformats.org/drawingml/2006/main" prst="roundRect">
            <a:avLst>
              <a:gd name="adj" fmla="val 4274"/>
            </a:avLst>
          </a:prstGeom>
          <a:solidFill xmlns:a="http://schemas.openxmlformats.org/drawingml/2006/main">
            <a:srgbClr val="272626"/>
          </a:solidFill>
          <a:ln xmlns:a="http://schemas.openxmlformats.org/drawingml/2006/main" w="12700">
            <a:solidFill>
              <a:srgbClr val="272626"/>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BAC9A25F-808F-4BCE-99CD-1595D01DF963}"/>
              </a:ext>
            </a:extLst>
          </p:cNvPr>
          <p:cNvSpPr>
            <a:spLocks xmlns:a="http://schemas.openxmlformats.org/drawingml/2006/main" noGrp="1"/>
          </p:cNvSpPr>
          <p:nvPr/>
        </p:nvSpPr>
        <p:spPr>
          <a:xfrm xmlns:a="http://schemas.openxmlformats.org/drawingml/2006/main">
            <a:off x="685800" y="2377440"/>
            <a:ext cx="13456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400" b="1">
                <a:solidFill>
                  <a:srgbClr val="FFFFFF"/>
                </a:solidFill>
                <a:latin typeface="Noto Sans KR"/>
                <a:ea typeface="Noto Sans KR"/>
                <a:cs typeface="Noto Sans KR"/>
              </a:defRPr>
            </a:defPPr>
          </a:lstStyle>
          <a:p xmlns:a="http://schemas.openxmlformats.org/drawingml/2006/main">
            <a:pPr marL="0" indent="0" algn="l">
              <a:buNone/>
              <a:defRPr sz="1400" b="1">
                <a:solidFill>
                  <a:srgbClr val="FFFFFF"/>
                </a:solidFill>
                <a:latin typeface="Noto Sans KR"/>
                <a:ea typeface="Noto Sans KR"/>
                <a:cs typeface="Noto Sans KR"/>
              </a:defRPr>
            </a:pPr>
            <a:r>
              <a:rPr sz="1400" b="1">
                <a:solidFill>
                  <a:srgbClr val="FFFFFF"/>
                </a:solidFill>
                <a:latin typeface="Noto Sans KR"/>
                <a:ea typeface="Noto Sans KR"/>
                <a:cs typeface="Noto Sans KR"/>
              </a:rPr>
              <a:t>장비 연결</a:t>
            </a:r>
            <a:endParaRPr sz="1400"/>
          </a:p>
        </p:txBody>
      </p:sp>
      <p:sp>
        <p:nvSpPr>
          <p:cNvPr id="10" name="Text 8">
            <a:extLst xmlns:a="http://schemas.openxmlformats.org/drawingml/2006/main">
              <a:ext uri="{FF2B5EF4-FFF2-40B4-BE49-F238E27FC236}">
                <a16:creationId xmlns:a16="http://schemas.microsoft.com/office/drawing/2014/main" id="{1C0BC99B-538D-42FB-8F78-84E939A2648C}"/>
              </a:ext>
            </a:extLst>
          </p:cNvPr>
          <p:cNvSpPr>
            <a:spLocks xmlns:a="http://schemas.openxmlformats.org/drawingml/2006/main" noGrp="1"/>
          </p:cNvSpPr>
          <p:nvPr/>
        </p:nvSpPr>
        <p:spPr>
          <a:xfrm xmlns:a="http://schemas.openxmlformats.org/drawingml/2006/main">
            <a:off x="685800" y="2679192"/>
            <a:ext cx="134569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8A8A8A"/>
                </a:solidFill>
                <a:latin typeface="Noto Sans KR"/>
                <a:ea typeface="Noto Sans KR"/>
                <a:cs typeface="Noto Sans KR"/>
              </a:defRPr>
            </a:defPPr>
          </a:lstStyle>
          <a:p xmlns:a="http://schemas.openxmlformats.org/drawingml/2006/main">
            <a:pPr marL="0" indent="0" algn="l">
              <a:buNone/>
              <a:defRPr sz="1050" b="0">
                <a:solidFill>
                  <a:srgbClr val="8A8A8A"/>
                </a:solidFill>
                <a:latin typeface="Noto Sans KR"/>
                <a:ea typeface="Noto Sans KR"/>
                <a:cs typeface="Noto Sans KR"/>
              </a:defRPr>
            </a:pPr>
            <a:r>
              <a:rPr sz="1050" b="0">
                <a:solidFill>
                  <a:srgbClr val="8A8A8A"/>
                </a:solidFill>
                <a:latin typeface="Noto Sans KR"/>
                <a:ea typeface="Noto Sans KR"/>
                <a:cs typeface="Noto Sans KR"/>
              </a:rPr>
              <a:t>10/12~10/14</a:t>
            </a:r>
            <a:endParaRPr sz="1050"/>
          </a:p>
        </p:txBody>
      </p:sp>
      <p:sp>
        <p:nvSpPr>
          <p:cNvPr id="11" name="Text 9">
            <a:extLst xmlns:a="http://schemas.openxmlformats.org/drawingml/2006/main">
              <a:ext uri="{FF2B5EF4-FFF2-40B4-BE49-F238E27FC236}">
                <a16:creationId xmlns:a16="http://schemas.microsoft.com/office/drawing/2014/main" id="{2ED606E1-F856-49C1-92B4-8AD85BFCAC88}"/>
              </a:ext>
            </a:extLst>
          </p:cNvPr>
          <p:cNvSpPr>
            <a:spLocks xmlns:a="http://schemas.openxmlformats.org/drawingml/2006/main" noGrp="1"/>
          </p:cNvSpPr>
          <p:nvPr/>
        </p:nvSpPr>
        <p:spPr>
          <a:xfrm xmlns:a="http://schemas.openxmlformats.org/drawingml/2006/main">
            <a:off x="685800" y="3063240"/>
            <a:ext cx="1345692"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150" b="0">
                <a:solidFill>
                  <a:srgbClr val="D9D9D9"/>
                </a:solidFill>
                <a:latin typeface="Noto Sans KR"/>
                <a:ea typeface="Noto Sans KR"/>
                <a:cs typeface="Noto Sans KR"/>
              </a:defRPr>
            </a:defPPr>
          </a:lstStyle>
          <a:p xmlns:a="http://schemas.openxmlformats.org/drawingml/2006/main">
            <a:pPr marL="0" indent="0" algn="l">
              <a:lnSpc>
                <a:spcPct val="115000"/>
              </a:lnSpc>
              <a:buNone/>
              <a:defRPr sz="1150" b="0">
                <a:solidFill>
                  <a:srgbClr val="D9D9D9"/>
                </a:solidFill>
                <a:latin typeface="Noto Sans KR"/>
                <a:ea typeface="Noto Sans KR"/>
                <a:cs typeface="Noto Sans KR"/>
              </a:defRPr>
            </a:pPr>
            <a:r>
              <a:rPr sz="1150" b="0">
                <a:solidFill>
                  <a:srgbClr val="D9D9D9"/>
                </a:solidFill>
                <a:latin typeface="Noto Sans KR"/>
                <a:ea typeface="Noto Sans KR"/>
                <a:cs typeface="Noto Sans KR"/>
              </a:rPr>
              <a:t>마이크·카메라 연결</a:t>
            </a:r>
            <a:endParaRPr sz="1150"/>
          </a:p>
          <a:p xmlns:a="http://schemas.openxmlformats.org/drawingml/2006/main">
            <a:pPr marL="0" indent="0" algn="l">
              <a:lnSpc>
                <a:spcPct val="115000"/>
              </a:lnSpc>
              <a:buNone/>
              <a:defRPr sz="1150" b="0">
                <a:solidFill>
                  <a:srgbClr val="D9D9D9"/>
                </a:solidFill>
                <a:latin typeface="Noto Sans KR"/>
                <a:ea typeface="Noto Sans KR"/>
                <a:cs typeface="Noto Sans KR"/>
              </a:defRPr>
            </a:pPr>
            <a:r>
              <a:rPr sz="1150" b="0">
                <a:solidFill>
                  <a:srgbClr val="D9D9D9"/>
                </a:solidFill>
                <a:latin typeface="Noto Sans KR"/>
                <a:ea typeface="Noto Sans KR"/>
                <a:cs typeface="Noto Sans KR"/>
              </a:rPr>
              <a:t>외출 자동 녹음</a:t>
            </a:r>
            <a:endParaRPr sz="1150"/>
          </a:p>
          <a:p xmlns:a="http://schemas.openxmlformats.org/drawingml/2006/main">
            <a:pPr marL="0" indent="0" algn="l">
              <a:lnSpc>
                <a:spcPct val="115000"/>
              </a:lnSpc>
              <a:buNone/>
              <a:defRPr sz="1150" b="0">
                <a:solidFill>
                  <a:srgbClr val="D9D9D9"/>
                </a:solidFill>
                <a:latin typeface="Noto Sans KR"/>
                <a:ea typeface="Noto Sans KR"/>
                <a:cs typeface="Noto Sans KR"/>
              </a:defRPr>
            </a:pPr>
            <a:r>
              <a:rPr sz="1150" b="0">
                <a:solidFill>
                  <a:srgbClr val="D9D9D9"/>
                </a:solidFill>
                <a:latin typeface="Noto Sans KR"/>
                <a:ea typeface="Noto Sans KR"/>
                <a:cs typeface="Noto Sans KR"/>
              </a:rPr>
              <a:t>소리와 영상의 시각 비교</a:t>
            </a:r>
            <a:endParaRPr sz="1150"/>
          </a:p>
        </p:txBody>
      </p:sp>
      <p:sp>
        <p:nvSpPr>
          <p:cNvPr id="12" name="Text 10">
            <a:extLst xmlns:a="http://schemas.openxmlformats.org/drawingml/2006/main">
              <a:ext uri="{FF2B5EF4-FFF2-40B4-BE49-F238E27FC236}">
                <a16:creationId xmlns:a16="http://schemas.microsoft.com/office/drawing/2014/main" id="{3B3351B8-7205-48FA-80D9-36663D31B218}"/>
              </a:ext>
            </a:extLst>
          </p:cNvPr>
          <p:cNvSpPr>
            <a:spLocks xmlns:a="http://schemas.openxmlformats.org/drawingml/2006/main" noGrp="1"/>
          </p:cNvSpPr>
          <p:nvPr/>
        </p:nvSpPr>
        <p:spPr>
          <a:xfrm xmlns:a="http://schemas.openxmlformats.org/drawingml/2006/main">
            <a:off x="901446" y="1325880"/>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272626"/>
                </a:solidFill>
                <a:latin typeface="Noto Sans KR"/>
                <a:ea typeface="Noto Sans KR"/>
                <a:cs typeface="Noto Sans KR"/>
              </a:defRPr>
            </a:defPPr>
          </a:lstStyle>
          <a:p xmlns:a="http://schemas.openxmlformats.org/drawingml/2006/main">
            <a:pPr marL="0" indent="0" algn="ctr">
              <a:buNone/>
              <a:defRPr sz="1000" b="1">
                <a:solidFill>
                  <a:srgbClr val="272626"/>
                </a:solidFill>
                <a:latin typeface="Noto Sans KR"/>
                <a:ea typeface="Noto Sans KR"/>
                <a:cs typeface="Noto Sans KR"/>
              </a:defRPr>
            </a:pPr>
            <a:r>
              <a:rPr sz="1000" b="1">
                <a:solidFill>
                  <a:srgbClr val="272626"/>
                </a:solidFill>
                <a:latin typeface="Noto Sans KR"/>
                <a:ea typeface="Noto Sans KR"/>
                <a:cs typeface="Noto Sans KR"/>
              </a:rPr>
              <a:t>우선 작업</a:t>
            </a:r>
            <a:endParaRPr sz="1000"/>
          </a:p>
        </p:txBody>
      </p:sp>
      <p:sp>
        <p:nvSpPr>
          <p:cNvPr id="13" name="Shape 11">
            <a:extLst xmlns:a="http://schemas.openxmlformats.org/drawingml/2006/main">
              <a:ext uri="{FF2B5EF4-FFF2-40B4-BE49-F238E27FC236}">
                <a16:creationId xmlns:a16="http://schemas.microsoft.com/office/drawing/2014/main" id="{9398F377-030B-4140-B229-24BC2919BA49}"/>
              </a:ext>
            </a:extLst>
          </p:cNvPr>
          <p:cNvSpPr>
            <a:spLocks xmlns:a="http://schemas.openxmlformats.org/drawingml/2006/main" noGrp="1"/>
          </p:cNvSpPr>
          <p:nvPr/>
        </p:nvSpPr>
        <p:spPr>
          <a:xfrm xmlns:a="http://schemas.openxmlformats.org/drawingml/2006/main">
            <a:off x="3134106" y="1709928"/>
            <a:ext cx="237744" cy="237744"/>
          </a:xfrm>
          <a:prstGeom xmlns:a="http://schemas.openxmlformats.org/drawingml/2006/main" prst="ellipse">
            <a:avLst/>
          </a:prstGeom>
          <a:solidFill xmlns:a="http://schemas.openxmlformats.org/drawingml/2006/main">
            <a:srgbClr val="FFFFFF"/>
          </a:solidFill>
          <a:ln xmlns:a="http://schemas.openxmlformats.org/drawingml/2006/main" w="19050">
            <a:solidFill>
              <a:srgbClr val="272626"/>
            </a:solidFill>
            <a:prstDash val="solid"/>
          </a:ln>
        </p:spPr>
        <p:txBody xmlns:a="http://schemas.openxmlformats.org/drawingml/2006/main">
          <a:bodyPr/>
          <a:p/>
        </p:txBody>
      </p:sp>
      <p:sp>
        <p:nvSpPr>
          <p:cNvPr id="14" name="Shape 12">
            <a:extLst xmlns:a="http://schemas.openxmlformats.org/drawingml/2006/main">
              <a:ext uri="{FF2B5EF4-FFF2-40B4-BE49-F238E27FC236}">
                <a16:creationId xmlns:a16="http://schemas.microsoft.com/office/drawing/2014/main" id="{7C66DEB4-08B9-44EA-89CF-C67EAD577574}"/>
              </a:ext>
            </a:extLst>
          </p:cNvPr>
          <p:cNvSpPr>
            <a:spLocks xmlns:a="http://schemas.openxmlformats.org/drawingml/2006/main" noGrp="1"/>
          </p:cNvSpPr>
          <p:nvPr/>
        </p:nvSpPr>
        <p:spPr>
          <a:xfrm xmlns:a="http://schemas.openxmlformats.org/drawingml/2006/main">
            <a:off x="2397252" y="2194560"/>
            <a:ext cx="1711452" cy="2834640"/>
          </a:xfrm>
          <a:prstGeom xmlns:a="http://schemas.openxmlformats.org/drawingml/2006/main" prst="roundRect">
            <a:avLst>
              <a:gd name="adj" fmla="val 4274"/>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FC7BB73D-56A6-49F8-9C85-ECCB36041E13}"/>
              </a:ext>
            </a:extLst>
          </p:cNvPr>
          <p:cNvSpPr>
            <a:spLocks xmlns:a="http://schemas.openxmlformats.org/drawingml/2006/main" noGrp="1"/>
          </p:cNvSpPr>
          <p:nvPr/>
        </p:nvSpPr>
        <p:spPr>
          <a:xfrm xmlns:a="http://schemas.openxmlformats.org/drawingml/2006/main">
            <a:off x="2580132" y="2377440"/>
            <a:ext cx="13456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400" b="1">
                <a:solidFill>
                  <a:srgbClr val="272626"/>
                </a:solidFill>
                <a:latin typeface="Noto Sans KR"/>
                <a:ea typeface="Noto Sans KR"/>
                <a:cs typeface="Noto Sans KR"/>
              </a:defRPr>
            </a:defPPr>
          </a:lstStyle>
          <a:p xmlns:a="http://schemas.openxmlformats.org/drawingml/2006/main">
            <a:pPr marL="0" indent="0" algn="l">
              <a:buNone/>
              <a:defRPr sz="1400" b="1">
                <a:solidFill>
                  <a:srgbClr val="272626"/>
                </a:solidFill>
                <a:latin typeface="Noto Sans KR"/>
                <a:ea typeface="Noto Sans KR"/>
                <a:cs typeface="Noto Sans KR"/>
              </a:defRPr>
            </a:pPr>
            <a:r>
              <a:rPr sz="1400" b="1">
                <a:solidFill>
                  <a:srgbClr val="272626"/>
                </a:solidFill>
                <a:latin typeface="Noto Sans KR"/>
                <a:ea typeface="Noto Sans KR"/>
                <a:cs typeface="Noto Sans KR"/>
              </a:rPr>
              <a:t>정답 검수</a:t>
            </a:r>
            <a:endParaRPr sz="1400"/>
          </a:p>
        </p:txBody>
      </p:sp>
      <p:sp>
        <p:nvSpPr>
          <p:cNvPr id="16" name="Text 14">
            <a:extLst xmlns:a="http://schemas.openxmlformats.org/drawingml/2006/main">
              <a:ext uri="{FF2B5EF4-FFF2-40B4-BE49-F238E27FC236}">
                <a16:creationId xmlns:a16="http://schemas.microsoft.com/office/drawing/2014/main" id="{5F0AB69A-DDC3-486E-8EA3-F8C373814DA5}"/>
              </a:ext>
            </a:extLst>
          </p:cNvPr>
          <p:cNvSpPr>
            <a:spLocks xmlns:a="http://schemas.openxmlformats.org/drawingml/2006/main" noGrp="1"/>
          </p:cNvSpPr>
          <p:nvPr/>
        </p:nvSpPr>
        <p:spPr>
          <a:xfrm xmlns:a="http://schemas.openxmlformats.org/drawingml/2006/main">
            <a:off x="2580132" y="2679192"/>
            <a:ext cx="134569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8A8A8A"/>
                </a:solidFill>
                <a:latin typeface="Noto Sans KR"/>
                <a:ea typeface="Noto Sans KR"/>
                <a:cs typeface="Noto Sans KR"/>
              </a:defRPr>
            </a:defPPr>
          </a:lstStyle>
          <a:p xmlns:a="http://schemas.openxmlformats.org/drawingml/2006/main">
            <a:pPr marL="0" indent="0" algn="l">
              <a:buNone/>
              <a:defRPr sz="1050" b="0">
                <a:solidFill>
                  <a:srgbClr val="8A8A8A"/>
                </a:solidFill>
                <a:latin typeface="Noto Sans KR"/>
                <a:ea typeface="Noto Sans KR"/>
                <a:cs typeface="Noto Sans KR"/>
              </a:defRPr>
            </a:pPr>
            <a:r>
              <a:rPr sz="1050" b="0">
                <a:solidFill>
                  <a:srgbClr val="8A8A8A"/>
                </a:solidFill>
                <a:latin typeface="Noto Sans KR"/>
                <a:ea typeface="Noto Sans KR"/>
                <a:cs typeface="Noto Sans KR"/>
              </a:rPr>
              <a:t>10/15~10/18</a:t>
            </a:r>
            <a:endParaRPr sz="1050"/>
          </a:p>
        </p:txBody>
      </p:sp>
      <p:sp>
        <p:nvSpPr>
          <p:cNvPr id="17" name="Text 15">
            <a:extLst xmlns:a="http://schemas.openxmlformats.org/drawingml/2006/main">
              <a:ext uri="{FF2B5EF4-FFF2-40B4-BE49-F238E27FC236}">
                <a16:creationId xmlns:a16="http://schemas.microsoft.com/office/drawing/2014/main" id="{D4D862A4-A699-45F7-96F0-0AE879DFAC3B}"/>
              </a:ext>
            </a:extLst>
          </p:cNvPr>
          <p:cNvSpPr>
            <a:spLocks xmlns:a="http://schemas.openxmlformats.org/drawingml/2006/main" noGrp="1"/>
          </p:cNvSpPr>
          <p:nvPr/>
        </p:nvSpPr>
        <p:spPr>
          <a:xfrm xmlns:a="http://schemas.openxmlformats.org/drawingml/2006/main">
            <a:off x="2580132" y="3063240"/>
            <a:ext cx="1345692"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150" b="0">
                <a:solidFill>
                  <a:srgbClr val="5A5A5A"/>
                </a:solidFill>
                <a:latin typeface="Noto Sans KR"/>
                <a:ea typeface="Noto Sans KR"/>
                <a:cs typeface="Noto Sans KR"/>
              </a:defRPr>
            </a:defPPr>
          </a:lstStyle>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놓친 음원 청취</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정답 시각 대조</a:t>
            </a:r>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짧은 짖음 추가</a:t>
            </a:r>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독립 평가 확보</a:t>
            </a:r>
          </a:p>
        </p:txBody>
      </p:sp>
      <p:sp>
        <p:nvSpPr>
          <p:cNvPr id="18" name="Shape 16">
            <a:extLst xmlns:a="http://schemas.openxmlformats.org/drawingml/2006/main">
              <a:ext uri="{FF2B5EF4-FFF2-40B4-BE49-F238E27FC236}">
                <a16:creationId xmlns:a16="http://schemas.microsoft.com/office/drawing/2014/main" id="{EF6FD09C-6A44-4C65-BA2B-2E5FE863FEC3}"/>
              </a:ext>
            </a:extLst>
          </p:cNvPr>
          <p:cNvSpPr>
            <a:spLocks xmlns:a="http://schemas.openxmlformats.org/drawingml/2006/main" noGrp="1"/>
          </p:cNvSpPr>
          <p:nvPr/>
        </p:nvSpPr>
        <p:spPr>
          <a:xfrm xmlns:a="http://schemas.openxmlformats.org/drawingml/2006/main">
            <a:off x="5028438" y="1709928"/>
            <a:ext cx="237744" cy="237744"/>
          </a:xfrm>
          <a:prstGeom xmlns:a="http://schemas.openxmlformats.org/drawingml/2006/main" prst="ellipse">
            <a:avLst/>
          </a:prstGeom>
          <a:solidFill xmlns:a="http://schemas.openxmlformats.org/drawingml/2006/main">
            <a:srgbClr val="FFFFFF"/>
          </a:solidFill>
          <a:ln xmlns:a="http://schemas.openxmlformats.org/drawingml/2006/main" w="19050">
            <a:solidFill>
              <a:srgbClr val="272626"/>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1E35D1B3-A5A7-44F9-9CD5-3EAD3E24F863}"/>
              </a:ext>
            </a:extLst>
          </p:cNvPr>
          <p:cNvSpPr>
            <a:spLocks xmlns:a="http://schemas.openxmlformats.org/drawingml/2006/main" noGrp="1"/>
          </p:cNvSpPr>
          <p:nvPr/>
        </p:nvSpPr>
        <p:spPr>
          <a:xfrm xmlns:a="http://schemas.openxmlformats.org/drawingml/2006/main">
            <a:off x="4291584" y="2194560"/>
            <a:ext cx="1711452" cy="2834640"/>
          </a:xfrm>
          <a:prstGeom xmlns:a="http://schemas.openxmlformats.org/drawingml/2006/main" prst="roundRect">
            <a:avLst>
              <a:gd name="adj" fmla="val 4274"/>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D2B51CB4-33E5-468A-9D1B-235C395E4B68}"/>
              </a:ext>
            </a:extLst>
          </p:cNvPr>
          <p:cNvSpPr>
            <a:spLocks xmlns:a="http://schemas.openxmlformats.org/drawingml/2006/main" noGrp="1"/>
          </p:cNvSpPr>
          <p:nvPr/>
        </p:nvSpPr>
        <p:spPr>
          <a:xfrm xmlns:a="http://schemas.openxmlformats.org/drawingml/2006/main">
            <a:off x="4474464" y="2377440"/>
            <a:ext cx="13456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400" b="1">
                <a:solidFill>
                  <a:srgbClr val="272626"/>
                </a:solidFill>
                <a:latin typeface="Noto Sans KR"/>
                <a:ea typeface="Noto Sans KR"/>
                <a:cs typeface="Noto Sans KR"/>
              </a:defRPr>
            </a:defPPr>
          </a:lstStyle>
          <a:p xmlns:a="http://schemas.openxmlformats.org/drawingml/2006/main">
            <a:pPr marL="0" indent="0" algn="l">
              <a:buNone/>
              <a:defRPr sz="1400" b="1">
                <a:solidFill>
                  <a:srgbClr val="272626"/>
                </a:solidFill>
                <a:latin typeface="Noto Sans KR"/>
                <a:ea typeface="Noto Sans KR"/>
                <a:cs typeface="Noto Sans KR"/>
              </a:defRPr>
            </a:pPr>
            <a:r>
              <a:rPr sz="1400" b="1">
                <a:solidFill>
                  <a:srgbClr val="272626"/>
                </a:solidFill>
                <a:latin typeface="Noto Sans KR"/>
                <a:ea typeface="Noto Sans KR"/>
                <a:cs typeface="Noto Sans KR"/>
              </a:rPr>
              <a:t>모델 선택</a:t>
            </a:r>
            <a:endParaRPr sz="1400"/>
          </a:p>
        </p:txBody>
      </p:sp>
      <p:sp>
        <p:nvSpPr>
          <p:cNvPr id="21" name="Text 19">
            <a:extLst xmlns:a="http://schemas.openxmlformats.org/drawingml/2006/main">
              <a:ext uri="{FF2B5EF4-FFF2-40B4-BE49-F238E27FC236}">
                <a16:creationId xmlns:a16="http://schemas.microsoft.com/office/drawing/2014/main" id="{2C926F18-CC52-4E55-9409-F2978E9C2809}"/>
              </a:ext>
            </a:extLst>
          </p:cNvPr>
          <p:cNvSpPr>
            <a:spLocks xmlns:a="http://schemas.openxmlformats.org/drawingml/2006/main" noGrp="1"/>
          </p:cNvSpPr>
          <p:nvPr/>
        </p:nvSpPr>
        <p:spPr>
          <a:xfrm xmlns:a="http://schemas.openxmlformats.org/drawingml/2006/main">
            <a:off x="4474464" y="2679192"/>
            <a:ext cx="134569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8A8A8A"/>
                </a:solidFill>
                <a:latin typeface="Noto Sans KR"/>
                <a:ea typeface="Noto Sans KR"/>
                <a:cs typeface="Noto Sans KR"/>
              </a:defRPr>
            </a:defPPr>
          </a:lstStyle>
          <a:p xmlns:a="http://schemas.openxmlformats.org/drawingml/2006/main">
            <a:pPr marL="0" indent="0" algn="l">
              <a:buNone/>
              <a:defRPr sz="1050" b="0">
                <a:solidFill>
                  <a:srgbClr val="8A8A8A"/>
                </a:solidFill>
                <a:latin typeface="Noto Sans KR"/>
                <a:ea typeface="Noto Sans KR"/>
                <a:cs typeface="Noto Sans KR"/>
              </a:defRPr>
            </a:pPr>
            <a:r>
              <a:rPr sz="1050" b="0">
                <a:solidFill>
                  <a:srgbClr val="8A8A8A"/>
                </a:solidFill>
                <a:latin typeface="Noto Sans KR"/>
                <a:ea typeface="Noto Sans KR"/>
                <a:cs typeface="Noto Sans KR"/>
              </a:rPr>
              <a:t>10/19~10/23</a:t>
            </a:r>
            <a:endParaRPr sz="1050"/>
          </a:p>
        </p:txBody>
      </p:sp>
      <p:sp>
        <p:nvSpPr>
          <p:cNvPr id="22" name="Text 20">
            <a:extLst xmlns:a="http://schemas.openxmlformats.org/drawingml/2006/main">
              <a:ext uri="{FF2B5EF4-FFF2-40B4-BE49-F238E27FC236}">
                <a16:creationId xmlns:a16="http://schemas.microsoft.com/office/drawing/2014/main" id="{DA4236C7-D82E-47F9-B062-E10B8AFC870E}"/>
              </a:ext>
            </a:extLst>
          </p:cNvPr>
          <p:cNvSpPr>
            <a:spLocks xmlns:a="http://schemas.openxmlformats.org/drawingml/2006/main" noGrp="1"/>
          </p:cNvSpPr>
          <p:nvPr/>
        </p:nvSpPr>
        <p:spPr>
          <a:xfrm xmlns:a="http://schemas.openxmlformats.org/drawingml/2006/main">
            <a:off x="4474464" y="3063240"/>
            <a:ext cx="1345692"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150" b="0">
                <a:solidFill>
                  <a:srgbClr val="5A5A5A"/>
                </a:solidFill>
                <a:latin typeface="Noto Sans KR"/>
                <a:ea typeface="Noto Sans KR"/>
                <a:cs typeface="Noto Sans KR"/>
              </a:defRPr>
            </a:defPPr>
          </a:lstStyle>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YAMNet 기준 비교</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오탐·놓침 확인</a:t>
            </a:r>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연속 패턴 실험</a:t>
            </a:r>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개선 모델만 적용</a:t>
            </a:r>
          </a:p>
        </p:txBody>
      </p:sp>
      <p:sp>
        <p:nvSpPr>
          <p:cNvPr id="23" name="Shape 21">
            <a:extLst xmlns:a="http://schemas.openxmlformats.org/drawingml/2006/main">
              <a:ext uri="{FF2B5EF4-FFF2-40B4-BE49-F238E27FC236}">
                <a16:creationId xmlns:a16="http://schemas.microsoft.com/office/drawing/2014/main" id="{75132E0D-F24C-4DF8-906C-B5A8A4814B0F}"/>
              </a:ext>
            </a:extLst>
          </p:cNvPr>
          <p:cNvSpPr>
            <a:spLocks xmlns:a="http://schemas.openxmlformats.org/drawingml/2006/main" noGrp="1"/>
          </p:cNvSpPr>
          <p:nvPr/>
        </p:nvSpPr>
        <p:spPr>
          <a:xfrm xmlns:a="http://schemas.openxmlformats.org/drawingml/2006/main">
            <a:off x="6922770" y="1709928"/>
            <a:ext cx="237744" cy="237744"/>
          </a:xfrm>
          <a:prstGeom xmlns:a="http://schemas.openxmlformats.org/drawingml/2006/main" prst="ellipse">
            <a:avLst/>
          </a:prstGeom>
          <a:solidFill xmlns:a="http://schemas.openxmlformats.org/drawingml/2006/main">
            <a:srgbClr val="FFFFFF"/>
          </a:solidFill>
          <a:ln xmlns:a="http://schemas.openxmlformats.org/drawingml/2006/main" w="19050">
            <a:solidFill>
              <a:srgbClr val="272626"/>
            </a:solidFill>
            <a:prstDash val="solid"/>
          </a:ln>
        </p:spPr>
        <p:txBody xmlns:a="http://schemas.openxmlformats.org/drawingml/2006/main">
          <a:bodyPr/>
          <a:p/>
        </p:txBody>
      </p:sp>
      <p:sp>
        <p:nvSpPr>
          <p:cNvPr id="24" name="Shape 22">
            <a:extLst xmlns:a="http://schemas.openxmlformats.org/drawingml/2006/main">
              <a:ext uri="{FF2B5EF4-FFF2-40B4-BE49-F238E27FC236}">
                <a16:creationId xmlns:a16="http://schemas.microsoft.com/office/drawing/2014/main" id="{3D416286-5AE6-4C7E-A356-F664C7BF5859}"/>
              </a:ext>
            </a:extLst>
          </p:cNvPr>
          <p:cNvSpPr>
            <a:spLocks xmlns:a="http://schemas.openxmlformats.org/drawingml/2006/main" noGrp="1"/>
          </p:cNvSpPr>
          <p:nvPr/>
        </p:nvSpPr>
        <p:spPr>
          <a:xfrm xmlns:a="http://schemas.openxmlformats.org/drawingml/2006/main">
            <a:off x="6185916" y="2194560"/>
            <a:ext cx="1711452" cy="2834640"/>
          </a:xfrm>
          <a:prstGeom xmlns:a="http://schemas.openxmlformats.org/drawingml/2006/main" prst="roundRect">
            <a:avLst>
              <a:gd name="adj" fmla="val 4274"/>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52C73B50-60AF-4CE9-8C33-0B3730916341}"/>
              </a:ext>
            </a:extLst>
          </p:cNvPr>
          <p:cNvSpPr>
            <a:spLocks xmlns:a="http://schemas.openxmlformats.org/drawingml/2006/main" noGrp="1"/>
          </p:cNvSpPr>
          <p:nvPr/>
        </p:nvSpPr>
        <p:spPr>
          <a:xfrm xmlns:a="http://schemas.openxmlformats.org/drawingml/2006/main">
            <a:off x="6368796" y="2377440"/>
            <a:ext cx="13456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400" b="1">
                <a:solidFill>
                  <a:srgbClr val="272626"/>
                </a:solidFill>
                <a:latin typeface="Noto Sans KR"/>
                <a:ea typeface="Noto Sans KR"/>
                <a:cs typeface="Noto Sans KR"/>
              </a:defRPr>
            </a:defPPr>
          </a:lstStyle>
          <a:p xmlns:a="http://schemas.openxmlformats.org/drawingml/2006/main">
            <a:pPr marL="0" indent="0" algn="l">
              <a:buNone/>
              <a:defRPr sz="1400" b="1">
                <a:solidFill>
                  <a:srgbClr val="272626"/>
                </a:solidFill>
                <a:latin typeface="Noto Sans KR"/>
                <a:ea typeface="Noto Sans KR"/>
                <a:cs typeface="Noto Sans KR"/>
              </a:defRPr>
            </a:pPr>
            <a:r>
              <a:rPr sz="1400" b="1">
                <a:solidFill>
                  <a:srgbClr val="272626"/>
                </a:solidFill>
                <a:latin typeface="Noto Sans KR"/>
                <a:ea typeface="Noto Sans KR"/>
                <a:cs typeface="Noto Sans KR"/>
              </a:rPr>
              <a:t>기록 설명</a:t>
            </a:r>
            <a:endParaRPr sz="1400"/>
          </a:p>
        </p:txBody>
      </p:sp>
      <p:sp>
        <p:nvSpPr>
          <p:cNvPr id="26" name="Text 24">
            <a:extLst xmlns:a="http://schemas.openxmlformats.org/drawingml/2006/main">
              <a:ext uri="{FF2B5EF4-FFF2-40B4-BE49-F238E27FC236}">
                <a16:creationId xmlns:a16="http://schemas.microsoft.com/office/drawing/2014/main" id="{FBF622B4-2044-4F48-AB5C-1C4CFAC057F6}"/>
              </a:ext>
            </a:extLst>
          </p:cNvPr>
          <p:cNvSpPr>
            <a:spLocks xmlns:a="http://schemas.openxmlformats.org/drawingml/2006/main" noGrp="1"/>
          </p:cNvSpPr>
          <p:nvPr/>
        </p:nvSpPr>
        <p:spPr>
          <a:xfrm xmlns:a="http://schemas.openxmlformats.org/drawingml/2006/main">
            <a:off x="6368796" y="2679192"/>
            <a:ext cx="134569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8A8A8A"/>
                </a:solidFill>
                <a:latin typeface="Noto Sans KR"/>
                <a:ea typeface="Noto Sans KR"/>
                <a:cs typeface="Noto Sans KR"/>
              </a:defRPr>
            </a:defPPr>
          </a:lstStyle>
          <a:p xmlns:a="http://schemas.openxmlformats.org/drawingml/2006/main">
            <a:pPr marL="0" indent="0" algn="l">
              <a:buNone/>
              <a:defRPr sz="1050" b="0">
                <a:solidFill>
                  <a:srgbClr val="8A8A8A"/>
                </a:solidFill>
                <a:latin typeface="Noto Sans KR"/>
                <a:ea typeface="Noto Sans KR"/>
                <a:cs typeface="Noto Sans KR"/>
              </a:defRPr>
            </a:pPr>
            <a:r>
              <a:rPr sz="1050" b="0">
                <a:solidFill>
                  <a:srgbClr val="8A8A8A"/>
                </a:solidFill>
                <a:latin typeface="Noto Sans KR"/>
                <a:ea typeface="Noto Sans KR"/>
                <a:cs typeface="Noto Sans KR"/>
              </a:rPr>
              <a:t>10/24~10/28</a:t>
            </a:r>
            <a:endParaRPr sz="1050"/>
          </a:p>
        </p:txBody>
      </p:sp>
      <p:sp>
        <p:nvSpPr>
          <p:cNvPr id="27" name="Text 25">
            <a:extLst xmlns:a="http://schemas.openxmlformats.org/drawingml/2006/main">
              <a:ext uri="{FF2B5EF4-FFF2-40B4-BE49-F238E27FC236}">
                <a16:creationId xmlns:a16="http://schemas.microsoft.com/office/drawing/2014/main" id="{55E7C3A1-8B65-44C8-B9E5-0A42E48B1761}"/>
              </a:ext>
            </a:extLst>
          </p:cNvPr>
          <p:cNvSpPr>
            <a:spLocks xmlns:a="http://schemas.openxmlformats.org/drawingml/2006/main" noGrp="1"/>
          </p:cNvSpPr>
          <p:nvPr/>
        </p:nvSpPr>
        <p:spPr>
          <a:xfrm xmlns:a="http://schemas.openxmlformats.org/drawingml/2006/main">
            <a:off x="6368796" y="3063240"/>
            <a:ext cx="1345692"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150" b="0">
                <a:solidFill>
                  <a:srgbClr val="5A5A5A"/>
                </a:solidFill>
                <a:latin typeface="Noto Sans KR"/>
                <a:ea typeface="Noto Sans KR"/>
                <a:cs typeface="Noto Sans KR"/>
              </a:defRPr>
            </a:defPPr>
          </a:lstStyle>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새 질문으로 시험</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수치와 원본 대조</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설명 내용 검토</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보호자 의견 확인</a:t>
            </a:r>
            <a:endParaRPr sz="1150"/>
          </a:p>
        </p:txBody>
      </p:sp>
      <p:sp>
        <p:nvSpPr>
          <p:cNvPr id="28" name="Shape 26">
            <a:extLst xmlns:a="http://schemas.openxmlformats.org/drawingml/2006/main">
              <a:ext uri="{FF2B5EF4-FFF2-40B4-BE49-F238E27FC236}">
                <a16:creationId xmlns:a16="http://schemas.microsoft.com/office/drawing/2014/main" id="{D8E14BBF-60FA-4306-8971-A1FBD7A560F2}"/>
              </a:ext>
            </a:extLst>
          </p:cNvPr>
          <p:cNvSpPr>
            <a:spLocks xmlns:a="http://schemas.openxmlformats.org/drawingml/2006/main" noGrp="1"/>
          </p:cNvSpPr>
          <p:nvPr/>
        </p:nvSpPr>
        <p:spPr>
          <a:xfrm xmlns:a="http://schemas.openxmlformats.org/drawingml/2006/main">
            <a:off x="8817102" y="1709928"/>
            <a:ext cx="237744" cy="237744"/>
          </a:xfrm>
          <a:prstGeom xmlns:a="http://schemas.openxmlformats.org/drawingml/2006/main" prst="ellipse">
            <a:avLst/>
          </a:prstGeom>
          <a:solidFill xmlns:a="http://schemas.openxmlformats.org/drawingml/2006/main">
            <a:srgbClr val="FFFFFF"/>
          </a:solidFill>
          <a:ln xmlns:a="http://schemas.openxmlformats.org/drawingml/2006/main" w="19050">
            <a:solidFill>
              <a:srgbClr val="272626"/>
            </a:solidFill>
            <a:prstDash val="solid"/>
          </a:ln>
        </p:spPr>
        <p:txBody xmlns:a="http://schemas.openxmlformats.org/drawingml/2006/main">
          <a:bodyPr/>
          <a:p/>
        </p:txBody>
      </p:sp>
      <p:sp>
        <p:nvSpPr>
          <p:cNvPr id="29" name="Shape 27">
            <a:extLst xmlns:a="http://schemas.openxmlformats.org/drawingml/2006/main">
              <a:ext uri="{FF2B5EF4-FFF2-40B4-BE49-F238E27FC236}">
                <a16:creationId xmlns:a16="http://schemas.microsoft.com/office/drawing/2014/main" id="{8264754E-B6CE-4999-917C-D54B7C46499D}"/>
              </a:ext>
            </a:extLst>
          </p:cNvPr>
          <p:cNvSpPr>
            <a:spLocks xmlns:a="http://schemas.openxmlformats.org/drawingml/2006/main" noGrp="1"/>
          </p:cNvSpPr>
          <p:nvPr/>
        </p:nvSpPr>
        <p:spPr>
          <a:xfrm xmlns:a="http://schemas.openxmlformats.org/drawingml/2006/main">
            <a:off x="8080248" y="2194560"/>
            <a:ext cx="1711452" cy="2834640"/>
          </a:xfrm>
          <a:prstGeom xmlns:a="http://schemas.openxmlformats.org/drawingml/2006/main" prst="roundRect">
            <a:avLst>
              <a:gd name="adj" fmla="val 4274"/>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4CC8AD6D-1CC8-44B7-8926-FEAD49CD7C28}"/>
              </a:ext>
            </a:extLst>
          </p:cNvPr>
          <p:cNvSpPr>
            <a:spLocks xmlns:a="http://schemas.openxmlformats.org/drawingml/2006/main" noGrp="1"/>
          </p:cNvSpPr>
          <p:nvPr/>
        </p:nvSpPr>
        <p:spPr>
          <a:xfrm xmlns:a="http://schemas.openxmlformats.org/drawingml/2006/main">
            <a:off x="8263128" y="2377440"/>
            <a:ext cx="13456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400" b="1">
                <a:solidFill>
                  <a:srgbClr val="272626"/>
                </a:solidFill>
                <a:latin typeface="Noto Sans KR"/>
                <a:ea typeface="Noto Sans KR"/>
                <a:cs typeface="Noto Sans KR"/>
              </a:defRPr>
            </a:defPPr>
          </a:lstStyle>
          <a:p xmlns:a="http://schemas.openxmlformats.org/drawingml/2006/main">
            <a:pPr marL="0" indent="0" algn="l">
              <a:buNone/>
              <a:defRPr sz="1400" b="1">
                <a:solidFill>
                  <a:srgbClr val="272626"/>
                </a:solidFill>
                <a:latin typeface="Noto Sans KR"/>
                <a:ea typeface="Noto Sans KR"/>
                <a:cs typeface="Noto Sans KR"/>
              </a:defRPr>
            </a:pPr>
            <a:r>
              <a:rPr sz="1400" b="1">
                <a:solidFill>
                  <a:srgbClr val="272626"/>
                </a:solidFill>
                <a:latin typeface="Noto Sans KR"/>
                <a:ea typeface="Noto Sans KR"/>
                <a:cs typeface="Noto Sans KR"/>
              </a:rPr>
              <a:t>장시간 시험</a:t>
            </a:r>
            <a:endParaRPr sz="1400"/>
          </a:p>
        </p:txBody>
      </p:sp>
      <p:sp>
        <p:nvSpPr>
          <p:cNvPr id="31" name="Text 29">
            <a:extLst xmlns:a="http://schemas.openxmlformats.org/drawingml/2006/main">
              <a:ext uri="{FF2B5EF4-FFF2-40B4-BE49-F238E27FC236}">
                <a16:creationId xmlns:a16="http://schemas.microsoft.com/office/drawing/2014/main" id="{64054473-C052-4586-954E-7253E17ACF18}"/>
              </a:ext>
            </a:extLst>
          </p:cNvPr>
          <p:cNvSpPr>
            <a:spLocks xmlns:a="http://schemas.openxmlformats.org/drawingml/2006/main" noGrp="1"/>
          </p:cNvSpPr>
          <p:nvPr/>
        </p:nvSpPr>
        <p:spPr>
          <a:xfrm xmlns:a="http://schemas.openxmlformats.org/drawingml/2006/main">
            <a:off x="8263128" y="2679192"/>
            <a:ext cx="134569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8A8A8A"/>
                </a:solidFill>
                <a:latin typeface="Noto Sans KR"/>
                <a:ea typeface="Noto Sans KR"/>
                <a:cs typeface="Noto Sans KR"/>
              </a:defRPr>
            </a:defPPr>
          </a:lstStyle>
          <a:p xmlns:a="http://schemas.openxmlformats.org/drawingml/2006/main">
            <a:pPr marL="0" indent="0" algn="l">
              <a:buNone/>
              <a:defRPr sz="1050" b="0">
                <a:solidFill>
                  <a:srgbClr val="8A8A8A"/>
                </a:solidFill>
                <a:latin typeface="Noto Sans KR"/>
                <a:ea typeface="Noto Sans KR"/>
                <a:cs typeface="Noto Sans KR"/>
              </a:defRPr>
            </a:pPr>
            <a:r>
              <a:rPr sz="1050" b="0">
                <a:solidFill>
                  <a:srgbClr val="8A8A8A"/>
                </a:solidFill>
                <a:latin typeface="Noto Sans KR"/>
                <a:ea typeface="Noto Sans KR"/>
                <a:cs typeface="Noto Sans KR"/>
              </a:rPr>
              <a:t>10/29~11/4</a:t>
            </a:r>
            <a:endParaRPr sz="1050"/>
          </a:p>
        </p:txBody>
      </p:sp>
      <p:sp>
        <p:nvSpPr>
          <p:cNvPr id="32" name="Text 30">
            <a:extLst xmlns:a="http://schemas.openxmlformats.org/drawingml/2006/main">
              <a:ext uri="{FF2B5EF4-FFF2-40B4-BE49-F238E27FC236}">
                <a16:creationId xmlns:a16="http://schemas.microsoft.com/office/drawing/2014/main" id="{25203308-7AB3-4DDC-BC0F-3C1EE05E0229}"/>
              </a:ext>
            </a:extLst>
          </p:cNvPr>
          <p:cNvSpPr>
            <a:spLocks xmlns:a="http://schemas.openxmlformats.org/drawingml/2006/main" noGrp="1"/>
          </p:cNvSpPr>
          <p:nvPr/>
        </p:nvSpPr>
        <p:spPr>
          <a:xfrm xmlns:a="http://schemas.openxmlformats.org/drawingml/2006/main">
            <a:off x="8263128" y="3063240"/>
            <a:ext cx="1345692"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150" b="0">
                <a:solidFill>
                  <a:srgbClr val="5A5A5A"/>
                </a:solidFill>
                <a:latin typeface="Noto Sans KR"/>
                <a:ea typeface="Noto Sans KR"/>
                <a:cs typeface="Noto Sans KR"/>
              </a:defRPr>
            </a:defPPr>
          </a:lstStyle>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오래 켜두고 녹음</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연결 끊김·복구</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시연 영상 녹화</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실행 방법 정리</a:t>
            </a:r>
            <a:endParaRPr sz="1150"/>
          </a:p>
        </p:txBody>
      </p:sp>
      <p:sp>
        <p:nvSpPr>
          <p:cNvPr id="33" name="Shape 31">
            <a:extLst xmlns:a="http://schemas.openxmlformats.org/drawingml/2006/main">
              <a:ext uri="{FF2B5EF4-FFF2-40B4-BE49-F238E27FC236}">
                <a16:creationId xmlns:a16="http://schemas.microsoft.com/office/drawing/2014/main" id="{92CCA053-6A0E-4C02-A575-1221F474B75B}"/>
              </a:ext>
            </a:extLst>
          </p:cNvPr>
          <p:cNvSpPr>
            <a:spLocks xmlns:a="http://schemas.openxmlformats.org/drawingml/2006/main" noGrp="1"/>
          </p:cNvSpPr>
          <p:nvPr/>
        </p:nvSpPr>
        <p:spPr>
          <a:xfrm xmlns:a="http://schemas.openxmlformats.org/drawingml/2006/main">
            <a:off x="10711434" y="1709928"/>
            <a:ext cx="237744" cy="237744"/>
          </a:xfrm>
          <a:prstGeom xmlns:a="http://schemas.openxmlformats.org/drawingml/2006/main" prst="ellipse">
            <a:avLst/>
          </a:prstGeom>
          <a:solidFill xmlns:a="http://schemas.openxmlformats.org/drawingml/2006/main">
            <a:srgbClr val="FFFFFF"/>
          </a:solidFill>
          <a:ln xmlns:a="http://schemas.openxmlformats.org/drawingml/2006/main" w="19050">
            <a:solidFill>
              <a:srgbClr val="272626"/>
            </a:solidFill>
            <a:prstDash val="solid"/>
          </a:ln>
        </p:spPr>
        <p:txBody xmlns:a="http://schemas.openxmlformats.org/drawingml/2006/main">
          <a:bodyPr/>
          <a:p/>
        </p:txBody>
      </p:sp>
      <p:sp>
        <p:nvSpPr>
          <p:cNvPr id="34" name="Shape 32">
            <a:extLst xmlns:a="http://schemas.openxmlformats.org/drawingml/2006/main">
              <a:ext uri="{FF2B5EF4-FFF2-40B4-BE49-F238E27FC236}">
                <a16:creationId xmlns:a16="http://schemas.microsoft.com/office/drawing/2014/main" id="{F36C9D8B-951C-42DD-968E-A2878CF2C60E}"/>
              </a:ext>
            </a:extLst>
          </p:cNvPr>
          <p:cNvSpPr>
            <a:spLocks xmlns:a="http://schemas.openxmlformats.org/drawingml/2006/main" noGrp="1"/>
          </p:cNvSpPr>
          <p:nvPr/>
        </p:nvSpPr>
        <p:spPr>
          <a:xfrm xmlns:a="http://schemas.openxmlformats.org/drawingml/2006/main">
            <a:off x="9974580" y="2194560"/>
            <a:ext cx="1711452" cy="2834640"/>
          </a:xfrm>
          <a:prstGeom xmlns:a="http://schemas.openxmlformats.org/drawingml/2006/main" prst="roundRect">
            <a:avLst>
              <a:gd name="adj" fmla="val 4274"/>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35" name="Text 33">
            <a:extLst xmlns:a="http://schemas.openxmlformats.org/drawingml/2006/main">
              <a:ext uri="{FF2B5EF4-FFF2-40B4-BE49-F238E27FC236}">
                <a16:creationId xmlns:a16="http://schemas.microsoft.com/office/drawing/2014/main" id="{48440B81-A503-4782-96F3-326CEA183315}"/>
              </a:ext>
            </a:extLst>
          </p:cNvPr>
          <p:cNvSpPr>
            <a:spLocks xmlns:a="http://schemas.openxmlformats.org/drawingml/2006/main" noGrp="1"/>
          </p:cNvSpPr>
          <p:nvPr/>
        </p:nvSpPr>
        <p:spPr>
          <a:xfrm xmlns:a="http://schemas.openxmlformats.org/drawingml/2006/main">
            <a:off x="10157460" y="2377440"/>
            <a:ext cx="13456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400" b="1">
                <a:solidFill>
                  <a:srgbClr val="272626"/>
                </a:solidFill>
                <a:latin typeface="Noto Sans KR"/>
                <a:ea typeface="Noto Sans KR"/>
                <a:cs typeface="Noto Sans KR"/>
              </a:defRPr>
            </a:defPPr>
          </a:lstStyle>
          <a:p xmlns:a="http://schemas.openxmlformats.org/drawingml/2006/main">
            <a:pPr marL="0" indent="0" algn="l">
              <a:buNone/>
              <a:defRPr sz="1400" b="1">
                <a:solidFill>
                  <a:srgbClr val="272626"/>
                </a:solidFill>
                <a:latin typeface="Noto Sans KR"/>
                <a:ea typeface="Noto Sans KR"/>
                <a:cs typeface="Noto Sans KR"/>
              </a:defRPr>
            </a:pPr>
            <a:r>
              <a:rPr sz="1400" b="1">
                <a:solidFill>
                  <a:srgbClr val="272626"/>
                </a:solidFill>
                <a:latin typeface="Noto Sans KR"/>
                <a:ea typeface="Noto Sans KR"/>
                <a:cs typeface="Noto Sans KR"/>
              </a:rPr>
              <a:t>발표 준비</a:t>
            </a:r>
            <a:endParaRPr sz="1400"/>
          </a:p>
        </p:txBody>
      </p:sp>
      <p:sp>
        <p:nvSpPr>
          <p:cNvPr id="36" name="Text 34">
            <a:extLst xmlns:a="http://schemas.openxmlformats.org/drawingml/2006/main">
              <a:ext uri="{FF2B5EF4-FFF2-40B4-BE49-F238E27FC236}">
                <a16:creationId xmlns:a16="http://schemas.microsoft.com/office/drawing/2014/main" id="{D21EB6B3-14FD-4AEE-86C1-8B0F432057A2}"/>
              </a:ext>
            </a:extLst>
          </p:cNvPr>
          <p:cNvSpPr>
            <a:spLocks xmlns:a="http://schemas.openxmlformats.org/drawingml/2006/main" noGrp="1"/>
          </p:cNvSpPr>
          <p:nvPr/>
        </p:nvSpPr>
        <p:spPr>
          <a:xfrm xmlns:a="http://schemas.openxmlformats.org/drawingml/2006/main">
            <a:off x="10157460" y="2679192"/>
            <a:ext cx="134569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8A8A8A"/>
                </a:solidFill>
                <a:latin typeface="Noto Sans KR"/>
                <a:ea typeface="Noto Sans KR"/>
                <a:cs typeface="Noto Sans KR"/>
              </a:defRPr>
            </a:defPPr>
          </a:lstStyle>
          <a:p xmlns:a="http://schemas.openxmlformats.org/drawingml/2006/main">
            <a:pPr marL="0" indent="0" algn="l">
              <a:buNone/>
              <a:defRPr sz="1050" b="0">
                <a:solidFill>
                  <a:srgbClr val="8A8A8A"/>
                </a:solidFill>
                <a:latin typeface="Noto Sans KR"/>
                <a:ea typeface="Noto Sans KR"/>
                <a:cs typeface="Noto Sans KR"/>
              </a:defRPr>
            </a:pPr>
            <a:r>
              <a:rPr sz="1050" b="0">
                <a:solidFill>
                  <a:srgbClr val="8A8A8A"/>
                </a:solidFill>
                <a:latin typeface="Noto Sans KR"/>
                <a:ea typeface="Noto Sans KR"/>
                <a:cs typeface="Noto Sans KR"/>
              </a:rPr>
              <a:t>11/5~11/7</a:t>
            </a:r>
            <a:endParaRPr sz="1050"/>
          </a:p>
        </p:txBody>
      </p:sp>
      <p:sp>
        <p:nvSpPr>
          <p:cNvPr id="37" name="Text 35">
            <a:extLst xmlns:a="http://schemas.openxmlformats.org/drawingml/2006/main">
              <a:ext uri="{FF2B5EF4-FFF2-40B4-BE49-F238E27FC236}">
                <a16:creationId xmlns:a16="http://schemas.microsoft.com/office/drawing/2014/main" id="{FFA6E79D-5BDD-447A-8A58-0ABCCCFD9F48}"/>
              </a:ext>
            </a:extLst>
          </p:cNvPr>
          <p:cNvSpPr>
            <a:spLocks xmlns:a="http://schemas.openxmlformats.org/drawingml/2006/main" noGrp="1"/>
          </p:cNvSpPr>
          <p:nvPr/>
        </p:nvSpPr>
        <p:spPr>
          <a:xfrm xmlns:a="http://schemas.openxmlformats.org/drawingml/2006/main">
            <a:off x="10157460" y="3063240"/>
            <a:ext cx="1345692"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150" b="0">
                <a:solidFill>
                  <a:srgbClr val="5A5A5A"/>
                </a:solidFill>
                <a:latin typeface="Noto Sans KR"/>
                <a:ea typeface="Noto Sans KR"/>
                <a:cs typeface="Noto Sans KR"/>
              </a:defRPr>
            </a:defPPr>
          </a:lstStyle>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기능 추가 마무리</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주요 오류 수정</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현장 예행연습</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예비 시연 준비</a:t>
            </a:r>
            <a:endParaRPr sz="1150"/>
          </a:p>
        </p:txBody>
      </p:sp>
      <p:sp>
        <p:nvSpPr>
          <p:cNvPr id="38" name="Shape 36">
            <a:extLst xmlns:a="http://schemas.openxmlformats.org/drawingml/2006/main">
              <a:ext uri="{FF2B5EF4-FFF2-40B4-BE49-F238E27FC236}">
                <a16:creationId xmlns:a16="http://schemas.microsoft.com/office/drawing/2014/main" id="{833D0E67-7919-4809-B78F-B0A8B7F36F01}"/>
              </a:ext>
            </a:extLst>
          </p:cNvPr>
          <p:cNvSpPr>
            <a:spLocks xmlns:a="http://schemas.openxmlformats.org/drawingml/2006/main" noGrp="1"/>
          </p:cNvSpPr>
          <p:nvPr/>
        </p:nvSpPr>
        <p:spPr>
          <a:xfrm xmlns:a="http://schemas.openxmlformats.org/drawingml/2006/main">
            <a:off x="502920" y="5303520"/>
            <a:ext cx="11183112" cy="685800"/>
          </a:xfrm>
          <a:prstGeom xmlns:a="http://schemas.openxmlformats.org/drawingml/2006/main" prst="roundRect">
            <a:avLst>
              <a:gd name="adj" fmla="val 10667"/>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9" name="Text 37">
            <a:extLst xmlns:a="http://schemas.openxmlformats.org/drawingml/2006/main">
              <a:ext uri="{FF2B5EF4-FFF2-40B4-BE49-F238E27FC236}">
                <a16:creationId xmlns:a16="http://schemas.microsoft.com/office/drawing/2014/main" id="{6EBDE649-09A4-4EDF-8278-F5FC77F3A253}"/>
              </a:ext>
            </a:extLst>
          </p:cNvPr>
          <p:cNvSpPr>
            <a:spLocks xmlns:a="http://schemas.openxmlformats.org/drawingml/2006/main" noGrp="1"/>
          </p:cNvSpPr>
          <p:nvPr/>
        </p:nvSpPr>
        <p:spPr>
          <a:xfrm xmlns:a="http://schemas.openxmlformats.org/drawingml/2006/main">
            <a:off x="822960" y="5303520"/>
            <a:ext cx="10543032"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FFFFFF"/>
                </a:solidFill>
                <a:latin typeface="Noto Sans KR"/>
                <a:ea typeface="Noto Sans KR"/>
                <a:cs typeface="Noto Sans KR"/>
              </a:defRPr>
            </a:defPPr>
          </a:lstStyle>
          <a:p xmlns:a="http://schemas.openxmlformats.org/drawingml/2006/main">
            <a:pPr marL="0" indent="0" algn="l">
              <a:buNone/>
              <a:defRPr sz="1300" b="1">
                <a:solidFill>
                  <a:srgbClr val="FFFFFF"/>
                </a:solidFill>
                <a:latin typeface="Noto Sans KR"/>
                <a:ea typeface="Noto Sans KR"/>
                <a:cs typeface="Noto Sans KR"/>
              </a:defRPr>
            </a:pPr>
            <a:r>
              <a:rPr sz="1300" b="1">
                <a:solidFill>
                  <a:srgbClr val="FFFFFF"/>
                </a:solidFill>
                <a:latin typeface="Noto Sans KR"/>
                <a:ea typeface="Noto Sans KR"/>
                <a:cs typeface="Noto Sans KR"/>
              </a:rPr>
              <a:t>일정 기준  기존 발표의 11월 7일 목표 유지. 장비 연결 상태와 시험 결과에 따라 작업 범위 조정</a:t>
            </a:r>
            <a:endParaRPr sz="1300"/>
          </a:p>
        </p:txBody>
      </p:sp>
      <p:sp>
        <p:nvSpPr>
          <p:cNvPr id="40" name="Text 38">
            <a:extLst xmlns:a="http://schemas.openxmlformats.org/drawingml/2006/main">
              <a:ext uri="{FF2B5EF4-FFF2-40B4-BE49-F238E27FC236}">
                <a16:creationId xmlns:a16="http://schemas.microsoft.com/office/drawing/2014/main" id="{6A6BAF32-8DAE-4DDE-B03B-97F3C499BADE}"/>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22 / 23</a:t>
            </a:r>
            <a:endParaRPr sz="900"/>
          </a:p>
        </p:txBody>
      </p:sp>
    </p:spTree>
    <p:extLst>
      <p:ext uri="{BB962C8B-B14F-4D97-AF65-F5344CB8AC3E}">
        <p14:creationId xmlns:p14="http://schemas.microsoft.com/office/powerpoint/2010/main" val="580744958"/>
      </p:ext>
    </p:extLst>
  </p:cSld>
</p:sld>
</file>

<file path=ppt/slides/slide23.xml><?xml version="1.0" encoding="utf-8"?>
<p:sld xmlns:p="http://schemas.openxmlformats.org/presentationml/2006/main">
  <p:cSld>
    <p:bg>
      <p:bgPr>
        <a:solidFill xmlns:a="http://schemas.openxmlformats.org/drawingml/2006/main">
          <a:srgbClr val="272626"/>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625C9DB-97A8-49AE-A322-9B94F54E865B}"/>
              </a:ext>
            </a:extLst>
          </p:cNvPr>
          <p:cNvSpPr>
            <a:spLocks xmlns:a="http://schemas.openxmlformats.org/drawingml/2006/main" noGrp="1"/>
          </p:cNvSpPr>
          <p:nvPr/>
        </p:nvSpPr>
        <p:spPr>
          <a:xfrm xmlns:a="http://schemas.openxmlformats.org/drawingml/2006/main">
            <a:off x="457200" y="1737360"/>
            <a:ext cx="1127729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spc="400">
                <a:solidFill>
                  <a:srgbClr val="8A8A8A"/>
                </a:solidFill>
                <a:latin typeface="Noto Sans KR"/>
                <a:ea typeface="Noto Sans KR"/>
                <a:cs typeface="Noto Sans KR"/>
              </a:rPr>
              <a:t>PETMIND</a:t>
            </a:r>
            <a:endParaRPr sz="1200"/>
          </a:p>
        </p:txBody>
      </p:sp>
      <p:sp>
        <p:nvSpPr>
          <p:cNvPr id="3" name="Text 1">
            <a:extLst xmlns:a="http://schemas.openxmlformats.org/drawingml/2006/main">
              <a:ext uri="{FF2B5EF4-FFF2-40B4-BE49-F238E27FC236}">
                <a16:creationId xmlns:a16="http://schemas.microsoft.com/office/drawing/2014/main" id="{BDFEF3AB-23B6-4AA5-9DC9-D50E9CBBB08B}"/>
              </a:ext>
            </a:extLst>
          </p:cNvPr>
          <p:cNvSpPr>
            <a:spLocks xmlns:a="http://schemas.openxmlformats.org/drawingml/2006/main" noGrp="1"/>
          </p:cNvSpPr>
          <p:nvPr/>
        </p:nvSpPr>
        <p:spPr>
          <a:xfrm xmlns:a="http://schemas.openxmlformats.org/drawingml/2006/main">
            <a:off x="457200" y="2148840"/>
            <a:ext cx="1127729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400" b="1">
                <a:solidFill>
                  <a:srgbClr val="FFFFFF"/>
                </a:solidFill>
                <a:latin typeface="Noto Sans KR"/>
                <a:ea typeface="Noto Sans KR"/>
                <a:cs typeface="Noto Sans KR"/>
              </a:rPr>
              <a:t>THANK YOU</a:t>
            </a:r>
            <a:endParaRPr sz="5400"/>
          </a:p>
        </p:txBody>
      </p:sp>
      <p:sp>
        <p:nvSpPr>
          <p:cNvPr id="4" name="Text 2">
            <a:extLst xmlns:a="http://schemas.openxmlformats.org/drawingml/2006/main">
              <a:ext uri="{FF2B5EF4-FFF2-40B4-BE49-F238E27FC236}">
                <a16:creationId xmlns:a16="http://schemas.microsoft.com/office/drawing/2014/main" id="{43845FF8-4C77-4D9F-A562-C2C0E5C657F8}"/>
              </a:ext>
            </a:extLst>
          </p:cNvPr>
          <p:cNvSpPr>
            <a:spLocks xmlns:a="http://schemas.openxmlformats.org/drawingml/2006/main" noGrp="1"/>
          </p:cNvSpPr>
          <p:nvPr/>
        </p:nvSpPr>
        <p:spPr>
          <a:xfrm xmlns:a="http://schemas.openxmlformats.org/drawingml/2006/main">
            <a:off x="457200" y="3154680"/>
            <a:ext cx="1127729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800" b="0">
                <a:solidFill>
                  <a:srgbClr val="C9C9C9"/>
                </a:solidFill>
                <a:latin typeface="Noto Sans KR"/>
                <a:ea typeface="Noto Sans KR"/>
                <a:cs typeface="Noto Sans KR"/>
              </a:defRPr>
            </a:defPPr>
          </a:lstStyle>
          <a:p xmlns:a="http://schemas.openxmlformats.org/drawingml/2006/main">
            <a:pPr marL="0" indent="0" algn="ctr">
              <a:buNone/>
              <a:defRPr sz="1800" b="0">
                <a:solidFill>
                  <a:srgbClr val="C9C9C9"/>
                </a:solidFill>
                <a:latin typeface="Noto Sans KR"/>
                <a:ea typeface="Noto Sans KR"/>
                <a:cs typeface="Noto Sans KR"/>
              </a:defRPr>
            </a:pPr>
            <a:r>
              <a:rPr sz="1800" b="0">
                <a:solidFill>
                  <a:srgbClr val="C9C9C9"/>
                </a:solidFill>
                <a:latin typeface="Noto Sans KR"/>
                <a:ea typeface="Noto Sans KR"/>
                <a:cs typeface="Noto Sans KR"/>
              </a:rPr>
              <a:t>피드백과 질문을 부탁드립니다</a:t>
            </a:r>
            <a:endParaRPr sz="1800"/>
          </a:p>
        </p:txBody>
      </p:sp>
      <p:sp>
        <p:nvSpPr>
          <p:cNvPr id="5" name="Shape 3">
            <a:extLst xmlns:a="http://schemas.openxmlformats.org/drawingml/2006/main">
              <a:ext uri="{FF2B5EF4-FFF2-40B4-BE49-F238E27FC236}">
                <a16:creationId xmlns:a16="http://schemas.microsoft.com/office/drawing/2014/main" id="{1848072D-2F90-4678-8E51-1A827D6D965A}"/>
              </a:ext>
            </a:extLst>
          </p:cNvPr>
          <p:cNvSpPr>
            <a:spLocks xmlns:a="http://schemas.openxmlformats.org/drawingml/2006/main" noGrp="1"/>
          </p:cNvSpPr>
          <p:nvPr/>
        </p:nvSpPr>
        <p:spPr>
          <a:xfrm xmlns:a="http://schemas.openxmlformats.org/drawingml/2006/main">
            <a:off x="1737360" y="4754880"/>
            <a:ext cx="0" cy="685800"/>
          </a:xfrm>
          <a:prstGeom xmlns:a="http://schemas.openxmlformats.org/drawingml/2006/main" prst="line">
            <a:avLst/>
          </a:prstGeom>
          <a:noFill xmlns:a="http://schemas.openxmlformats.org/drawingml/2006/main"/>
          <a:ln xmlns:a="http://schemas.openxmlformats.org/drawingml/2006/main" w="12700">
            <a:solidFill>
              <a:srgbClr val="4A4949"/>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FB8FA25E-A017-4FD7-B12B-1665AF27F05B}"/>
              </a:ext>
            </a:extLst>
          </p:cNvPr>
          <p:cNvSpPr>
            <a:spLocks xmlns:a="http://schemas.openxmlformats.org/drawingml/2006/main" noGrp="1"/>
          </p:cNvSpPr>
          <p:nvPr/>
        </p:nvSpPr>
        <p:spPr>
          <a:xfrm xmlns:a="http://schemas.openxmlformats.org/drawingml/2006/main">
            <a:off x="1874520" y="4782312"/>
            <a:ext cx="2743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8A8A8A"/>
                </a:solidFill>
                <a:latin typeface="Noto Sans KR"/>
                <a:ea typeface="Noto Sans KR"/>
                <a:cs typeface="Noto Sans KR"/>
              </a:rPr>
              <a:t>지도교수</a:t>
            </a:r>
            <a:endParaRPr sz="1000"/>
          </a:p>
        </p:txBody>
      </p:sp>
      <p:sp>
        <p:nvSpPr>
          <p:cNvPr id="7" name="Text 5">
            <a:extLst xmlns:a="http://schemas.openxmlformats.org/drawingml/2006/main">
              <a:ext uri="{FF2B5EF4-FFF2-40B4-BE49-F238E27FC236}">
                <a16:creationId xmlns:a16="http://schemas.microsoft.com/office/drawing/2014/main" id="{034339C3-B4E7-47FD-A39F-26D366D3173B}"/>
              </a:ext>
            </a:extLst>
          </p:cNvPr>
          <p:cNvSpPr>
            <a:spLocks xmlns:a="http://schemas.openxmlformats.org/drawingml/2006/main" noGrp="1"/>
          </p:cNvSpPr>
          <p:nvPr/>
        </p:nvSpPr>
        <p:spPr>
          <a:xfrm xmlns:a="http://schemas.openxmlformats.org/drawingml/2006/main">
            <a:off x="1874520" y="5093208"/>
            <a:ext cx="2834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Noto Sans KR"/>
                <a:ea typeface="Noto Sans KR"/>
                <a:cs typeface="Noto Sans KR"/>
              </a:rPr>
              <a:t>우주</a:t>
            </a:r>
            <a:endParaRPr sz="1300"/>
          </a:p>
        </p:txBody>
      </p:sp>
      <p:sp>
        <p:nvSpPr>
          <p:cNvPr id="8" name="Shape 6">
            <a:extLst xmlns:a="http://schemas.openxmlformats.org/drawingml/2006/main">
              <a:ext uri="{FF2B5EF4-FFF2-40B4-BE49-F238E27FC236}">
                <a16:creationId xmlns:a16="http://schemas.microsoft.com/office/drawing/2014/main" id="{F493BDA5-EA48-4544-9E64-CFEC6D360E9C}"/>
              </a:ext>
            </a:extLst>
          </p:cNvPr>
          <p:cNvSpPr>
            <a:spLocks xmlns:a="http://schemas.openxmlformats.org/drawingml/2006/main" noGrp="1"/>
          </p:cNvSpPr>
          <p:nvPr/>
        </p:nvSpPr>
        <p:spPr>
          <a:xfrm xmlns:a="http://schemas.openxmlformats.org/drawingml/2006/main">
            <a:off x="4846320" y="4754880"/>
            <a:ext cx="0" cy="685800"/>
          </a:xfrm>
          <a:prstGeom xmlns:a="http://schemas.openxmlformats.org/drawingml/2006/main" prst="line">
            <a:avLst/>
          </a:prstGeom>
          <a:noFill xmlns:a="http://schemas.openxmlformats.org/drawingml/2006/main"/>
          <a:ln xmlns:a="http://schemas.openxmlformats.org/drawingml/2006/main" w="12700">
            <a:solidFill>
              <a:srgbClr val="4A4949"/>
            </a:solidFill>
            <a:prstDash val="solid"/>
          </a:ln>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C8771A99-346B-4B35-BC89-742B163612DB}"/>
              </a:ext>
            </a:extLst>
          </p:cNvPr>
          <p:cNvSpPr>
            <a:spLocks xmlns:a="http://schemas.openxmlformats.org/drawingml/2006/main" noGrp="1"/>
          </p:cNvSpPr>
          <p:nvPr/>
        </p:nvSpPr>
        <p:spPr>
          <a:xfrm xmlns:a="http://schemas.openxmlformats.org/drawingml/2006/main">
            <a:off x="4983480" y="4782312"/>
            <a:ext cx="2743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8A8A8A"/>
                </a:solidFill>
                <a:latin typeface="Noto Sans KR"/>
                <a:ea typeface="Noto Sans KR"/>
                <a:cs typeface="Noto Sans KR"/>
              </a:rPr>
              <a:t>팀원</a:t>
            </a:r>
            <a:endParaRPr sz="1000"/>
          </a:p>
        </p:txBody>
      </p:sp>
      <p:sp>
        <p:nvSpPr>
          <p:cNvPr id="10" name="Text 8">
            <a:extLst xmlns:a="http://schemas.openxmlformats.org/drawingml/2006/main">
              <a:ext uri="{FF2B5EF4-FFF2-40B4-BE49-F238E27FC236}">
                <a16:creationId xmlns:a16="http://schemas.microsoft.com/office/drawing/2014/main" id="{CB7976C7-46C6-448B-B2BD-4C03FB29C6F6}"/>
              </a:ext>
            </a:extLst>
          </p:cNvPr>
          <p:cNvSpPr>
            <a:spLocks xmlns:a="http://schemas.openxmlformats.org/drawingml/2006/main" noGrp="1"/>
          </p:cNvSpPr>
          <p:nvPr/>
        </p:nvSpPr>
        <p:spPr>
          <a:xfrm xmlns:a="http://schemas.openxmlformats.org/drawingml/2006/main">
            <a:off x="4983480" y="5093208"/>
            <a:ext cx="2834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Noto Sans KR"/>
                <a:ea typeface="Noto Sans KR"/>
                <a:cs typeface="Noto Sans KR"/>
              </a:rPr>
              <a:t>김재준 · 유민형 · 임성배</a:t>
            </a:r>
            <a:endParaRPr sz="1300"/>
          </a:p>
        </p:txBody>
      </p:sp>
      <p:sp>
        <p:nvSpPr>
          <p:cNvPr id="11" name="Shape 9">
            <a:extLst xmlns:a="http://schemas.openxmlformats.org/drawingml/2006/main">
              <a:ext uri="{FF2B5EF4-FFF2-40B4-BE49-F238E27FC236}">
                <a16:creationId xmlns:a16="http://schemas.microsoft.com/office/drawing/2014/main" id="{789E597E-01C3-4FB1-BE12-878B4F9FFB4C}"/>
              </a:ext>
            </a:extLst>
          </p:cNvPr>
          <p:cNvSpPr>
            <a:spLocks xmlns:a="http://schemas.openxmlformats.org/drawingml/2006/main" noGrp="1"/>
          </p:cNvSpPr>
          <p:nvPr/>
        </p:nvSpPr>
        <p:spPr>
          <a:xfrm xmlns:a="http://schemas.openxmlformats.org/drawingml/2006/main">
            <a:off x="7955280" y="4754880"/>
            <a:ext cx="0" cy="685800"/>
          </a:xfrm>
          <a:prstGeom xmlns:a="http://schemas.openxmlformats.org/drawingml/2006/main" prst="line">
            <a:avLst/>
          </a:prstGeom>
          <a:noFill xmlns:a="http://schemas.openxmlformats.org/drawingml/2006/main"/>
          <a:ln xmlns:a="http://schemas.openxmlformats.org/drawingml/2006/main" w="12700">
            <a:solidFill>
              <a:srgbClr val="4A4949"/>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1BEDAC73-8E5D-4AC3-927E-0679C6F815BA}"/>
              </a:ext>
            </a:extLst>
          </p:cNvPr>
          <p:cNvSpPr>
            <a:spLocks xmlns:a="http://schemas.openxmlformats.org/drawingml/2006/main" noGrp="1"/>
          </p:cNvSpPr>
          <p:nvPr/>
        </p:nvSpPr>
        <p:spPr>
          <a:xfrm xmlns:a="http://schemas.openxmlformats.org/drawingml/2006/main">
            <a:off x="8092440" y="4782312"/>
            <a:ext cx="2743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00" b="0">
                <a:solidFill>
                  <a:srgbClr val="8A8A8A"/>
                </a:solidFill>
                <a:latin typeface="Noto Sans KR"/>
                <a:ea typeface="Noto Sans KR"/>
                <a:cs typeface="Noto Sans KR"/>
              </a:defRPr>
            </a:defPPr>
          </a:lstStyle>
          <a:p xmlns:a="http://schemas.openxmlformats.org/drawingml/2006/main">
            <a:pPr marL="0" indent="0" algn="l">
              <a:buNone/>
              <a:defRPr sz="1000" b="0">
                <a:solidFill>
                  <a:srgbClr val="8A8A8A"/>
                </a:solidFill>
                <a:latin typeface="Noto Sans KR"/>
                <a:ea typeface="Noto Sans KR"/>
                <a:cs typeface="Noto Sans KR"/>
              </a:defRPr>
            </a:pPr>
            <a:r>
              <a:rPr sz="1000" b="0">
                <a:solidFill>
                  <a:srgbClr val="8A8A8A"/>
                </a:solidFill>
                <a:latin typeface="Noto Sans KR"/>
                <a:ea typeface="Noto Sans KR"/>
                <a:cs typeface="Noto Sans KR"/>
              </a:rPr>
              <a:t>다음 목표</a:t>
            </a:r>
            <a:endParaRPr sz="1000"/>
          </a:p>
        </p:txBody>
      </p:sp>
      <p:sp>
        <p:nvSpPr>
          <p:cNvPr id="13" name="Text 11">
            <a:extLst xmlns:a="http://schemas.openxmlformats.org/drawingml/2006/main">
              <a:ext uri="{FF2B5EF4-FFF2-40B4-BE49-F238E27FC236}">
                <a16:creationId xmlns:a16="http://schemas.microsoft.com/office/drawing/2014/main" id="{59638554-22C2-4B0E-BDDE-4D47F3E17F94}"/>
              </a:ext>
            </a:extLst>
          </p:cNvPr>
          <p:cNvSpPr>
            <a:spLocks xmlns:a="http://schemas.openxmlformats.org/drawingml/2006/main" noGrp="1"/>
          </p:cNvSpPr>
          <p:nvPr/>
        </p:nvSpPr>
        <p:spPr>
          <a:xfrm xmlns:a="http://schemas.openxmlformats.org/drawingml/2006/main">
            <a:off x="8092440" y="5093208"/>
            <a:ext cx="2834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FFFFFF"/>
                </a:solidFill>
                <a:latin typeface="Noto Sans KR"/>
                <a:ea typeface="Noto Sans KR"/>
                <a:cs typeface="Noto Sans KR"/>
              </a:defRPr>
            </a:defPPr>
          </a:lstStyle>
          <a:p xmlns:a="http://schemas.openxmlformats.org/drawingml/2006/main">
            <a:pPr marL="0" indent="0" algn="l">
              <a:buNone/>
              <a:defRPr sz="1300" b="1">
                <a:solidFill>
                  <a:srgbClr val="FFFFFF"/>
                </a:solidFill>
                <a:latin typeface="Noto Sans KR"/>
                <a:ea typeface="Noto Sans KR"/>
                <a:cs typeface="Noto Sans KR"/>
              </a:defRPr>
            </a:pPr>
            <a:r>
              <a:rPr sz="1300" b="1">
                <a:solidFill>
                  <a:srgbClr val="FFFFFF"/>
                </a:solidFill>
                <a:latin typeface="Noto Sans KR"/>
                <a:ea typeface="Noto Sans KR"/>
                <a:cs typeface="Noto Sans KR"/>
              </a:rPr>
              <a:t>실제 장비 시연과 분석 결과 확인</a:t>
            </a:r>
            <a:endParaRPr sz="1300"/>
          </a:p>
        </p:txBody>
      </p:sp>
    </p:spTree>
    <p:extLst>
      <p:ext uri="{BB962C8B-B14F-4D97-AF65-F5344CB8AC3E}">
        <p14:creationId xmlns:p14="http://schemas.microsoft.com/office/powerpoint/2010/main" val="102590563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2026-10-12T06:24:26.0040000Z</dcterms:created>
  <dcterms:modified xsi:type="dcterms:W3CDTF">2026-10-12T06:24:26.0040000Z</dcterms:modified>
</coreProperties>
</file>